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d5f06bdd774e91" /><Relationship Type="http://schemas.openxmlformats.org/officeDocument/2006/relationships/extended-properties" Target="/docProps/app.xml" Id="R1a9f7e2a3102463f" /><Relationship Type="http://schemas.openxmlformats.org/officeDocument/2006/relationships/officeDocument" Target="/ppt/presentation.xml" Id="R3e3f0092a1e94e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4c53ffbe624fd6"/>
  </p:sldMasterIdLst>
  <p:notesMasterIdLst>
    <p:notesMasterId xmlns:r="http://schemas.openxmlformats.org/officeDocument/2006/relationships" r:id="Rfd013402eaea4fef"/>
  </p:notesMasterIdLst>
  <p:sldIdLst>
    <p:sldId xmlns:r="http://schemas.openxmlformats.org/officeDocument/2006/relationships" id="256" r:id="Rd2879cc881c74f24"/>
    <p:sldId xmlns:r="http://schemas.openxmlformats.org/officeDocument/2006/relationships" id="257" r:id="R83993af7f1e246b0"/>
    <p:sldId xmlns:r="http://schemas.openxmlformats.org/officeDocument/2006/relationships" id="258" r:id="Re58d52d5342a4e61"/>
    <p:sldId xmlns:r="http://schemas.openxmlformats.org/officeDocument/2006/relationships" id="259" r:id="R6e79fb408dd643b4"/>
    <p:sldId xmlns:r="http://schemas.openxmlformats.org/officeDocument/2006/relationships" id="260" r:id="R0f1b66d6d40641b6"/>
    <p:sldId xmlns:r="http://schemas.openxmlformats.org/officeDocument/2006/relationships" id="261" r:id="Raacbbdba415444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90c0bf478b4c50" /><Relationship Type="http://schemas.openxmlformats.org/officeDocument/2006/relationships/slideMaster" Target="/ppt/slideMasters/slideMaster1.xml" Id="R954c53ffbe624fd6" /><Relationship Type="http://schemas.openxmlformats.org/officeDocument/2006/relationships/notesMaster" Target="/ppt/notesMasters/notesMaster1.xml" Id="Rfd013402eaea4fef" /><Relationship Type="http://schemas.openxmlformats.org/officeDocument/2006/relationships/presProps" Target="/ppt/presProps.xml" Id="Ra7eeccf359b248e0" /><Relationship Type="http://schemas.openxmlformats.org/officeDocument/2006/relationships/tableStyles" Target="/ppt/tableStyles.xml" Id="Rb8fd3e54433c4ce4" /><Relationship Type="http://schemas.openxmlformats.org/officeDocument/2006/relationships/slide" Target="/ppt/slides/slide1.xml" Id="Rd2879cc881c74f24" /><Relationship Type="http://schemas.openxmlformats.org/officeDocument/2006/relationships/slide" Target="/ppt/slides/slide2.xml" Id="R83993af7f1e246b0" /><Relationship Type="http://schemas.openxmlformats.org/officeDocument/2006/relationships/slide" Target="/ppt/slides/slide3.xml" Id="Re58d52d5342a4e61" /><Relationship Type="http://schemas.openxmlformats.org/officeDocument/2006/relationships/slide" Target="/ppt/slides/slide4.xml" Id="R6e79fb408dd643b4" /><Relationship Type="http://schemas.openxmlformats.org/officeDocument/2006/relationships/slide" Target="/ppt/slides/slide5.xml" Id="R0f1b66d6d40641b6" /><Relationship Type="http://schemas.openxmlformats.org/officeDocument/2006/relationships/slide" Target="/ppt/slides/slide6.xml" Id="Raacbbdba415444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b5cc4203be49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b766f7f3884db8" /><Relationship Type="http://schemas.openxmlformats.org/officeDocument/2006/relationships/notesMaster" Target="/ppt/notesMasters/notesMaster1.xml" Id="R9a1d82a6655c49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00ffc1a49f408e" /><Relationship Type="http://schemas.openxmlformats.org/officeDocument/2006/relationships/notesMaster" Target="/ppt/notesMasters/notesMaster1.xml" Id="R13982c4c471146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ce0c9877134be8" /><Relationship Type="http://schemas.openxmlformats.org/officeDocument/2006/relationships/notesMaster" Target="/ppt/notesMasters/notesMaster1.xml" Id="R3c1a4e4708884d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bb5ecaf89e4970" /><Relationship Type="http://schemas.openxmlformats.org/officeDocument/2006/relationships/notesMaster" Target="/ppt/notesMasters/notesMaster1.xml" Id="Rd7dfda73f7394d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59ae0c288a4a18" /><Relationship Type="http://schemas.openxmlformats.org/officeDocument/2006/relationships/notesMaster" Target="/ppt/notesMasters/notesMaster1.xml" Id="Rc7c31dbfd55246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6562521d994499" /><Relationship Type="http://schemas.openxmlformats.org/officeDocument/2006/relationships/notesMaster" Target="/ppt/notesMasters/notesMaster1.xml" Id="R2f2843bc744446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central question is whether the best deterministic representation of a patent family depends on the retriever.</a:t>
            </a:r>
          </a:p>
          <a:p xmlns:a="http://schemas.openxmlformats.org/drawingml/2006/main">
            <a:r>
              <a:t>This update reports completed evidence through A3. The A3 result is aggregate-safe development evidence; it does not open production transfer, Selection, or Final.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docs/research/ARMINDEX_RESEARCH_PLAN_V02.md</a:t>
            </a:r>
          </a:p>
          <a:p xmlns:a="http://schemas.openxmlformats.org/drawingml/2006/main">
            <a:r>
              <a:t>docs/goal/A3_TRANSFER_COMPLEMENTARITY_AND_HARNESSOPT_goal_003.md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 establishes reproducibility and data-protection controls. A1 tests the common comparison. A2 conducts constrained representation search for each retriever.</a:t>
            </a:r>
          </a:p>
          <a:p xmlns:a="http://schemas.openxmlformats.org/drawingml/2006/main">
            <a:r>
              <a:t>A3 now tests whether selected representations transfer and whether combining retrievers adds useful coverage under operational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docs/progress_report/update_A0_A1_A2_18AUG2026.md</a:t>
            </a:r>
          </a:p>
          <a:p xmlns:a="http://schemas.openxmlformats.org/drawingml/2006/main">
            <a:r>
              <a:t>docs/goal/A3_TRANSFER_COMPLEMENTARITY_AND_HARNESSOPT_goal_003.md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study keeps representation development and later harness development separate. Selection and final confirmation have not been opened.</a:t>
            </a:r>
          </a:p>
          <a:p xmlns:a="http://schemas.openxmlformats.org/drawingml/2006/main">
            <a:r>
              <a:t>The figure shows role separation only; it exposes no protected membership or relevance labels.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docs/progress_report/update_A0_A1_A2_18AUG2026.md</a:t>
            </a:r>
          </a:p>
          <a:p xmlns:a="http://schemas.openxmlformats.org/drawingml/2006/main">
            <a:r>
              <a:t>docs/progress_report/figures/a1-development-role-split.png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measured five fixed representations across five predefined retrieval arms. A2 then searched its predefined candidate set independently for each arm.</a:t>
            </a:r>
          </a:p>
          <a:p xmlns:a="http://schemas.openxmlformats.org/drawingml/2006/main">
            <a:r>
              <a:t>All 52 authorized candidate slots are accounted for: 44 were measured and eight conditional reserves were dormant. A dormant reserve is not a missing or null result.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docs/progress_report/update_A0_A1_A2_18AUG2026.md</a:t>
            </a:r>
          </a:p>
          <a:p xmlns:a="http://schemas.openxmlformats.org/drawingml/2006/main">
            <a:r>
              <a:t>docs/progress_report/figures/a2-coverage-recovery.png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ARM-03, ARM-04, and ARM-05 are the only A3 inputs. ARM-01 and ARM-02 had three-way top ties without a unique winner and remain useful interpretation evidence.</a:t>
            </a:r>
          </a:p>
          <a:p xmlns:a="http://schemas.openxmlformats.org/drawingml/2006/main">
            <a:r>
              <a:t>ARM-04 is the strict A2 improvement; ARM-03 is a numerical tie at reported precision; ARM-05 is retained without a strict A2 improvement to avoid selecting only positive outcomes.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docs/goal/A3_TRANSFER_COMPLEMENTARITY_AND_HARNESSOPT_goal_003.md</a:t>
            </a:r>
          </a:p>
          <a:p xmlns:a="http://schemas.openxmlformats.org/drawingml/2006/main">
            <a:r>
              <a:t>docs/progress_report/A2_per_arm_autoindex_outcomes_eda_20260818.csv</a:t>
            </a:r>
          </a:p>
          <a:p xmlns:a="http://schemas.openxmlformats.org/drawingml/2006/main">
            <a:r>
              <a:t>docs/progress_report/figures/a2-per-arm-outcomes.png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14 authorized operations completed on Train-250 and passed an independent aggregate-only result-integrity audit.</a:t>
            </a:r>
          </a:p>
          <a:p xmlns:a="http://schemas.openxmlformats.org/drawingml/2006/main">
            <a:r>
              <a:t>The transfer heatmap shows adapter-dependent quality. The strongest fixed control is top-two RRF-60; the all-primary union is lower on the development workload.</a:t>
            </a:r>
          </a:p>
          <a:p xmlns:a="http://schemas.openxmlformats.org/drawingml/2006/main">
            <a:r>
              <a:t>HarnessOpt compiled three complete batches into one effective action signature, so the valid conclusion is a flat-surface stop rather than an adaptive improvement claim.</a:t>
            </a:r>
          </a:p>
          <a:p xmlns:a="http://schemas.openxmlformats.org/drawingml/2006/main">
            <a:r>
              <a:t>A4 readiness is prepared contractually, but Selection and Final remain closed.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docs/progress_report/update_A3_19AUG2026.md</a:t>
            </a:r>
          </a:p>
          <a:p xmlns:a="http://schemas.openxmlformats.org/drawingml/2006/main">
            <a:r>
              <a:t>docs/progress_report/figures/a3-transfer-recall-heatmap-20260819.png</a:t>
            </a:r>
          </a:p>
          <a:p xmlns:a="http://schemas.openxmlformats.org/drawingml/2006/main">
            <a:r>
              <a:t>docs/progress_report/A3_transfer_matrix_eda_20260819.csv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3989b1cac4a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219575f7214e0a" /><Relationship Type="http://schemas.openxmlformats.org/officeDocument/2006/relationships/slideLayout" Target="/ppt/slideLayouts/slideLayout1.xml" Id="Rf991cc871b7644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91cc871b7644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fb19311464b92" /><Relationship Type="http://schemas.openxmlformats.org/officeDocument/2006/relationships/notesSlide" Target="/ppt/notesSlides/notesSlide1.xml" Id="R147b19ec78634c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4dd65e84d4460" /><Relationship Type="http://schemas.openxmlformats.org/officeDocument/2006/relationships/notesSlide" Target="/ppt/notesSlides/notesSlide2.xml" Id="R14914f91480843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3bb007d874751" /><Relationship Type="http://schemas.openxmlformats.org/officeDocument/2006/relationships/image" Target="/ppt/media/image.png" Id="Rc996a7c4296e4212" /><Relationship Type="http://schemas.openxmlformats.org/officeDocument/2006/relationships/notesSlide" Target="/ppt/notesSlides/notesSlide3.xml" Id="R9cfd8a6eeecb45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deff1f381418e" /><Relationship Type="http://schemas.openxmlformats.org/officeDocument/2006/relationships/image" Target="/ppt/media/image2.png" Id="R094d15b831db4236" /><Relationship Type="http://schemas.openxmlformats.org/officeDocument/2006/relationships/notesSlide" Target="/ppt/notesSlides/notesSlide4.xml" Id="R0245823242bd40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c8a8e675c418a" /><Relationship Type="http://schemas.openxmlformats.org/officeDocument/2006/relationships/image" Target="/ppt/media/image3.png" Id="R495f765a0dfa4dab" /><Relationship Type="http://schemas.openxmlformats.org/officeDocument/2006/relationships/notesSlide" Target="/ppt/notesSlides/notesSlide5.xml" Id="R68181297961248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7b3456f624f3b" /><Relationship Type="http://schemas.openxmlformats.org/officeDocument/2006/relationships/image" Target="/ppt/media/image4.png" Id="Rcc91335111264bc6" /><Relationship Type="http://schemas.openxmlformats.org/officeDocument/2006/relationships/notesSlide" Target="/ppt/notesSlides/notesSlide6.xml" Id="R143816296d2040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4BBC93A3-1F1D-48CD-AFC4-11EB03C7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6CB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CBD"/>
                </a:solidFill>
                <a:latin typeface="Aptos"/>
                <a:ea typeface="Aptos"/>
                <a:cs typeface="Aptos"/>
              </a:rPr>
              <a:t>ARMINDEX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3D6C5B-A178-4A16-92E5-E8DD7BFE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Progress Update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23D1CFF-CE13-4E9B-9107-7C414195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52616B"/>
                </a:solidFill>
                <a:latin typeface="Aptos"/>
                <a:ea typeface="Aptos"/>
                <a:cs typeface="Aptos"/>
              </a:rPr>
              <a:t>Retriever-specific document representation search for cross-domain patent retrieval</a:t>
            </a:r>
          </a:p>
        </p:txBody>
      </p:sp>
      <p:sp>
        <p:nvSpPr>
          <p:cNvPr id="4" name="status-surface">
            <a:extLst xmlns:a="http://schemas.openxmlformats.org/drawingml/2006/main">
              <a:ext uri="{FF2B5EF4-FFF2-40B4-BE49-F238E27FC236}">
                <a16:creationId xmlns:a16="http://schemas.microsoft.com/office/drawing/2014/main" id="{198FEA0B-259B-435C-8ABD-9AACAAE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667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F5F4"/>
          </a:solidFill>
          <a:ln xmlns:a="http://schemas.openxmlformats.org/drawingml/2006/main" w="9525">
            <a:solidFill>
              <a:srgbClr val="E7F5F4"/>
            </a:solidFill>
            <a:prstDash val="solid"/>
          </a:ln>
        </p:spPr>
      </p:sp>
      <p:sp>
        <p:nvSpPr>
          <p:cNvPr id="5" name="status">
            <a:extLst xmlns:a="http://schemas.openxmlformats.org/drawingml/2006/main">
              <a:ext uri="{FF2B5EF4-FFF2-40B4-BE49-F238E27FC236}">
                <a16:creationId xmlns:a16="http://schemas.microsoft.com/office/drawing/2014/main" id="{FD98D035-E8C1-4986-9CD6-A3E84FAD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6F4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A6F4E"/>
                </a:solidFill>
                <a:latin typeface="Aptos"/>
                <a:ea typeface="Aptos"/>
                <a:cs typeface="Aptos"/>
              </a:rPr>
              <a:t>A0-A3 complete | Result audit passed | A4 remains gated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A67844BC-1173-45C1-9119-647E2BB1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2616B"/>
                </a:solidFill>
                <a:latin typeface="Aptos"/>
                <a:ea typeface="Aptos"/>
                <a:cs typeface="Aptos"/>
              </a:rPr>
              <a:t>19 August 2026</a:t>
            </a:r>
          </a:p>
        </p:txBody>
      </p:sp>
      <p:cxnSp>
        <p:nvCxnSpPr>
          <p:cNvPr id="15" name="footer-rule"/>
          <p:cNvCxnSpPr/>
          <p:nvPr/>
        </p:nvCxnSpPr>
        <p:spPr>
          <a:xfrm xmlns:a="http://schemas.openxmlformats.org/drawingml/2006/main">
            <a:off x="685800" y="62484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2F3F4C7-DDC3-4420-9582-AEEB5798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616B"/>
                </a:solidFill>
                <a:latin typeface="Aptos"/>
                <a:ea typeface="Aptos"/>
                <a:cs typeface="Aptos"/>
              </a:rPr>
              <a:t>Summary advisor update. Selection and final confirmation remain closed.</a:t>
            </a:r>
          </a:p>
        </p:txBody>
      </p:sp>
    </p:spTree>
    <p:extLst>
      <p:ext uri="{BB962C8B-B14F-4D97-AF65-F5344CB8AC3E}">
        <p14:creationId xmlns:p14="http://schemas.microsoft.com/office/powerpoint/2010/main" val="12281889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41E1FAC1-5FC9-4B21-B6E9-87F7E738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6CB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CBD"/>
                </a:solidFill>
                <a:latin typeface="Aptos"/>
                <a:ea typeface="Aptos"/>
                <a:cs typeface="Aptos"/>
              </a:rPr>
              <a:t>ARMINDEX | ADVISOR PROGRESS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34D9DF-3C39-4DFB-AAD8-704770E8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A0-A3 advances to transfer measurement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718F6F-5CB0-4DCE-98DA-B1308EFC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616B"/>
                </a:solidFill>
                <a:latin typeface="Aptos"/>
                <a:ea typeface="Aptos"/>
                <a:cs typeface="Aptos"/>
              </a:rPr>
              <a:t>2 / 6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CCC0C1A-4966-4E8A-AE06-C30462B3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52616B"/>
                </a:solidFill>
                <a:latin typeface="Aptos"/>
                <a:ea typeface="Aptos"/>
                <a:cs typeface="Aptos"/>
              </a:rPr>
              <a:t>Each phase answers a narrower question while keeping retrievers, scoring rules, and data protections controlled.</a:t>
            </a:r>
          </a:p>
        </p:txBody>
      </p:sp>
      <p:sp>
        <p:nvSpPr>
          <p:cNvPr id="5" name="phase-A0">
            <a:extLst xmlns:a="http://schemas.openxmlformats.org/drawingml/2006/main">
              <a:ext uri="{FF2B5EF4-FFF2-40B4-BE49-F238E27FC236}">
                <a16:creationId xmlns:a16="http://schemas.microsoft.com/office/drawing/2014/main" id="{A7EE8B7D-009D-493F-9D08-01D10A19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190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phase-tag-A0">
            <a:extLst xmlns:a="http://schemas.openxmlformats.org/drawingml/2006/main">
              <a:ext uri="{FF2B5EF4-FFF2-40B4-BE49-F238E27FC236}">
                <a16:creationId xmlns:a16="http://schemas.microsoft.com/office/drawing/2014/main" id="{395786E7-A630-4A60-A573-524A0DD7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6CBD"/>
          </a:solidFill>
          <a:ln xmlns:a="http://schemas.openxmlformats.org/drawingml/2006/main" w="9525">
            <a:solidFill>
              <a:srgbClr val="0F6CBD"/>
            </a:solidFill>
            <a:prstDash val="solid"/>
          </a:ln>
        </p:spPr>
      </p:sp>
      <p:sp>
        <p:nvSpPr>
          <p:cNvPr id="7" name="phase-label-A0">
            <a:extLst xmlns:a="http://schemas.openxmlformats.org/drawingml/2006/main">
              <a:ext uri="{FF2B5EF4-FFF2-40B4-BE49-F238E27FC236}">
                <a16:creationId xmlns:a16="http://schemas.microsoft.com/office/drawing/2014/main" id="{E1479488-3527-4204-B50F-F6DEF178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67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</a:t>
            </a:r>
          </a:p>
        </p:txBody>
      </p:sp>
      <p:sp>
        <p:nvSpPr>
          <p:cNvPr id="8" name="phase-state-A0">
            <a:extLst xmlns:a="http://schemas.openxmlformats.org/drawingml/2006/main">
              <a:ext uri="{FF2B5EF4-FFF2-40B4-BE49-F238E27FC236}">
                <a16:creationId xmlns:a16="http://schemas.microsoft.com/office/drawing/2014/main" id="{69BF0AEA-C23F-474B-BE0D-573A3467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9" name="phase-A1">
            <a:extLst xmlns:a="http://schemas.openxmlformats.org/drawingml/2006/main">
              <a:ext uri="{FF2B5EF4-FFF2-40B4-BE49-F238E27FC236}">
                <a16:creationId xmlns:a16="http://schemas.microsoft.com/office/drawing/2014/main" id="{F927D657-0AAB-42BC-AC54-FCD5FE23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28925"/>
            <a:ext cx="2190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phase-tag-A1">
            <a:extLst xmlns:a="http://schemas.openxmlformats.org/drawingml/2006/main">
              <a:ext uri="{FF2B5EF4-FFF2-40B4-BE49-F238E27FC236}">
                <a16:creationId xmlns:a16="http://schemas.microsoft.com/office/drawing/2014/main" id="{E667870D-508C-47AF-98CD-D25B00D6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19425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7F80"/>
          </a:solidFill>
          <a:ln xmlns:a="http://schemas.openxmlformats.org/drawingml/2006/main" w="9525">
            <a:solidFill>
              <a:srgbClr val="007F80"/>
            </a:solidFill>
            <a:prstDash val="solid"/>
          </a:ln>
        </p:spPr>
      </p:sp>
      <p:sp>
        <p:nvSpPr>
          <p:cNvPr id="11" name="phase-label-A1">
            <a:extLst xmlns:a="http://schemas.openxmlformats.org/drawingml/2006/main">
              <a:ext uri="{FF2B5EF4-FFF2-40B4-BE49-F238E27FC236}">
                <a16:creationId xmlns:a16="http://schemas.microsoft.com/office/drawing/2014/main" id="{D4207132-EFA3-4591-8A58-579F9961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67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A1</a:t>
            </a:r>
          </a:p>
        </p:txBody>
      </p:sp>
      <p:sp>
        <p:nvSpPr>
          <p:cNvPr id="12" name="phase-state-A1">
            <a:extLst xmlns:a="http://schemas.openxmlformats.org/drawingml/2006/main">
              <a:ext uri="{FF2B5EF4-FFF2-40B4-BE49-F238E27FC236}">
                <a16:creationId xmlns:a16="http://schemas.microsoft.com/office/drawing/2014/main" id="{5554B772-07FB-4645-8569-8C31BDD1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Common comparison</a:t>
            </a:r>
          </a:p>
        </p:txBody>
      </p:sp>
      <p:sp>
        <p:nvSpPr>
          <p:cNvPr id="13" name="phase-A2">
            <a:extLst xmlns:a="http://schemas.openxmlformats.org/drawingml/2006/main">
              <a:ext uri="{FF2B5EF4-FFF2-40B4-BE49-F238E27FC236}">
                <a16:creationId xmlns:a16="http://schemas.microsoft.com/office/drawing/2014/main" id="{BAF425E0-DE1E-4636-93B1-B422888E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28925"/>
            <a:ext cx="2190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phase-tag-A2">
            <a:extLst xmlns:a="http://schemas.openxmlformats.org/drawingml/2006/main">
              <a:ext uri="{FF2B5EF4-FFF2-40B4-BE49-F238E27FC236}">
                <a16:creationId xmlns:a16="http://schemas.microsoft.com/office/drawing/2014/main" id="{8CDCCF76-E3ED-4249-85C9-CE6E7048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6F4E"/>
          </a:solidFill>
          <a:ln xmlns:a="http://schemas.openxmlformats.org/drawingml/2006/main" w="9525">
            <a:solidFill>
              <a:srgbClr val="2A6F4E"/>
            </a:solidFill>
            <a:prstDash val="solid"/>
          </a:ln>
        </p:spPr>
      </p:sp>
      <p:sp>
        <p:nvSpPr>
          <p:cNvPr id="15" name="phase-label-A2">
            <a:extLst xmlns:a="http://schemas.openxmlformats.org/drawingml/2006/main">
              <a:ext uri="{FF2B5EF4-FFF2-40B4-BE49-F238E27FC236}">
                <a16:creationId xmlns:a16="http://schemas.microsoft.com/office/drawing/2014/main" id="{51227C61-B03B-4732-A7B0-48128D6E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67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A2</a:t>
            </a:r>
          </a:p>
        </p:txBody>
      </p:sp>
      <p:sp>
        <p:nvSpPr>
          <p:cNvPr id="16" name="phase-state-A2">
            <a:extLst xmlns:a="http://schemas.openxmlformats.org/drawingml/2006/main">
              <a:ext uri="{FF2B5EF4-FFF2-40B4-BE49-F238E27FC236}">
                <a16:creationId xmlns:a16="http://schemas.microsoft.com/office/drawing/2014/main" id="{BA7F023F-30F5-4F94-B2EB-CA75B7E3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Representation search</a:t>
            </a:r>
          </a:p>
        </p:txBody>
      </p:sp>
      <p:sp>
        <p:nvSpPr>
          <p:cNvPr id="17" name="phase-A3">
            <a:extLst xmlns:a="http://schemas.openxmlformats.org/drawingml/2006/main">
              <a:ext uri="{FF2B5EF4-FFF2-40B4-BE49-F238E27FC236}">
                <a16:creationId xmlns:a16="http://schemas.microsoft.com/office/drawing/2014/main" id="{3A673458-3BAB-408C-9B2C-C9FF84D0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28925"/>
            <a:ext cx="2190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phase-tag-A3">
            <a:extLst xmlns:a="http://schemas.openxmlformats.org/drawingml/2006/main">
              <a:ext uri="{FF2B5EF4-FFF2-40B4-BE49-F238E27FC236}">
                <a16:creationId xmlns:a16="http://schemas.microsoft.com/office/drawing/2014/main" id="{88D6F383-977E-42E4-B654-47DB7C25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19425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15C00"/>
          </a:solidFill>
          <a:ln xmlns:a="http://schemas.openxmlformats.org/drawingml/2006/main" w="9525">
            <a:solidFill>
              <a:srgbClr val="A15C00"/>
            </a:solidFill>
            <a:prstDash val="solid"/>
          </a:ln>
        </p:spPr>
      </p:sp>
      <p:sp>
        <p:nvSpPr>
          <p:cNvPr id="19" name="phase-label-A3">
            <a:extLst xmlns:a="http://schemas.openxmlformats.org/drawingml/2006/main">
              <a:ext uri="{FF2B5EF4-FFF2-40B4-BE49-F238E27FC236}">
                <a16:creationId xmlns:a16="http://schemas.microsoft.com/office/drawing/2014/main" id="{2E2145A9-E524-4F5E-BBB7-9696CA95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67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A3</a:t>
            </a:r>
          </a:p>
        </p:txBody>
      </p:sp>
      <p:sp>
        <p:nvSpPr>
          <p:cNvPr id="20" name="phase-state-A3">
            <a:extLst xmlns:a="http://schemas.openxmlformats.org/drawingml/2006/main">
              <a:ext uri="{FF2B5EF4-FFF2-40B4-BE49-F238E27FC236}">
                <a16:creationId xmlns:a16="http://schemas.microsoft.com/office/drawing/2014/main" id="{550BE36E-6A6F-4EEA-A752-6F6E50A2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Transfer study</a:t>
            </a:r>
          </a:p>
        </p:txBody>
      </p:sp>
      <p:sp>
        <p:nvSpPr>
          <p:cNvPr id="21" name="a0-status">
            <a:extLst xmlns:a="http://schemas.openxmlformats.org/drawingml/2006/main">
              <a:ext uri="{FF2B5EF4-FFF2-40B4-BE49-F238E27FC236}">
                <a16:creationId xmlns:a16="http://schemas.microsoft.com/office/drawing/2014/main" id="{90D41F63-03CF-422B-9417-A44DD510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A6F4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A6F4E"/>
                </a:solidFill>
                <a:latin typeface="Aptos"/>
                <a:ea typeface="Aptos"/>
                <a:cs typeface="Aptos"/>
              </a:rPr>
              <a:t>complete</a:t>
            </a:r>
          </a:p>
        </p:txBody>
      </p:sp>
      <p:sp>
        <p:nvSpPr>
          <p:cNvPr id="22" name="a1-status">
            <a:extLst xmlns:a="http://schemas.openxmlformats.org/drawingml/2006/main">
              <a:ext uri="{FF2B5EF4-FFF2-40B4-BE49-F238E27FC236}">
                <a16:creationId xmlns:a16="http://schemas.microsoft.com/office/drawing/2014/main" id="{B0966C0C-748B-43CA-8690-D65904D5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95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A6F4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A6F4E"/>
                </a:solidFill>
                <a:latin typeface="Aptos"/>
                <a:ea typeface="Aptos"/>
                <a:cs typeface="Aptos"/>
              </a:rPr>
              <a:t>complete</a:t>
            </a:r>
          </a:p>
        </p:txBody>
      </p:sp>
      <p:sp>
        <p:nvSpPr>
          <p:cNvPr id="23" name="a2-status">
            <a:extLst xmlns:a="http://schemas.openxmlformats.org/drawingml/2006/main">
              <a:ext uri="{FF2B5EF4-FFF2-40B4-BE49-F238E27FC236}">
                <a16:creationId xmlns:a16="http://schemas.microsoft.com/office/drawing/2014/main" id="{F572A7DC-3615-464E-96EE-3B4F7759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A6F4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A6F4E"/>
                </a:solidFill>
                <a:latin typeface="Aptos"/>
                <a:ea typeface="Aptos"/>
                <a:cs typeface="Aptos"/>
              </a:rPr>
              <a:t>complete</a:t>
            </a:r>
          </a:p>
        </p:txBody>
      </p:sp>
      <p:sp>
        <p:nvSpPr>
          <p:cNvPr id="24" name="a3-status">
            <a:extLst xmlns:a="http://schemas.openxmlformats.org/drawingml/2006/main">
              <a:ext uri="{FF2B5EF4-FFF2-40B4-BE49-F238E27FC236}">
                <a16:creationId xmlns:a16="http://schemas.microsoft.com/office/drawing/2014/main" id="{30BC53F9-63C6-407A-814F-1897A10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A6F4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A6F4E"/>
                </a:solidFill>
                <a:latin typeface="Aptos"/>
                <a:ea typeface="Aptos"/>
                <a:cs typeface="Aptos"/>
              </a:rPr>
              <a:t>audit passed</a:t>
            </a:r>
          </a:p>
        </p:txBody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17B816A2-83BA-4C25-B1B2-B60DFCEB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A4 remains locked until A3 evidence is collected and audited.</a:t>
            </a:r>
          </a:p>
        </p:txBody>
      </p:sp>
      <p:cxnSp>
        <p:nvCxnSpPr>
          <p:cNvPr id="53" name="footer-rule"/>
          <p:cNvCxnSpPr/>
          <p:nvPr/>
        </p:nvCxnSpPr>
        <p:spPr>
          <a:xfrm xmlns:a="http://schemas.openxmlformats.org/drawingml/2006/main">
            <a:off x="685800" y="62484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BF62EB60-1897-4AF7-9B4B-CAE2DCC1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616B"/>
                </a:solidFill>
                <a:latin typeface="Aptos"/>
                <a:ea typeface="Aptos"/>
                <a:cs typeface="Aptos"/>
              </a:rPr>
              <a:t>Phase roles and A3 scope are set before measurement.</a:t>
            </a:r>
          </a:p>
        </p:txBody>
      </p:sp>
    </p:spTree>
    <p:extLst>
      <p:ext uri="{BB962C8B-B14F-4D97-AF65-F5344CB8AC3E}">
        <p14:creationId xmlns:p14="http://schemas.microsoft.com/office/powerpoint/2010/main" val="1705211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6024F6E-1486-4AEC-964E-D071A186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6CB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CBD"/>
                </a:solidFill>
                <a:latin typeface="Aptos"/>
                <a:ea typeface="Aptos"/>
                <a:cs typeface="Aptos"/>
              </a:rPr>
              <a:t>ARMINDEX | ADVISOR PROGRESS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0B3A54-9AEC-44EB-8C29-96C4205A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A0 separates development from future confirmation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228C05-06D2-4FA4-954B-D5A4605E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616B"/>
                </a:solidFill>
                <a:latin typeface="Aptos"/>
                <a:ea typeface="Aptos"/>
                <a:cs typeface="Aptos"/>
              </a:rPr>
              <a:t>3 / 6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38324D5-55B9-45A8-8961-AE383342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52616B"/>
                </a:solidFill>
                <a:latin typeface="Aptos"/>
                <a:ea typeface="Aptos"/>
                <a:cs typeface="Aptos"/>
              </a:rPr>
              <a:t>Predefined data roles keep adaptive development away from later confirmation decisions.</a:t>
            </a:r>
          </a:p>
        </p:txBody>
      </p:sp>
      <p:sp>
        <p:nvSpPr>
          <p:cNvPr id="5" name="method-summary">
            <a:extLst xmlns:a="http://schemas.openxmlformats.org/drawingml/2006/main">
              <a:ext uri="{FF2B5EF4-FFF2-40B4-BE49-F238E27FC236}">
                <a16:creationId xmlns:a16="http://schemas.microsoft.com/office/drawing/2014/main" id="{6D8FBD64-2081-41A4-9EBC-FC1215A5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76625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why-title">
            <a:extLst xmlns:a="http://schemas.openxmlformats.org/drawingml/2006/main">
              <a:ext uri="{FF2B5EF4-FFF2-40B4-BE49-F238E27FC236}">
                <a16:creationId xmlns:a16="http://schemas.microsoft.com/office/drawing/2014/main" id="{569ACADD-5792-4CF0-BAC3-4CA1C240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7" name="why-body">
            <a:extLst xmlns:a="http://schemas.openxmlformats.org/drawingml/2006/main">
              <a:ext uri="{FF2B5EF4-FFF2-40B4-BE49-F238E27FC236}">
                <a16:creationId xmlns:a16="http://schemas.microsoft.com/office/drawing/2014/main" id="{F8996674-5562-4759-8D03-29D3EE18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4213D"/>
                </a:solidFill>
                <a:latin typeface="Aptos"/>
                <a:ea typeface="Aptos"/>
                <a:cs typeface="Aptos"/>
              </a:rPr>
              <a:t>- Representation development has a predefined role</a:t>
            </a:r>
          </a:p>
          <a:p xmlns:a="http://schemas.openxmlformats.org/drawingml/2006/main">
            <a:pPr>
              <a:defRPr sz="1575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4213D"/>
                </a:solidFill>
                <a:latin typeface="Aptos"/>
                <a:ea typeface="Aptos"/>
                <a:cs typeface="Aptos"/>
              </a:rPr>
              <a:t>- Harness development is separated</a:t>
            </a:r>
          </a:p>
          <a:p xmlns:a="http://schemas.openxmlformats.org/drawingml/2006/main">
            <a:pPr>
              <a:defRPr sz="1575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4213D"/>
                </a:solidFill>
                <a:latin typeface="Aptos"/>
                <a:ea typeface="Aptos"/>
                <a:cs typeface="Aptos"/>
              </a:rPr>
              <a:t>- Selection and final confirmation remain closed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6a7c4296e4212"/>
          <a:stretch xmlns:a="http://schemas.openxmlformats.org/drawingml/2006/main"/>
        </p:blipFill>
        <p:spPr>
          <a:xfrm xmlns:a="http://schemas.openxmlformats.org/drawingml/2006/main">
            <a:off x="4736856" y="2019300"/>
            <a:ext cx="6242538" cy="3381375"/>
          </a:xfrm>
          <a:prstGeom xmlns:a="http://schemas.openxmlformats.org/drawingml/2006/main" prst="rect">
            <a:avLst/>
          </a:prstGeom>
        </p:spPr>
      </p:pic>
      <p:sp>
        <p:nvSpPr>
          <p:cNvPr id="9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335DA086-A0BC-44DB-BA5A-A1C9B437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435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2616B"/>
                </a:solidFill>
                <a:latin typeface="Aptos"/>
                <a:ea typeface="Aptos"/>
                <a:cs typeface="Aptos"/>
              </a:rPr>
              <a:t>The figure shows role separation only; it contains no protected membership or relevance labels.</a:t>
            </a:r>
          </a:p>
        </p:txBody>
      </p:sp>
      <p:cxnSp>
        <p:nvCxnSpPr>
          <p:cNvPr id="21" name="footer-rule"/>
          <p:cNvCxnSpPr/>
          <p:nvPr/>
        </p:nvCxnSpPr>
        <p:spPr>
          <a:xfrm xmlns:a="http://schemas.openxmlformats.org/drawingml/2006/main">
            <a:off x="685800" y="62484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8804A1C-A8A7-4615-9E81-67A258E8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616B"/>
                </a:solidFill>
                <a:latin typeface="Aptos"/>
                <a:ea typeface="Aptos"/>
                <a:cs typeface="Aptos"/>
              </a:rPr>
              <a:t>A0 is engineering and reproducibility evidence, not a retrieval-performance result.</a:t>
            </a:r>
          </a:p>
        </p:txBody>
      </p:sp>
    </p:spTree>
    <p:extLst>
      <p:ext uri="{BB962C8B-B14F-4D97-AF65-F5344CB8AC3E}">
        <p14:creationId xmlns:p14="http://schemas.microsoft.com/office/powerpoint/2010/main" val="792774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62AD9293-B195-4F03-95CB-78533627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6CB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CBD"/>
                </a:solidFill>
                <a:latin typeface="Aptos"/>
                <a:ea typeface="Aptos"/>
                <a:cs typeface="Aptos"/>
              </a:rPr>
              <a:t>ARMINDEX | ADVISOR PROGRESS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82A125-2741-489A-BA91-0686E491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A1 and A2 establish complete development evidence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007CDFF-9E2A-4BBB-923C-C058AB34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616B"/>
                </a:solidFill>
                <a:latin typeface="Aptos"/>
                <a:ea typeface="Aptos"/>
                <a:cs typeface="Aptos"/>
              </a:rPr>
              <a:t>4 / 6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5219F11-E5F1-428F-961C-A27060E9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52616B"/>
                </a:solidFill>
                <a:latin typeface="Aptos"/>
                <a:ea typeface="Aptos"/>
                <a:cs typeface="Aptos"/>
              </a:rPr>
              <a:t>A1 maps the common comparison; A2 searches a predefined candidate set for each retriever.</a:t>
            </a:r>
          </a:p>
        </p:txBody>
      </p:sp>
      <p:sp>
        <p:nvSpPr>
          <p:cNvPr id="5" name="a1-summary">
            <a:extLst xmlns:a="http://schemas.openxmlformats.org/drawingml/2006/main">
              <a:ext uri="{FF2B5EF4-FFF2-40B4-BE49-F238E27FC236}">
                <a16:creationId xmlns:a16="http://schemas.microsoft.com/office/drawing/2014/main" id="{64CA85E6-2E0A-4C99-8F0A-55B8E57E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E8F1FA"/>
            </a:solidFill>
            <a:prstDash val="solid"/>
          </a:ln>
        </p:spPr>
      </p:sp>
      <p:sp>
        <p:nvSpPr>
          <p:cNvPr id="6" name="a1-label">
            <a:extLst xmlns:a="http://schemas.openxmlformats.org/drawingml/2006/main">
              <a:ext uri="{FF2B5EF4-FFF2-40B4-BE49-F238E27FC236}">
                <a16:creationId xmlns:a16="http://schemas.microsoft.com/office/drawing/2014/main" id="{A1619035-B9DE-4DFA-8FD1-1A7C70F3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6CB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CBD"/>
                </a:solidFill>
                <a:latin typeface="Aptos"/>
                <a:ea typeface="Aptos"/>
                <a:cs typeface="Aptos"/>
              </a:rPr>
              <a:t>A1</a:t>
            </a:r>
          </a:p>
        </p:txBody>
      </p:sp>
      <p:sp>
        <p:nvSpPr>
          <p:cNvPr id="7" name="a1-value">
            <a:extLst xmlns:a="http://schemas.openxmlformats.org/drawingml/2006/main">
              <a:ext uri="{FF2B5EF4-FFF2-40B4-BE49-F238E27FC236}">
                <a16:creationId xmlns:a16="http://schemas.microsoft.com/office/drawing/2014/main" id="{0B6E2558-AFAF-422F-BD19-D39790C1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2524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5 representations</a:t>
            </a:r>
          </a:p>
          <a:p xmlns:a="http://schemas.openxmlformats.org/drawingml/2006/main">
            <a:pPr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x 5 frozen retrievers</a:t>
            </a:r>
          </a:p>
          <a:p xmlns:a="http://schemas.openxmlformats.org/drawingml/2006/main">
            <a:pPr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= 25 completed cells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d15b831db4236"/>
          <a:stretch xmlns:a="http://schemas.openxmlformats.org/drawingml/2006/main"/>
        </p:blipFill>
        <p:spPr>
          <a:xfrm xmlns:a="http://schemas.openxmlformats.org/drawingml/2006/main">
            <a:off x="4770827" y="1962150"/>
            <a:ext cx="588884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a2-accounting-label">
            <a:extLst xmlns:a="http://schemas.openxmlformats.org/drawingml/2006/main">
              <a:ext uri="{FF2B5EF4-FFF2-40B4-BE49-F238E27FC236}">
                <a16:creationId xmlns:a16="http://schemas.microsoft.com/office/drawing/2014/main" id="{25CC0BE3-E54B-4ACA-BCD6-B6534AB1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6CB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6CBD"/>
                </a:solidFill>
                <a:latin typeface="Aptos"/>
                <a:ea typeface="Aptos"/>
                <a:cs typeface="Aptos"/>
              </a:rPr>
              <a:t>A2 accounting</a:t>
            </a:r>
          </a:p>
        </p:txBody>
      </p:sp>
      <p:sp>
        <p:nvSpPr>
          <p:cNvPr id="10" name="a2-accounting">
            <a:extLst xmlns:a="http://schemas.openxmlformats.org/drawingml/2006/main">
              <a:ext uri="{FF2B5EF4-FFF2-40B4-BE49-F238E27FC236}">
                <a16:creationId xmlns:a16="http://schemas.microsoft.com/office/drawing/2014/main" id="{29D6CA68-2DA0-4556-91F7-FA65C855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52 = 44 measured + 8 dormant</a:t>
            </a:r>
          </a:p>
        </p:txBody>
      </p:sp>
      <p:sp>
        <p:nvSpPr>
          <p:cNvPr id="11" name="a2-caption">
            <a:extLst xmlns:a="http://schemas.openxmlformats.org/drawingml/2006/main">
              <a:ext uri="{FF2B5EF4-FFF2-40B4-BE49-F238E27FC236}">
                <a16:creationId xmlns:a16="http://schemas.microsoft.com/office/drawing/2014/main" id="{298937EA-7FFA-4F22-97D2-38F0DD58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91200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16B"/>
                </a:solidFill>
                <a:latin typeface="Aptos"/>
                <a:ea typeface="Aptos"/>
                <a:cs typeface="Aptos"/>
              </a:rPr>
              <a:t>Dormant means not admitted for evaluation; it is not failure or zero performance.</a:t>
            </a:r>
          </a:p>
        </p:txBody>
      </p:sp>
      <p:cxnSp>
        <p:nvCxnSpPr>
          <p:cNvPr id="25" name="footer-rule"/>
          <p:cNvCxnSpPr/>
          <p:nvPr/>
        </p:nvCxnSpPr>
        <p:spPr>
          <a:xfrm xmlns:a="http://schemas.openxmlformats.org/drawingml/2006/main">
            <a:off x="685800" y="62484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0146A8C-900B-4BA2-A05F-61824818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616B"/>
                </a:solidFill>
                <a:latin typeface="Aptos"/>
                <a:ea typeface="Aptos"/>
                <a:cs typeface="Aptos"/>
              </a:rPr>
              <a:t>A1 and A2 are summary development evidence; they are not Selection or Final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554209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310D6AF6-E515-471A-983F-1C3E7187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6CB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CBD"/>
                </a:solidFill>
                <a:latin typeface="Aptos"/>
                <a:ea typeface="Aptos"/>
                <a:cs typeface="Aptos"/>
              </a:rPr>
              <a:t>ARMINDEX | ADVISOR PROGRESS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E98C3F-B49E-431E-AB95-3696E117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A2 advances three retrievers to A3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0C362B9-3AE8-41B0-91AA-42A3BC79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616B"/>
                </a:solidFill>
                <a:latin typeface="Aptos"/>
                <a:ea typeface="Aptos"/>
                <a:cs typeface="Aptos"/>
              </a:rPr>
              <a:t>5 / 6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0D76A1A-4AC0-470B-864D-4ADBAEE6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52616B"/>
                </a:solidFill>
                <a:latin typeface="Aptos"/>
                <a:ea typeface="Aptos"/>
                <a:cs typeface="Aptos"/>
              </a:rPr>
              <a:t>The advancement rule retains interpretable ties and no-gain outcomes instead of selecting only positive results.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f765a0dfa4dab"/>
          <a:stretch xmlns:a="http://schemas.openxmlformats.org/drawingml/2006/main"/>
        </p:blipFill>
        <p:spPr>
          <a:xfrm xmlns:a="http://schemas.openxmlformats.org/drawingml/2006/main">
            <a:off x="1243801" y="2047875"/>
            <a:ext cx="5741998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primary-arms">
            <a:extLst xmlns:a="http://schemas.openxmlformats.org/drawingml/2006/main">
              <a:ext uri="{FF2B5EF4-FFF2-40B4-BE49-F238E27FC236}">
                <a16:creationId xmlns:a16="http://schemas.microsoft.com/office/drawing/2014/main" id="{D6E8EF24-1FA9-4E9C-A9DD-BE606816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62175"/>
            <a:ext cx="3238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5F4"/>
          </a:solidFill>
          <a:ln xmlns:a="http://schemas.openxmlformats.org/drawingml/2006/main" w="9525">
            <a:solidFill>
              <a:srgbClr val="E7F5F4"/>
            </a:solidFill>
            <a:prstDash val="solid"/>
          </a:ln>
        </p:spPr>
      </p:sp>
      <p:sp>
        <p:nvSpPr>
          <p:cNvPr id="7" name="primary-title">
            <a:extLst xmlns:a="http://schemas.openxmlformats.org/drawingml/2006/main">
              <a:ext uri="{FF2B5EF4-FFF2-40B4-BE49-F238E27FC236}">
                <a16:creationId xmlns:a16="http://schemas.microsoft.com/office/drawing/2014/main" id="{5F496B90-CC8F-4EEE-B779-0918B952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6F4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A6F4E"/>
                </a:solidFill>
                <a:latin typeface="Aptos"/>
                <a:ea typeface="Aptos"/>
                <a:cs typeface="Aptos"/>
              </a:rPr>
              <a:t>Primary A3 inputs</a:t>
            </a:r>
          </a:p>
        </p:txBody>
      </p:sp>
      <p:sp>
        <p:nvSpPr>
          <p:cNvPr id="8" name="primary-list">
            <a:extLst xmlns:a="http://schemas.openxmlformats.org/drawingml/2006/main">
              <a:ext uri="{FF2B5EF4-FFF2-40B4-BE49-F238E27FC236}">
                <a16:creationId xmlns:a16="http://schemas.microsoft.com/office/drawing/2014/main" id="{FD5CE724-09A2-49CA-B83C-D666649F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9560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ARM-03  PatEmbed</a:t>
            </a:r>
          </a:p>
          <a:p xmlns:a="http://schemas.openxmlformats.org/drawingml/2006/main">
            <a:pPr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ARM-04  Arctic Embed</a:t>
            </a:r>
          </a:p>
          <a:p xmlns:a="http://schemas.openxmlformats.org/drawingml/2006/main">
            <a:pPr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ARM-05  Qwen3 Embedding</a:t>
            </a:r>
          </a:p>
        </p:txBody>
      </p:sp>
      <p:sp>
        <p:nvSpPr>
          <p:cNvPr id="9" name="diagnostic-arms">
            <a:extLst xmlns:a="http://schemas.openxmlformats.org/drawingml/2006/main">
              <a:ext uri="{FF2B5EF4-FFF2-40B4-BE49-F238E27FC236}">
                <a16:creationId xmlns:a16="http://schemas.microsoft.com/office/drawing/2014/main" id="{003E98AC-6519-455F-AD57-3B319729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3238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10" name="diagnostic-note">
            <a:extLst xmlns:a="http://schemas.openxmlformats.org/drawingml/2006/main">
              <a:ext uri="{FF2B5EF4-FFF2-40B4-BE49-F238E27FC236}">
                <a16:creationId xmlns:a16="http://schemas.microsoft.com/office/drawing/2014/main" id="{DA9F86D7-139C-4688-A9C2-321CE876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815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15C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15C00"/>
                </a:solidFill>
                <a:latin typeface="Aptos"/>
                <a:ea typeface="Aptos"/>
                <a:cs typeface="Aptos"/>
              </a:rPr>
              <a:t>ARM-01 and ARM-02 are retained for interpretation but do not advance.</a:t>
            </a:r>
          </a:p>
        </p:txBody>
      </p:sp>
      <p:cxnSp>
        <p:nvCxnSpPr>
          <p:cNvPr id="23" name="footer-rule"/>
          <p:cNvCxnSpPr/>
          <p:nvPr/>
        </p:nvCxnSpPr>
        <p:spPr>
          <a:xfrm xmlns:a="http://schemas.openxmlformats.org/drawingml/2006/main">
            <a:off x="685800" y="62484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3AC34433-6BD6-4284-9B32-B5FF96E1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616B"/>
                </a:solidFill>
                <a:latin typeface="Aptos"/>
                <a:ea typeface="Aptos"/>
                <a:cs typeface="Aptos"/>
              </a:rPr>
              <a:t>Only ARM-03, ARM-04, and ARM-05 enter A3 transfer and complementarity measurement.</a:t>
            </a:r>
          </a:p>
        </p:txBody>
      </p:sp>
    </p:spTree>
    <p:extLst>
      <p:ext uri="{BB962C8B-B14F-4D97-AF65-F5344CB8AC3E}">
        <p14:creationId xmlns:p14="http://schemas.microsoft.com/office/powerpoint/2010/main" val="2051086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7B4BB9F4-F728-44BF-A36A-91C8E0EC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6CB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CBD"/>
                </a:solidFill>
                <a:latin typeface="Aptos"/>
                <a:ea typeface="Aptos"/>
                <a:cs typeface="Aptos"/>
              </a:rPr>
              <a:t>ARMINDEX | ADVISOR PROGRESS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5E3E82-0B0D-4195-BE0C-5F0BFD30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A3 result audit: transfer is adapter-dependent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F933F2-0866-4FF7-930B-67ED561E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616B"/>
                </a:solidFill>
                <a:latin typeface="Aptos"/>
                <a:ea typeface="Aptos"/>
                <a:cs typeface="Aptos"/>
              </a:rPr>
              <a:t>6 / 6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FAEB971-9822-4AC3-9C98-D39A05CD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52616B"/>
                </a:solidFill>
                <a:latin typeface="Aptos"/>
                <a:ea typeface="Aptos"/>
                <a:cs typeface="Aptos"/>
              </a:rPr>
              <a:t>All 14 Train-250 operations completed; the strongest fixed control is top-two RRF-60.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1335111264bc6"/>
          <a:stretch xmlns:a="http://schemas.openxmlformats.org/drawingml/2006/main"/>
        </p:blipFill>
        <p:spPr>
          <a:xfrm xmlns:a="http://schemas.openxmlformats.org/drawingml/2006/main">
            <a:off x="1417184" y="2047875"/>
            <a:ext cx="4347482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a3-results">
            <a:extLst xmlns:a="http://schemas.openxmlformats.org/drawingml/2006/main">
              <a:ext uri="{FF2B5EF4-FFF2-40B4-BE49-F238E27FC236}">
                <a16:creationId xmlns:a16="http://schemas.microsoft.com/office/drawing/2014/main" id="{6829A2D3-B6C3-4878-BEB9-E57BB1CE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43624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E7F5F4"/>
          </a:solidFill>
          <a:ln xmlns:a="http://schemas.openxmlformats.org/drawingml/2006/main" w="9525">
            <a:solidFill>
              <a:srgbClr val="E7F5F4"/>
            </a:solidFill>
            <a:prstDash val="solid"/>
          </a:ln>
        </p:spPr>
      </p:sp>
      <p:sp>
        <p:nvSpPr>
          <p:cNvPr id="7" name="results-title">
            <a:extLst xmlns:a="http://schemas.openxmlformats.org/drawingml/2006/main">
              <a:ext uri="{FF2B5EF4-FFF2-40B4-BE49-F238E27FC236}">
                <a16:creationId xmlns:a16="http://schemas.microsoft.com/office/drawing/2014/main" id="{9DC8D9E0-C3FB-46ED-B848-4440954D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52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6F4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6F4E"/>
                </a:solidFill>
                <a:latin typeface="Aptos"/>
                <a:ea typeface="Aptos"/>
                <a:cs typeface="Aptos"/>
              </a:rPr>
              <a:t>Audited findings</a:t>
            </a:r>
          </a:p>
        </p:txBody>
      </p:sp>
      <p:sp>
        <p:nvSpPr>
          <p:cNvPr id="8" name="results-body">
            <a:extLst xmlns:a="http://schemas.openxmlformats.org/drawingml/2006/main">
              <a:ext uri="{FF2B5EF4-FFF2-40B4-BE49-F238E27FC236}">
                <a16:creationId xmlns:a16="http://schemas.microsoft.com/office/drawing/2014/main" id="{2415D03E-4733-4DF1-A32A-F8E9195E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24175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4213D"/>
                </a:solidFill>
                <a:latin typeface="Aptos"/>
                <a:ea typeface="Aptos"/>
                <a:cs typeface="Aptos"/>
              </a:rPr>
              <a:t>- Best transfer: ARM-05 -&gt; ARM-03, Recall@100 0.419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4213D"/>
                </a:solidFill>
                <a:latin typeface="Aptos"/>
                <a:ea typeface="Aptos"/>
                <a:cs typeface="Aptos"/>
              </a:rPr>
              <a:t>- Best fixed control: top-two RRF-60, Recall@100 0.419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4213D"/>
                </a:solidFill>
                <a:latin typeface="Aptos"/>
                <a:ea typeface="Aptos"/>
                <a:cs typeface="Aptos"/>
              </a:rPr>
              <a:t>- All-primary union: 0.415 Recall@100</a:t>
            </a:r>
          </a:p>
          <a:p xmlns:a="http://schemas.openxmlformats.org/drawingml/2006/main">
            <a:pPr>
              <a:defRPr sz="1425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4213D"/>
                </a:solidFill>
                <a:latin typeface="Aptos"/>
                <a:ea typeface="Aptos"/>
                <a:cs typeface="Aptos"/>
              </a:rPr>
              <a:t>- HarnessOpt: flat surface, no adaptive gain</a:t>
            </a:r>
          </a:p>
        </p:txBody>
      </p:sp>
      <p:sp>
        <p:nvSpPr>
          <p:cNvPr id="9" name="results-boundary">
            <a:extLst xmlns:a="http://schemas.openxmlformats.org/drawingml/2006/main">
              <a:ext uri="{FF2B5EF4-FFF2-40B4-BE49-F238E27FC236}">
                <a16:creationId xmlns:a16="http://schemas.microsoft.com/office/drawing/2014/main" id="{565E2CD6-290A-4D33-B11A-914F795F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6CB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6CBD"/>
                </a:solidFill>
                <a:latin typeface="Aptos"/>
                <a:ea typeface="Aptos"/>
                <a:cs typeface="Aptos"/>
              </a:rPr>
              <a:t>A4 remains locked; Selection and Final remain closed.</a:t>
            </a:r>
          </a:p>
        </p:txBody>
      </p:sp>
      <p:sp>
        <p:nvSpPr>
          <p:cNvPr id="10" name="next-step">
            <a:extLst xmlns:a="http://schemas.openxmlformats.org/drawingml/2006/main">
              <a:ext uri="{FF2B5EF4-FFF2-40B4-BE49-F238E27FC236}">
                <a16:creationId xmlns:a16="http://schemas.microsoft.com/office/drawing/2014/main" id="{E0B5783A-5D0B-4815-BF45-5B4543D0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Claim-limited development evidence: transfer depends on the adapter, and adding every arm is not automatically complementary.</a:t>
            </a:r>
          </a:p>
        </p:txBody>
      </p:sp>
      <p:cxnSp>
        <p:nvCxnSpPr>
          <p:cNvPr id="23" name="footer-rule"/>
          <p:cNvCxnSpPr/>
          <p:nvPr/>
        </p:nvCxnSpPr>
        <p:spPr>
          <a:xfrm xmlns:a="http://schemas.openxmlformats.org/drawingml/2006/main">
            <a:off x="685800" y="624840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7D125C25-A4A4-428B-82CE-2BB85FB3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616B"/>
                </a:solidFill>
                <a:latin typeface="Aptos"/>
                <a:ea typeface="Aptos"/>
                <a:cs typeface="Aptos"/>
              </a:rPr>
              <a:t>A3 development evidence only. Selection and Final remain closed.</a:t>
            </a:r>
          </a:p>
        </p:txBody>
      </p:sp>
    </p:spTree>
    <p:extLst>
      <p:ext uri="{BB962C8B-B14F-4D97-AF65-F5344CB8AC3E}">
        <p14:creationId xmlns:p14="http://schemas.microsoft.com/office/powerpoint/2010/main" val="1660163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2026-08-18T19:15:40.4510000Z</dcterms:created>
  <dcterms:modified xsi:type="dcterms:W3CDTF">2026-08-18T19:15:40.4510000Z</dcterms:modified>
</coreProperties>
</file>