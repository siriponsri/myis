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41cd9ddfc540df" /><Relationship Type="http://schemas.openxmlformats.org/officeDocument/2006/relationships/extended-properties" Target="/docProps/app.xml" Id="R3b182a894a394ada" /><Relationship Type="http://schemas.openxmlformats.org/officeDocument/2006/relationships/officeDocument" Target="/ppt/presentation.xml" Id="Rbfc19573d9004a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c2297d0eb84070"/>
  </p:sldMasterIdLst>
  <p:notesMasterIdLst>
    <p:notesMasterId xmlns:r="http://schemas.openxmlformats.org/officeDocument/2006/relationships" r:id="Rb37c3ee2936149be"/>
  </p:notesMasterIdLst>
  <p:sldIdLst>
    <p:sldId xmlns:r="http://schemas.openxmlformats.org/officeDocument/2006/relationships" id="256" r:id="Rd9f63e6335c54b41"/>
    <p:sldId xmlns:r="http://schemas.openxmlformats.org/officeDocument/2006/relationships" id="257" r:id="R16b889707cdc4aa1"/>
    <p:sldId xmlns:r="http://schemas.openxmlformats.org/officeDocument/2006/relationships" id="258" r:id="Rba27820a2cfd4baf"/>
    <p:sldId xmlns:r="http://schemas.openxmlformats.org/officeDocument/2006/relationships" id="259" r:id="R51d98030b4184e49"/>
    <p:sldId xmlns:r="http://schemas.openxmlformats.org/officeDocument/2006/relationships" id="260" r:id="Rb700f4cdef1742ea"/>
    <p:sldId xmlns:r="http://schemas.openxmlformats.org/officeDocument/2006/relationships" id="261" r:id="R73ea5de6485748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ce0b4f771b4a7f" /><Relationship Type="http://schemas.openxmlformats.org/officeDocument/2006/relationships/slideMaster" Target="/ppt/slideMasters/slideMaster1.xml" Id="Re6c2297d0eb84070" /><Relationship Type="http://schemas.openxmlformats.org/officeDocument/2006/relationships/notesMaster" Target="/ppt/notesMasters/notesMaster1.xml" Id="Rb37c3ee2936149be" /><Relationship Type="http://schemas.openxmlformats.org/officeDocument/2006/relationships/presProps" Target="/ppt/presProps.xml" Id="Rc2f875830d49492f" /><Relationship Type="http://schemas.openxmlformats.org/officeDocument/2006/relationships/tableStyles" Target="/ppt/tableStyles.xml" Id="Rdf743bc57cc44c89" /><Relationship Type="http://schemas.openxmlformats.org/officeDocument/2006/relationships/slide" Target="/ppt/slides/slide1.xml" Id="Rd9f63e6335c54b41" /><Relationship Type="http://schemas.openxmlformats.org/officeDocument/2006/relationships/slide" Target="/ppt/slides/slide2.xml" Id="R16b889707cdc4aa1" /><Relationship Type="http://schemas.openxmlformats.org/officeDocument/2006/relationships/slide" Target="/ppt/slides/slide3.xml" Id="Rba27820a2cfd4baf" /><Relationship Type="http://schemas.openxmlformats.org/officeDocument/2006/relationships/slide" Target="/ppt/slides/slide4.xml" Id="R51d98030b4184e49" /><Relationship Type="http://schemas.openxmlformats.org/officeDocument/2006/relationships/slide" Target="/ppt/slides/slide5.xml" Id="Rb700f4cdef1742ea" /><Relationship Type="http://schemas.openxmlformats.org/officeDocument/2006/relationships/slide" Target="/ppt/slides/slide6.xml" Id="R73ea5de6485748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88eaf224a04b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e5c13a1ded4b47" /><Relationship Type="http://schemas.openxmlformats.org/officeDocument/2006/relationships/notesMaster" Target="/ppt/notesMasters/notesMaster1.xml" Id="R65daad874f9740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06418fe2ec4bca" /><Relationship Type="http://schemas.openxmlformats.org/officeDocument/2006/relationships/notesMaster" Target="/ppt/notesMasters/notesMaster1.xml" Id="R6818e9bd55f54a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bc0f75cb924ded" /><Relationship Type="http://schemas.openxmlformats.org/officeDocument/2006/relationships/notesMaster" Target="/ppt/notesMasters/notesMaster1.xml" Id="R7c5e3543ec1c4d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636d4a1f81401b" /><Relationship Type="http://schemas.openxmlformats.org/officeDocument/2006/relationships/notesMaster" Target="/ppt/notesMasters/notesMaster1.xml" Id="R0e13143bb70148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a6c7bdac4d45f4" /><Relationship Type="http://schemas.openxmlformats.org/officeDocument/2006/relationships/notesMaster" Target="/ppt/notesMasters/notesMaster1.xml" Id="R2befa7c2d36d45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0bd3a6db1c453d" /><Relationship Type="http://schemas.openxmlformats.org/officeDocument/2006/relationships/notesMaster" Target="/ppt/notesMasters/notesMaster1.xml" Id="R8b7ec1f56a6e4c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central question is whether the best deterministic representation of a patent family depends on the retriever.</a:t>
            </a:r>
          </a:p>
          <a:p xmlns:a="http://schemas.openxmlformats.org/drawingml/2006/main">
            <a:r>
              <a:t>This update reports completed evidence through A2 and the current operational state of A3. It does not present A3 results.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docs/research/ARMINDEX_RESEARCH_PLAN_V02.md</a:t>
            </a:r>
          </a:p>
          <a:p xmlns:a="http://schemas.openxmlformats.org/drawingml/2006/main">
            <a:r>
              <a:t>docs/goal/A3_TRANSFER_COMPLEMENTARITY_AND_HARNESSOPT_goal_003.md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A0 establishes reproducibility and data-protection controls. A1 tests the common comparison. A2 conducts constrained representation search for each retriever.</a:t>
            </a:r>
          </a:p>
          <a:p xmlns:a="http://schemas.openxmlformats.org/drawingml/2006/main">
            <a:r>
              <a:t>A3 now tests whether selected representations transfer and whether combining retrievers adds useful coverage under operational constraints.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docs/progress_report/update_A0_A1_A2_18AUG2026.md</a:t>
            </a:r>
          </a:p>
          <a:p xmlns:a="http://schemas.openxmlformats.org/drawingml/2006/main">
            <a:r>
              <a:t>docs/goal/A3_TRANSFER_COMPLEMENTARITY_AND_HARNESSOPT_goal_003.md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study keeps representation development and later harness development separate. Selection and final confirmation have not been opened.</a:t>
            </a:r>
          </a:p>
          <a:p xmlns:a="http://schemas.openxmlformats.org/drawingml/2006/main">
            <a:r>
              <a:t>The figure shows role separation only; it exposes no protected membership or relevance labels.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docs/progress_report/update_A0_A1_A2_18AUG2026.md</a:t>
            </a:r>
          </a:p>
          <a:p xmlns:a="http://schemas.openxmlformats.org/drawingml/2006/main">
            <a:r>
              <a:t>docs/progress_report/figures/a1-development-role-split.png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A1 measured five fixed representations across five predefined retrieval arms. A2 then searched its predefined candidate set independently for each arm.</a:t>
            </a:r>
          </a:p>
          <a:p xmlns:a="http://schemas.openxmlformats.org/drawingml/2006/main">
            <a:r>
              <a:t>All 52 authorized candidate slots are accounted for: 44 were measured and eight conditional reserves were dormant. A dormant reserve is not a missing or null result.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docs/progress_report/update_A0_A1_A2_18AUG2026.md</a:t>
            </a:r>
          </a:p>
          <a:p xmlns:a="http://schemas.openxmlformats.org/drawingml/2006/main">
            <a:r>
              <a:t>docs/progress_report/figures/a2-coverage-recovery.png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ARM-03, ARM-04, and ARM-05 are the only A3 inputs. ARM-01 and ARM-02 had three-way top ties without a unique winner and remain useful interpretation evidence.</a:t>
            </a:r>
          </a:p>
          <a:p xmlns:a="http://schemas.openxmlformats.org/drawingml/2006/main">
            <a:r>
              <a:t>ARM-04 is the strict A2 improvement; ARM-03 is a numerical tie at reported precision; ARM-05 is retained without a strict A2 improvement to avoid selecting only positive outcomes.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docs/goal/A3_TRANSFER_COMPLEMENTARITY_AND_HARNESSOPT_goal_003.md</a:t>
            </a:r>
          </a:p>
          <a:p xmlns:a="http://schemas.openxmlformats.org/drawingml/2006/main">
            <a:r>
              <a:t>docs/progress_report/A2_per_arm_autoindex_outcomes_eda_20260818.csv</a:t>
            </a:r>
          </a:p>
          <a:p xmlns:a="http://schemas.openxmlformats.org/drawingml/2006/main">
            <a:r>
              <a:t>docs/progress_report/figures/a2-per-arm-outcomes.png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028 has launched all nine transfer operations and five fixed combination-control operations.</a:t>
            </a:r>
          </a:p>
          <a:p xmlns:a="http://schemas.openxmlformats.org/drawingml/2006/main">
            <a:r>
              <a:t>Launch is an operational fact, not a performance result. The next valid conclusion requires completed evidence collection, protected local evaluation, completeness checks, and a result-integrity audit.</a:t>
            </a:r>
          </a:p>
          <a:p xmlns:a="http://schemas.openxmlformats.org/drawingml/2006/main">
            <a:r>
              <a:t>A4 has no current authorization to proceed.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docs/goal/A3_TRANSFER_COMPLEMENTARITY_AND_HARNESSOPT_goal_003.md</a:t>
            </a:r>
          </a:p>
          <a:p xmlns:a="http://schemas.openxmlformats.org/drawingml/2006/main">
            <a:r>
              <a:t>../04_Owner_Stores/armindex/a3/a3-goal003-20260818-028-launch-receipts/ (aggregate receipt count only)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ca822449e04d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ef6c790b0648cb" /><Relationship Type="http://schemas.openxmlformats.org/officeDocument/2006/relationships/slideLayout" Target="/ppt/slideLayouts/slideLayout1.xml" Id="R2608f01dfe8342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08f01dfe8342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a9184990b46d0" /><Relationship Type="http://schemas.openxmlformats.org/officeDocument/2006/relationships/notesSlide" Target="/ppt/notesSlides/notesSlide1.xml" Id="R24a5e13da4df4f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79bf8eaa5144e4" /><Relationship Type="http://schemas.openxmlformats.org/officeDocument/2006/relationships/notesSlide" Target="/ppt/notesSlides/notesSlide2.xml" Id="R8da82ad66c784b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1879d855f4d84" /><Relationship Type="http://schemas.openxmlformats.org/officeDocument/2006/relationships/image" Target="/ppt/media/image.png" Id="R479c4423627a4d98" /><Relationship Type="http://schemas.openxmlformats.org/officeDocument/2006/relationships/notesSlide" Target="/ppt/notesSlides/notesSlide3.xml" Id="Redfa7ce1b00146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d72a3cd8644ac8" /><Relationship Type="http://schemas.openxmlformats.org/officeDocument/2006/relationships/image" Target="/ppt/media/image2.png" Id="Rce95fc5feef94bdf" /><Relationship Type="http://schemas.openxmlformats.org/officeDocument/2006/relationships/notesSlide" Target="/ppt/notesSlides/notesSlide4.xml" Id="Rf42896e230dd47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1687600fe4abd" /><Relationship Type="http://schemas.openxmlformats.org/officeDocument/2006/relationships/image" Target="/ppt/media/image3.png" Id="R37862da9bdfc4130" /><Relationship Type="http://schemas.openxmlformats.org/officeDocument/2006/relationships/notesSlide" Target="/ppt/notesSlides/notesSlide5.xml" Id="R051d45ba4e9249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af0eef7ea4cb2" /><Relationship Type="http://schemas.openxmlformats.org/officeDocument/2006/relationships/notesSlide" Target="/ppt/notesSlides/notesSlide6.xml" Id="R004f7c34215a4a2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7C61F593-3AC4-495D-8A37-E7E48CD9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0E70C68-40EA-443E-B319-F8186F75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4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Progress Update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2EA7CAB0-C2A6-461D-BA38-3D76C811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790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2100">
                <a:solidFill>
                  <a:srgbClr val="52616B"/>
                </a:solidFill>
                <a:latin typeface="Aptos"/>
                <a:ea typeface="Aptos"/>
                <a:cs typeface="Aptos"/>
              </a:rPr>
              <a:t>Retriever-specific document representation search for cross-domain patent retrieval</a:t>
            </a:r>
          </a:p>
        </p:txBody>
      </p:sp>
      <p:sp>
        <p:nvSpPr>
          <p:cNvPr id="4" name="status-surface">
            <a:extLst xmlns:a="http://schemas.openxmlformats.org/drawingml/2006/main">
              <a:ext uri="{FF2B5EF4-FFF2-40B4-BE49-F238E27FC236}">
                <a16:creationId xmlns:a16="http://schemas.microsoft.com/office/drawing/2014/main" id="{5D1293DE-83F2-45F7-A5A0-CDF39025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8667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7F5F4"/>
          </a:solidFill>
          <a:ln xmlns:a="http://schemas.openxmlformats.org/drawingml/2006/main" w="9525">
            <a:solidFill>
              <a:srgbClr val="E7F5F4"/>
            </a:solidFill>
            <a:prstDash val="solid"/>
          </a:ln>
        </p:spPr>
      </p:sp>
      <p:sp>
        <p:nvSpPr>
          <p:cNvPr id="5" name="status">
            <a:extLst xmlns:a="http://schemas.openxmlformats.org/drawingml/2006/main">
              <a:ext uri="{FF2B5EF4-FFF2-40B4-BE49-F238E27FC236}">
                <a16:creationId xmlns:a16="http://schemas.microsoft.com/office/drawing/2014/main" id="{0DB1EE79-5E72-4DC4-A5F9-F241B212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52925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A6F4E"/>
                </a:solidFill>
                <a:latin typeface="Aptos"/>
                <a:ea typeface="Aptos"/>
                <a:cs typeface="Aptos"/>
              </a:rPr>
              <a:t>A0-A2 complete | A3 measurement in progress | No A3 result yet</a:t>
            </a:r>
          </a:p>
        </p:txBody>
      </p:sp>
      <p:sp>
        <p:nvSpPr>
          <p:cNvPr id="6" name="date">
            <a:extLst xmlns:a="http://schemas.openxmlformats.org/drawingml/2006/main">
              <a:ext uri="{FF2B5EF4-FFF2-40B4-BE49-F238E27FC236}">
                <a16:creationId xmlns:a16="http://schemas.microsoft.com/office/drawing/2014/main" id="{79EA2513-2950-42F4-B9B1-FE2A3FE3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2616B"/>
                </a:solidFill>
                <a:latin typeface="Aptos"/>
                <a:ea typeface="Aptos"/>
                <a:cs typeface="Aptos"/>
              </a:rPr>
              <a:t>18 August 2026</a:t>
            </a:r>
          </a:p>
        </p:txBody>
      </p:sp>
      <p:cxnSp>
        <p:nvCxnSpPr>
          <p:cNvPr id="15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21B4399E-52D3-4E8C-98E9-2FE042B4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Summary advisor update. Selection and final confirmation remain closed.</a:t>
            </a:r>
          </a:p>
        </p:txBody>
      </p:sp>
    </p:spTree>
    <p:extLst>
      <p:ext uri="{BB962C8B-B14F-4D97-AF65-F5344CB8AC3E}">
        <p14:creationId xmlns:p14="http://schemas.microsoft.com/office/powerpoint/2010/main" val="20282854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eyebrow">
            <a:extLst xmlns:a="http://schemas.openxmlformats.org/drawingml/2006/main">
              <a:ext uri="{FF2B5EF4-FFF2-40B4-BE49-F238E27FC236}">
                <a16:creationId xmlns:a16="http://schemas.microsoft.com/office/drawing/2014/main" id="{7E053F67-A3A4-43BA-927E-A556281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B20B250-5E4E-4B00-824F-3765FE0B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A0-A3 advances to transfer measurement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7521AA9-4D9D-48C6-98DE-23A7FA40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2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801B6C9-45EA-477B-8760-0AC1AAEC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Each phase answers a narrower question while keeping retrievers, scoring rules, and data protections controlled.</a:t>
            </a:r>
          </a:p>
        </p:txBody>
      </p:sp>
      <p:sp>
        <p:nvSpPr>
          <p:cNvPr id="5" name="phase-A0">
            <a:extLst xmlns:a="http://schemas.openxmlformats.org/drawingml/2006/main">
              <a:ext uri="{FF2B5EF4-FFF2-40B4-BE49-F238E27FC236}">
                <a16:creationId xmlns:a16="http://schemas.microsoft.com/office/drawing/2014/main" id="{C6D34D9C-521D-46C6-AEE6-95F9181A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2190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phase-tag-A0">
            <a:extLst xmlns:a="http://schemas.openxmlformats.org/drawingml/2006/main">
              <a:ext uri="{FF2B5EF4-FFF2-40B4-BE49-F238E27FC236}">
                <a16:creationId xmlns:a16="http://schemas.microsoft.com/office/drawing/2014/main" id="{710B905C-381C-4A0F-B221-83DE0632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19425"/>
            <a:ext cx="609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6CBD"/>
          </a:solidFill>
          <a:ln xmlns:a="http://schemas.openxmlformats.org/drawingml/2006/main" w="9525">
            <a:solidFill>
              <a:srgbClr val="0F6CBD"/>
            </a:solidFill>
            <a:prstDash val="solid"/>
          </a:ln>
        </p:spPr>
      </p:sp>
      <p:sp>
        <p:nvSpPr>
          <p:cNvPr id="7" name="phase-label-A0">
            <a:extLst xmlns:a="http://schemas.openxmlformats.org/drawingml/2006/main">
              <a:ext uri="{FF2B5EF4-FFF2-40B4-BE49-F238E27FC236}">
                <a16:creationId xmlns:a16="http://schemas.microsoft.com/office/drawing/2014/main" id="{63CD5A6E-9C39-4029-9E8D-BC5217FB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0670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A0</a:t>
            </a:r>
          </a:p>
        </p:txBody>
      </p:sp>
      <p:sp>
        <p:nvSpPr>
          <p:cNvPr id="8" name="phase-state-A0">
            <a:extLst xmlns:a="http://schemas.openxmlformats.org/drawingml/2006/main">
              <a:ext uri="{FF2B5EF4-FFF2-40B4-BE49-F238E27FC236}">
                <a16:creationId xmlns:a16="http://schemas.microsoft.com/office/drawing/2014/main" id="{4E151FE5-21FA-453C-BB83-7CCBA288E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Controls</a:t>
            </a:r>
          </a:p>
        </p:txBody>
      </p:sp>
      <p:sp>
        <p:nvSpPr>
          <p:cNvPr id="9" name="phase-A1">
            <a:extLst xmlns:a="http://schemas.openxmlformats.org/drawingml/2006/main">
              <a:ext uri="{FF2B5EF4-FFF2-40B4-BE49-F238E27FC236}">
                <a16:creationId xmlns:a16="http://schemas.microsoft.com/office/drawing/2014/main" id="{A3A25283-DCAE-4E58-BAC8-BF9860FA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28925"/>
            <a:ext cx="2190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phase-tag-A1">
            <a:extLst xmlns:a="http://schemas.openxmlformats.org/drawingml/2006/main">
              <a:ext uri="{FF2B5EF4-FFF2-40B4-BE49-F238E27FC236}">
                <a16:creationId xmlns:a16="http://schemas.microsoft.com/office/drawing/2014/main" id="{5D769FB2-FE58-4D54-9CE0-2B4307A2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19425"/>
            <a:ext cx="609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9525">
            <a:solidFill>
              <a:srgbClr val="007F80"/>
            </a:solidFill>
            <a:prstDash val="solid"/>
          </a:ln>
        </p:spPr>
      </p:sp>
      <p:sp>
        <p:nvSpPr>
          <p:cNvPr id="11" name="phase-label-A1">
            <a:extLst xmlns:a="http://schemas.openxmlformats.org/drawingml/2006/main">
              <a:ext uri="{FF2B5EF4-FFF2-40B4-BE49-F238E27FC236}">
                <a16:creationId xmlns:a16="http://schemas.microsoft.com/office/drawing/2014/main" id="{04482D31-D182-48C8-BCDA-7A805687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670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A1</a:t>
            </a:r>
          </a:p>
        </p:txBody>
      </p:sp>
      <p:sp>
        <p:nvSpPr>
          <p:cNvPr id="12" name="phase-state-A1">
            <a:extLst xmlns:a="http://schemas.openxmlformats.org/drawingml/2006/main">
              <a:ext uri="{FF2B5EF4-FFF2-40B4-BE49-F238E27FC236}">
                <a16:creationId xmlns:a16="http://schemas.microsoft.com/office/drawing/2014/main" id="{B588BECA-5DF7-4065-BF4F-051B2216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486150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Common comparison</a:t>
            </a:r>
          </a:p>
        </p:txBody>
      </p:sp>
      <p:sp>
        <p:nvSpPr>
          <p:cNvPr id="13" name="phase-A2">
            <a:extLst xmlns:a="http://schemas.openxmlformats.org/drawingml/2006/main">
              <a:ext uri="{FF2B5EF4-FFF2-40B4-BE49-F238E27FC236}">
                <a16:creationId xmlns:a16="http://schemas.microsoft.com/office/drawing/2014/main" id="{A4D82DFB-5095-4EA5-AF04-8CB48448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28925"/>
            <a:ext cx="2190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phase-tag-A2">
            <a:extLst xmlns:a="http://schemas.openxmlformats.org/drawingml/2006/main">
              <a:ext uri="{FF2B5EF4-FFF2-40B4-BE49-F238E27FC236}">
                <a16:creationId xmlns:a16="http://schemas.microsoft.com/office/drawing/2014/main" id="{758CFE84-8024-453D-A69B-7B68BCA4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19425"/>
            <a:ext cx="609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A6F4E"/>
          </a:solidFill>
          <a:ln xmlns:a="http://schemas.openxmlformats.org/drawingml/2006/main" w="9525">
            <a:solidFill>
              <a:srgbClr val="2A6F4E"/>
            </a:solidFill>
            <a:prstDash val="solid"/>
          </a:ln>
        </p:spPr>
      </p:sp>
      <p:sp>
        <p:nvSpPr>
          <p:cNvPr id="15" name="phase-label-A2">
            <a:extLst xmlns:a="http://schemas.openxmlformats.org/drawingml/2006/main">
              <a:ext uri="{FF2B5EF4-FFF2-40B4-BE49-F238E27FC236}">
                <a16:creationId xmlns:a16="http://schemas.microsoft.com/office/drawing/2014/main" id="{333F6DBC-9808-48EC-8A10-70EC78A0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0670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A2</a:t>
            </a:r>
          </a:p>
        </p:txBody>
      </p:sp>
      <p:sp>
        <p:nvSpPr>
          <p:cNvPr id="16" name="phase-state-A2">
            <a:extLst xmlns:a="http://schemas.openxmlformats.org/drawingml/2006/main">
              <a:ext uri="{FF2B5EF4-FFF2-40B4-BE49-F238E27FC236}">
                <a16:creationId xmlns:a16="http://schemas.microsoft.com/office/drawing/2014/main" id="{95E90F60-6AB8-475A-891F-752B4B73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86150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Representation search</a:t>
            </a:r>
          </a:p>
        </p:txBody>
      </p:sp>
      <p:sp>
        <p:nvSpPr>
          <p:cNvPr id="17" name="phase-A3">
            <a:extLst xmlns:a="http://schemas.openxmlformats.org/drawingml/2006/main">
              <a:ext uri="{FF2B5EF4-FFF2-40B4-BE49-F238E27FC236}">
                <a16:creationId xmlns:a16="http://schemas.microsoft.com/office/drawing/2014/main" id="{F0B293A1-5DC4-4C77-82A8-F9F48909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28925"/>
            <a:ext cx="2190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phase-tag-A3">
            <a:extLst xmlns:a="http://schemas.openxmlformats.org/drawingml/2006/main">
              <a:ext uri="{FF2B5EF4-FFF2-40B4-BE49-F238E27FC236}">
                <a16:creationId xmlns:a16="http://schemas.microsoft.com/office/drawing/2014/main" id="{6510490D-478B-4DEB-923A-A9EC2E4B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19425"/>
            <a:ext cx="609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A15C00"/>
          </a:solidFill>
          <a:ln xmlns:a="http://schemas.openxmlformats.org/drawingml/2006/main" w="9525">
            <a:solidFill>
              <a:srgbClr val="A15C00"/>
            </a:solidFill>
            <a:prstDash val="solid"/>
          </a:ln>
        </p:spPr>
      </p:sp>
      <p:sp>
        <p:nvSpPr>
          <p:cNvPr id="19" name="phase-label-A3">
            <a:extLst xmlns:a="http://schemas.openxmlformats.org/drawingml/2006/main">
              <a:ext uri="{FF2B5EF4-FFF2-40B4-BE49-F238E27FC236}">
                <a16:creationId xmlns:a16="http://schemas.microsoft.com/office/drawing/2014/main" id="{86516C77-C192-4A7E-88CF-3B6DE929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0670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A3</a:t>
            </a:r>
          </a:p>
        </p:txBody>
      </p:sp>
      <p:sp>
        <p:nvSpPr>
          <p:cNvPr id="20" name="phase-state-A3">
            <a:extLst xmlns:a="http://schemas.openxmlformats.org/drawingml/2006/main">
              <a:ext uri="{FF2B5EF4-FFF2-40B4-BE49-F238E27FC236}">
                <a16:creationId xmlns:a16="http://schemas.microsoft.com/office/drawing/2014/main" id="{11A21B3D-21F4-4DBE-B5FC-5A0E36DB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Transfer study</a:t>
            </a:r>
          </a:p>
        </p:txBody>
      </p:sp>
      <p:sp>
        <p:nvSpPr>
          <p:cNvPr id="21" name="a0-status">
            <a:extLst xmlns:a="http://schemas.openxmlformats.org/drawingml/2006/main">
              <a:ext uri="{FF2B5EF4-FFF2-40B4-BE49-F238E27FC236}">
                <a16:creationId xmlns:a16="http://schemas.microsoft.com/office/drawing/2014/main" id="{9B5AB2AB-E681-41F7-94F7-24586D18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2A6F4E"/>
                </a:solidFill>
                <a:latin typeface="Aptos"/>
                <a:ea typeface="Aptos"/>
                <a:cs typeface="Aptos"/>
              </a:rPr>
              <a:t>complete</a:t>
            </a:r>
          </a:p>
        </p:txBody>
      </p:sp>
      <p:sp>
        <p:nvSpPr>
          <p:cNvPr id="22" name="a1-status">
            <a:extLst xmlns:a="http://schemas.openxmlformats.org/drawingml/2006/main">
              <a:ext uri="{FF2B5EF4-FFF2-40B4-BE49-F238E27FC236}">
                <a16:creationId xmlns:a16="http://schemas.microsoft.com/office/drawing/2014/main" id="{F304984E-32EE-41DB-958D-1943BF31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957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2A6F4E"/>
                </a:solidFill>
                <a:latin typeface="Aptos"/>
                <a:ea typeface="Aptos"/>
                <a:cs typeface="Aptos"/>
              </a:rPr>
              <a:t>complete</a:t>
            </a:r>
          </a:p>
        </p:txBody>
      </p:sp>
      <p:sp>
        <p:nvSpPr>
          <p:cNvPr id="23" name="a2-status">
            <a:extLst xmlns:a="http://schemas.openxmlformats.org/drawingml/2006/main">
              <a:ext uri="{FF2B5EF4-FFF2-40B4-BE49-F238E27FC236}">
                <a16:creationId xmlns:a16="http://schemas.microsoft.com/office/drawing/2014/main" id="{6381427F-946F-4D02-A2CD-87C96FEB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957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2A6F4E"/>
                </a:solidFill>
                <a:latin typeface="Aptos"/>
                <a:ea typeface="Aptos"/>
                <a:cs typeface="Aptos"/>
              </a:rPr>
              <a:t>complete</a:t>
            </a:r>
          </a:p>
        </p:txBody>
      </p:sp>
      <p:sp>
        <p:nvSpPr>
          <p:cNvPr id="24" name="a3-status">
            <a:extLst xmlns:a="http://schemas.openxmlformats.org/drawingml/2006/main">
              <a:ext uri="{FF2B5EF4-FFF2-40B4-BE49-F238E27FC236}">
                <a16:creationId xmlns:a16="http://schemas.microsoft.com/office/drawing/2014/main" id="{C399E9FC-DCE0-484F-BE1E-4591B996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95750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15C00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A15C00"/>
                </a:solidFill>
                <a:latin typeface="Aptos"/>
                <a:ea typeface="Aptos"/>
                <a:cs typeface="Aptos"/>
              </a:rPr>
              <a:t>14 operations launched</a:t>
            </a:r>
          </a:p>
        </p:txBody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409C3E15-5705-4F92-86A2-FD706FCE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A4 remains locked until A3 evidence is collected and audited.</a:t>
            </a:r>
          </a:p>
        </p:txBody>
      </p:sp>
      <p:cxnSp>
        <p:nvCxnSpPr>
          <p:cNvPr id="53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27" name="footer">
            <a:extLst xmlns:a="http://schemas.openxmlformats.org/drawingml/2006/main">
              <a:ext uri="{FF2B5EF4-FFF2-40B4-BE49-F238E27FC236}">
                <a16:creationId xmlns:a16="http://schemas.microsoft.com/office/drawing/2014/main" id="{D276D4F5-0928-4E03-826C-11F2432A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Phase roles and A3 scope are set before measurement.</a:t>
            </a:r>
          </a:p>
        </p:txBody>
      </p:sp>
    </p:spTree>
    <p:extLst>
      <p:ext uri="{BB962C8B-B14F-4D97-AF65-F5344CB8AC3E}">
        <p14:creationId xmlns:p14="http://schemas.microsoft.com/office/powerpoint/2010/main" val="10235798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">
            <a:extLst xmlns:a="http://schemas.openxmlformats.org/drawingml/2006/main">
              <a:ext uri="{FF2B5EF4-FFF2-40B4-BE49-F238E27FC236}">
                <a16:creationId xmlns:a16="http://schemas.microsoft.com/office/drawing/2014/main" id="{DA7D3B62-8BEF-4506-94E1-CD2EA7F4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E2C75F5-3A39-4B15-AE28-8134FC83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A0 separates development from future confirmation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828A765-2259-4E07-8B75-1DE5A85B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3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49618571-AE83-4906-83CF-FB739475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Predefined data roles keep adaptive development away from later confirmation decisions.</a:t>
            </a:r>
          </a:p>
        </p:txBody>
      </p:sp>
      <p:sp>
        <p:nvSpPr>
          <p:cNvPr id="5" name="method-summary">
            <a:extLst xmlns:a="http://schemas.openxmlformats.org/drawingml/2006/main">
              <a:ext uri="{FF2B5EF4-FFF2-40B4-BE49-F238E27FC236}">
                <a16:creationId xmlns:a16="http://schemas.microsoft.com/office/drawing/2014/main" id="{55194ECD-0EC2-4F75-989C-2B46BCB9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476625" cy="2524125"/>
          </a:xfrm>
          <a:prstGeom xmlns:a="http://schemas.openxmlformats.org/drawingml/2006/main" prst="roundRect">
            <a:avLst>
              <a:gd name="adj" fmla="val 30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why-title">
            <a:extLst xmlns:a="http://schemas.openxmlformats.org/drawingml/2006/main">
              <a:ext uri="{FF2B5EF4-FFF2-40B4-BE49-F238E27FC236}">
                <a16:creationId xmlns:a16="http://schemas.microsoft.com/office/drawing/2014/main" id="{5CF48102-51F8-47F5-8177-82CC6508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7" name="why-body">
            <a:extLst xmlns:a="http://schemas.openxmlformats.org/drawingml/2006/main">
              <a:ext uri="{FF2B5EF4-FFF2-40B4-BE49-F238E27FC236}">
                <a16:creationId xmlns:a16="http://schemas.microsoft.com/office/drawing/2014/main" id="{BBD397A4-6F6A-4466-AC97-B0318712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285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14213D"/>
                </a:solidFill>
                <a:latin typeface="Aptos"/>
                <a:ea typeface="Aptos"/>
                <a:cs typeface="Aptos"/>
              </a:rPr>
              <a:t>- Representation development has a predefined role</a:t>
            </a:r>
          </a:p>
          <a:p xmlns:a="http://schemas.openxmlformats.org/drawingml/2006/main">
            <a:pPr>
              <a:defRPr sz="1575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14213D"/>
                </a:solidFill>
                <a:latin typeface="Aptos"/>
                <a:ea typeface="Aptos"/>
                <a:cs typeface="Aptos"/>
              </a:rPr>
              <a:t>- Harness development is separated</a:t>
            </a:r>
          </a:p>
          <a:p xmlns:a="http://schemas.openxmlformats.org/drawingml/2006/main">
            <a:pPr>
              <a:defRPr sz="1575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14213D"/>
                </a:solidFill>
                <a:latin typeface="Aptos"/>
                <a:ea typeface="Aptos"/>
                <a:cs typeface="Aptos"/>
              </a:rPr>
              <a:t>- Selection and final confirmation remain closed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9c4423627a4d98"/>
          <a:stretch xmlns:a="http://schemas.openxmlformats.org/drawingml/2006/main"/>
        </p:blipFill>
        <p:spPr>
          <a:xfrm xmlns:a="http://schemas.openxmlformats.org/drawingml/2006/main">
            <a:off x="4736856" y="2019300"/>
            <a:ext cx="6242538" cy="3381375"/>
          </a:xfrm>
          <a:prstGeom xmlns:a="http://schemas.openxmlformats.org/drawingml/2006/main" prst="rect">
            <a:avLst/>
          </a:prstGeom>
        </p:spPr>
      </p:pic>
      <p:sp>
        <p:nvSpPr>
          <p:cNvPr id="9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C70A39BD-51E6-4F87-9576-3046B41D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543550"/>
            <a:ext cx="657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figure shows role separation only; it contains no protected membership or relevance labels.</a:t>
            </a:r>
          </a:p>
        </p:txBody>
      </p:sp>
      <p:cxnSp>
        <p:nvCxnSpPr>
          <p:cNvPr id="21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DA74C406-F296-4078-A9C5-BB6077BF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A0 is engineering and reproducibility evidence, not a retrieval-performance result.</a:t>
            </a:r>
          </a:p>
        </p:txBody>
      </p:sp>
    </p:spTree>
    <p:extLst>
      <p:ext uri="{BB962C8B-B14F-4D97-AF65-F5344CB8AC3E}">
        <p14:creationId xmlns:p14="http://schemas.microsoft.com/office/powerpoint/2010/main" val="11035553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3A104A06-6FE4-4AB9-A5B1-347FFACE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79910FB-6F21-432A-8848-85E1619F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A1 and A2 establish complete development evidence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09C2EAB-B61F-4CB8-B5B4-1997E42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4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5328FB8-2DDC-4031-AB26-59D419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A1 maps the common comparison; A2 searches a predefined candidate set for each retriever.</a:t>
            </a:r>
          </a:p>
        </p:txBody>
      </p:sp>
      <p:sp>
        <p:nvSpPr>
          <p:cNvPr id="5" name="a1-summary">
            <a:extLst xmlns:a="http://schemas.openxmlformats.org/drawingml/2006/main">
              <a:ext uri="{FF2B5EF4-FFF2-40B4-BE49-F238E27FC236}">
                <a16:creationId xmlns:a16="http://schemas.microsoft.com/office/drawing/2014/main" id="{0A2D781D-8228-4293-B765-ABD47824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33337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E8F1FA"/>
            </a:solidFill>
            <a:prstDash val="solid"/>
          </a:ln>
        </p:spPr>
      </p:sp>
      <p:sp>
        <p:nvSpPr>
          <p:cNvPr id="6" name="a1-label">
            <a:extLst xmlns:a="http://schemas.openxmlformats.org/drawingml/2006/main">
              <a:ext uri="{FF2B5EF4-FFF2-40B4-BE49-F238E27FC236}">
                <a16:creationId xmlns:a16="http://schemas.microsoft.com/office/drawing/2014/main" id="{28F7052F-2CDC-4C25-A5B3-9E2178D0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527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A1</a:t>
            </a:r>
          </a:p>
        </p:txBody>
      </p:sp>
      <p:sp>
        <p:nvSpPr>
          <p:cNvPr id="7" name="a1-value">
            <a:extLst xmlns:a="http://schemas.openxmlformats.org/drawingml/2006/main">
              <a:ext uri="{FF2B5EF4-FFF2-40B4-BE49-F238E27FC236}">
                <a16:creationId xmlns:a16="http://schemas.microsoft.com/office/drawing/2014/main" id="{688D72FE-BB08-4FBF-A06D-D41E0C87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81350"/>
            <a:ext cx="25241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5 representations</a:t>
            </a:r>
          </a:p>
          <a:p xmlns:a="http://schemas.openxmlformats.org/drawingml/2006/main">
            <a:pPr>
              <a:defRPr sz="19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x 5 frozen retrievers</a:t>
            </a:r>
          </a:p>
          <a:p xmlns:a="http://schemas.openxmlformats.org/drawingml/2006/main">
            <a:pPr>
              <a:defRPr sz="19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= 25 completed cells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5fc5feef94bdf"/>
          <a:stretch xmlns:a="http://schemas.openxmlformats.org/drawingml/2006/main"/>
        </p:blipFill>
        <p:spPr>
          <a:xfrm xmlns:a="http://schemas.openxmlformats.org/drawingml/2006/main">
            <a:off x="4770827" y="1962150"/>
            <a:ext cx="5888845" cy="3714750"/>
          </a:xfrm>
          <a:prstGeom xmlns:a="http://schemas.openxmlformats.org/drawingml/2006/main" prst="rect">
            <a:avLst/>
          </a:prstGeom>
        </p:spPr>
      </p:pic>
      <p:sp>
        <p:nvSpPr>
          <p:cNvPr id="9" name="a2-accounting-label">
            <a:extLst xmlns:a="http://schemas.openxmlformats.org/drawingml/2006/main">
              <a:ext uri="{FF2B5EF4-FFF2-40B4-BE49-F238E27FC236}">
                <a16:creationId xmlns:a16="http://schemas.microsoft.com/office/drawing/2014/main" id="{960CBB41-198A-477B-B2BF-D8A76727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333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A2 accounting</a:t>
            </a:r>
          </a:p>
        </p:txBody>
      </p:sp>
      <p:sp>
        <p:nvSpPr>
          <p:cNvPr id="10" name="a2-accounting">
            <a:extLst xmlns:a="http://schemas.openxmlformats.org/drawingml/2006/main">
              <a:ext uri="{FF2B5EF4-FFF2-40B4-BE49-F238E27FC236}">
                <a16:creationId xmlns:a16="http://schemas.microsoft.com/office/drawing/2014/main" id="{B64A465E-60CE-4136-A85E-D10FA7731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52 = 44 measured + 8 dormant</a:t>
            </a:r>
          </a:p>
        </p:txBody>
      </p:sp>
      <p:sp>
        <p:nvSpPr>
          <p:cNvPr id="11" name="a2-caption">
            <a:extLst xmlns:a="http://schemas.openxmlformats.org/drawingml/2006/main">
              <a:ext uri="{FF2B5EF4-FFF2-40B4-BE49-F238E27FC236}">
                <a16:creationId xmlns:a16="http://schemas.microsoft.com/office/drawing/2014/main" id="{1762E263-C72B-4A13-B583-F68E0C27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791200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2616B"/>
                </a:solidFill>
                <a:latin typeface="Aptos"/>
                <a:ea typeface="Aptos"/>
                <a:cs typeface="Aptos"/>
              </a:rPr>
              <a:t>Dormant means not admitted for evaluation; it is not failure or zero performance.</a:t>
            </a:r>
          </a:p>
        </p:txBody>
      </p:sp>
      <p:cxnSp>
        <p:nvCxnSpPr>
          <p:cNvPr id="25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20E97E95-E396-4485-AB18-4DF83416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A1 and A2 are summary development evidence; they are not Selection or Final confirmation.</a:t>
            </a:r>
          </a:p>
        </p:txBody>
      </p:sp>
    </p:spTree>
    <p:extLst>
      <p:ext uri="{BB962C8B-B14F-4D97-AF65-F5344CB8AC3E}">
        <p14:creationId xmlns:p14="http://schemas.microsoft.com/office/powerpoint/2010/main" val="16345098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F0056D54-A775-4B0B-BE22-A8D2B955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42F8535-67E6-4001-9083-4654DD4D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A2 advances three retrievers to A3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2B6B347-B499-4085-B66E-AD08C237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5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502B991-A28A-41D2-B4AD-0F32ED0E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advancement rule retains interpretable ties and no-gain outcomes instead of selecting only positive results.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862da9bdfc4130"/>
          <a:stretch xmlns:a="http://schemas.openxmlformats.org/drawingml/2006/main"/>
        </p:blipFill>
        <p:spPr>
          <a:xfrm xmlns:a="http://schemas.openxmlformats.org/drawingml/2006/main">
            <a:off x="1243801" y="2047875"/>
            <a:ext cx="5741998" cy="3619500"/>
          </a:xfrm>
          <a:prstGeom xmlns:a="http://schemas.openxmlformats.org/drawingml/2006/main" prst="rect">
            <a:avLst/>
          </a:prstGeom>
        </p:spPr>
      </p:pic>
      <p:sp>
        <p:nvSpPr>
          <p:cNvPr id="6" name="primary-arms">
            <a:extLst xmlns:a="http://schemas.openxmlformats.org/drawingml/2006/main">
              <a:ext uri="{FF2B5EF4-FFF2-40B4-BE49-F238E27FC236}">
                <a16:creationId xmlns:a16="http://schemas.microsoft.com/office/drawing/2014/main" id="{8BCB024F-378C-404A-8727-B51ADF1C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62175"/>
            <a:ext cx="32385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E7F5F4"/>
          </a:solidFill>
          <a:ln xmlns:a="http://schemas.openxmlformats.org/drawingml/2006/main" w="9525">
            <a:solidFill>
              <a:srgbClr val="E7F5F4"/>
            </a:solidFill>
            <a:prstDash val="solid"/>
          </a:ln>
        </p:spPr>
      </p:sp>
      <p:sp>
        <p:nvSpPr>
          <p:cNvPr id="7" name="primary-title">
            <a:extLst xmlns:a="http://schemas.openxmlformats.org/drawingml/2006/main">
              <a:ext uri="{FF2B5EF4-FFF2-40B4-BE49-F238E27FC236}">
                <a16:creationId xmlns:a16="http://schemas.microsoft.com/office/drawing/2014/main" id="{4703BD3D-BECC-4208-93AC-FD352303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400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A6F4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A6F4E"/>
                </a:solidFill>
                <a:latin typeface="Aptos"/>
                <a:ea typeface="Aptos"/>
                <a:cs typeface="Aptos"/>
              </a:rPr>
              <a:t>Primary A3 inputs</a:t>
            </a:r>
          </a:p>
        </p:txBody>
      </p:sp>
      <p:sp>
        <p:nvSpPr>
          <p:cNvPr id="8" name="primary-list">
            <a:extLst xmlns:a="http://schemas.openxmlformats.org/drawingml/2006/main">
              <a:ext uri="{FF2B5EF4-FFF2-40B4-BE49-F238E27FC236}">
                <a16:creationId xmlns:a16="http://schemas.microsoft.com/office/drawing/2014/main" id="{9DCF0D9E-1D1C-4475-871D-E795CA8D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895600"/>
            <a:ext cx="2476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ARM-03  PatEmbed</a:t>
            </a:r>
          </a:p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ARM-04  Arctic Embed</a:t>
            </a:r>
          </a:p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ARM-05  Qwen3 Embedding</a:t>
            </a:r>
          </a:p>
        </p:txBody>
      </p:sp>
      <p:sp>
        <p:nvSpPr>
          <p:cNvPr id="9" name="diagnostic-arms">
            <a:extLst xmlns:a="http://schemas.openxmlformats.org/drawingml/2006/main">
              <a:ext uri="{FF2B5EF4-FFF2-40B4-BE49-F238E27FC236}">
                <a16:creationId xmlns:a16="http://schemas.microsoft.com/office/drawing/2014/main" id="{A0D2C8A6-6C15-4493-BDEB-BFFD4AA47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333875"/>
            <a:ext cx="32385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FFF4E5"/>
            </a:solidFill>
            <a:prstDash val="solid"/>
          </a:ln>
        </p:spPr>
      </p:sp>
      <p:sp>
        <p:nvSpPr>
          <p:cNvPr id="10" name="diagnostic-note">
            <a:extLst xmlns:a="http://schemas.openxmlformats.org/drawingml/2006/main">
              <a:ext uri="{FF2B5EF4-FFF2-40B4-BE49-F238E27FC236}">
                <a16:creationId xmlns:a16="http://schemas.microsoft.com/office/drawing/2014/main" id="{5129E820-38F2-449D-B5FC-96015692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581525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A15C0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A15C00"/>
                </a:solidFill>
                <a:latin typeface="Aptos"/>
                <a:ea typeface="Aptos"/>
                <a:cs typeface="Aptos"/>
              </a:rPr>
              <a:t>ARM-01 and ARM-02 are retained for interpretation but do not advance.</a:t>
            </a:r>
          </a:p>
        </p:txBody>
      </p:sp>
      <p:cxnSp>
        <p:nvCxnSpPr>
          <p:cNvPr id="23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BEED6B6F-FB7B-4D93-97C4-5AC33F10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Only ARM-03, ARM-04, and ARM-05 enter A3 transfer and complementarity measurement.</a:t>
            </a:r>
          </a:p>
        </p:txBody>
      </p:sp>
    </p:spTree>
    <p:extLst>
      <p:ext uri="{BB962C8B-B14F-4D97-AF65-F5344CB8AC3E}">
        <p14:creationId xmlns:p14="http://schemas.microsoft.com/office/powerpoint/2010/main" val="9550810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yebrow">
            <a:extLst xmlns:a="http://schemas.openxmlformats.org/drawingml/2006/main">
              <a:ext uri="{FF2B5EF4-FFF2-40B4-BE49-F238E27FC236}">
                <a16:creationId xmlns:a16="http://schemas.microsoft.com/office/drawing/2014/main" id="{CC0EC711-6656-4C13-923A-A84E30AC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ARMINDEX | ADVISOR PROGRESS UPDATE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3B34C4D-5996-4CAC-8CDB-D0246954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A3 is running; conclusions await a result audit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A6F541B-DB78-4E7E-8226-8858AE84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0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2616B"/>
                </a:solidFill>
                <a:latin typeface="Aptos"/>
                <a:ea typeface="Aptos"/>
                <a:cs typeface="Aptos"/>
              </a:rPr>
              <a:t>6 / 6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2CB04B60-F57D-4B31-949C-27585273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1725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current work tests transfer and fixed combination controls before any production decision.</a:t>
            </a:r>
          </a:p>
        </p:txBody>
      </p:sp>
      <p:sp>
        <p:nvSpPr>
          <p:cNvPr id="5" name="launch-status">
            <a:extLst xmlns:a="http://schemas.openxmlformats.org/drawingml/2006/main">
              <a:ext uri="{FF2B5EF4-FFF2-40B4-BE49-F238E27FC236}">
                <a16:creationId xmlns:a16="http://schemas.microsoft.com/office/drawing/2014/main" id="{3D4B89DC-84A9-4CE9-B4BF-E362B794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2571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FFF4E5"/>
            </a:solidFill>
            <a:prstDash val="solid"/>
          </a:ln>
        </p:spPr>
      </p:sp>
      <p:sp>
        <p:nvSpPr>
          <p:cNvPr id="6" name="operation-count">
            <a:extLst xmlns:a="http://schemas.openxmlformats.org/drawingml/2006/main">
              <a:ext uri="{FF2B5EF4-FFF2-40B4-BE49-F238E27FC236}">
                <a16:creationId xmlns:a16="http://schemas.microsoft.com/office/drawing/2014/main" id="{5898D9A0-46B0-49BE-A7CD-99692330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19375"/>
            <a:ext cx="1857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A15C00"/>
                </a:solidFill>
                <a:latin typeface="Aptos"/>
                <a:ea typeface="Aptos"/>
                <a:cs typeface="Aptos"/>
              </a:defRPr>
            </a:pPr>
            <a:r>
              <a:rPr sz="3525" b="1">
                <a:solidFill>
                  <a:srgbClr val="A15C00"/>
                </a:solidFill>
                <a:latin typeface="Aptos"/>
                <a:ea typeface="Aptos"/>
                <a:cs typeface="Aptos"/>
              </a:rPr>
              <a:t>14 / 14</a:t>
            </a:r>
          </a:p>
        </p:txBody>
      </p:sp>
      <p:sp>
        <p:nvSpPr>
          <p:cNvPr id="7" name="operation-label">
            <a:extLst xmlns:a="http://schemas.openxmlformats.org/drawingml/2006/main">
              <a:ext uri="{FF2B5EF4-FFF2-40B4-BE49-F238E27FC236}">
                <a16:creationId xmlns:a16="http://schemas.microsoft.com/office/drawing/2014/main" id="{3DC9C30A-F300-40BC-A9E1-30685DE2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337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operations launched</a:t>
            </a:r>
          </a:p>
          <a:p xmlns:a="http://schemas.openxmlformats.org/drawingml/2006/main">
            <a:pPr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in stage 028</a:t>
            </a:r>
          </a:p>
        </p:txBody>
      </p:sp>
      <p:sp>
        <p:nvSpPr>
          <p:cNvPr id="8" name="measurement-scope">
            <a:extLst xmlns:a="http://schemas.openxmlformats.org/drawingml/2006/main">
              <a:ext uri="{FF2B5EF4-FFF2-40B4-BE49-F238E27FC236}">
                <a16:creationId xmlns:a16="http://schemas.microsoft.com/office/drawing/2014/main" id="{F2CE8D6E-70B5-47F5-B2E5-C32B8C9A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38375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scope-title">
            <a:extLst xmlns:a="http://schemas.openxmlformats.org/drawingml/2006/main">
              <a:ext uri="{FF2B5EF4-FFF2-40B4-BE49-F238E27FC236}">
                <a16:creationId xmlns:a16="http://schemas.microsoft.com/office/drawing/2014/main" id="{92EB034D-0DF4-4313-A0C0-4FAD6759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431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is being measured</a:t>
            </a:r>
          </a:p>
        </p:txBody>
      </p:sp>
      <p:sp>
        <p:nvSpPr>
          <p:cNvPr id="10" name="scope-body">
            <a:extLst xmlns:a="http://schemas.openxmlformats.org/drawingml/2006/main">
              <a:ext uri="{FF2B5EF4-FFF2-40B4-BE49-F238E27FC236}">
                <a16:creationId xmlns:a16="http://schemas.microsoft.com/office/drawing/2014/main" id="{C89A3EF8-2667-4F69-8C2B-63D0A1CF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86100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4213D"/>
                </a:solidFill>
                <a:latin typeface="Aptos"/>
                <a:ea typeface="Aptos"/>
                <a:cs typeface="Aptos"/>
              </a:rPr>
              <a:t>- 9 transfer operations</a:t>
            </a:r>
          </a:p>
          <a:p xmlns:a="http://schemas.openxmlformats.org/drawingml/2006/main">
            <a:pPr>
              <a:defRPr sz="150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4213D"/>
                </a:solidFill>
                <a:latin typeface="Aptos"/>
                <a:ea typeface="Aptos"/>
                <a:cs typeface="Aptos"/>
              </a:rPr>
              <a:t>- 5 fixed combination controls</a:t>
            </a:r>
          </a:p>
          <a:p xmlns:a="http://schemas.openxmlformats.org/drawingml/2006/main">
            <a:pPr>
              <a:defRPr sz="150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4213D"/>
                </a:solidFill>
                <a:latin typeface="Aptos"/>
                <a:ea typeface="Aptos"/>
                <a:cs typeface="Aptos"/>
              </a:rPr>
              <a:t>- ARM-03, ARM-04, ARM-05 only</a:t>
            </a:r>
          </a:p>
        </p:txBody>
      </p:sp>
      <p:sp>
        <p:nvSpPr>
          <p:cNvPr id="11" name="decision-boundary">
            <a:extLst xmlns:a="http://schemas.openxmlformats.org/drawingml/2006/main">
              <a:ext uri="{FF2B5EF4-FFF2-40B4-BE49-F238E27FC236}">
                <a16:creationId xmlns:a16="http://schemas.microsoft.com/office/drawing/2014/main" id="{F15C4A6D-0D6B-49BC-9A49-312E6808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38375"/>
            <a:ext cx="3810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E8F1FA"/>
            </a:solidFill>
            <a:prstDash val="solid"/>
          </a:ln>
        </p:spPr>
      </p:sp>
      <p:sp>
        <p:nvSpPr>
          <p:cNvPr id="12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DD8D29AB-5250-44FB-BDB6-3197FA7F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431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F6CB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F6CBD"/>
                </a:solidFill>
                <a:latin typeface="Aptos"/>
                <a:ea typeface="Aptos"/>
                <a:cs typeface="Aptos"/>
              </a:rPr>
              <a:t>What cannot be concluded yet</a:t>
            </a:r>
          </a:p>
        </p:txBody>
      </p:sp>
      <p:sp>
        <p:nvSpPr>
          <p:cNvPr id="13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5A3A06AC-78A2-453A-AECD-3F452717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86100"/>
            <a:ext cx="3000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transfer result</a:t>
            </a:r>
          </a:p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complementary-set decision</a:t>
            </a:r>
          </a:p>
          <a:p xmlns:a="http://schemas.openxmlformats.org/drawingml/2006/main">
            <a:pPr>
              <a:defRPr sz="15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A4 production decision</a:t>
            </a:r>
          </a:p>
        </p:txBody>
      </p:sp>
      <p:sp>
        <p:nvSpPr>
          <p:cNvPr id="14" name="next-step">
            <a:extLst xmlns:a="http://schemas.openxmlformats.org/drawingml/2006/main">
              <a:ext uri="{FF2B5EF4-FFF2-40B4-BE49-F238E27FC236}">
                <a16:creationId xmlns:a16="http://schemas.microsoft.com/office/drawing/2014/main" id="{57A085CD-DBE6-4D37-A57C-11FDE1D8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9763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Next valid update: collected packages, protected local evaluation, completeness check, and independent result audit.</a:t>
            </a:r>
          </a:p>
        </p:txBody>
      </p:sp>
      <p:cxnSp>
        <p:nvCxnSpPr>
          <p:cNvPr id="31" name="footer-rule"/>
          <p:cNvCxnSpPr/>
          <p:nvPr/>
        </p:nvCxnSpPr>
        <p:spPr>
          <a:xfrm xmlns:a="http://schemas.openxmlformats.org/drawingml/2006/main">
            <a:off x="685800" y="6248400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cxnSp>
      <p:sp>
        <p:nvSpPr>
          <p:cNvPr id="16" name="footer">
            <a:extLst xmlns:a="http://schemas.openxmlformats.org/drawingml/2006/main">
              <a:ext uri="{FF2B5EF4-FFF2-40B4-BE49-F238E27FC236}">
                <a16:creationId xmlns:a16="http://schemas.microsoft.com/office/drawing/2014/main" id="{7BF838F4-C9E4-4026-BF15-F55B89C8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2616B"/>
                </a:solidFill>
                <a:latin typeface="Aptos"/>
                <a:ea typeface="Aptos"/>
                <a:cs typeface="Aptos"/>
              </a:rPr>
              <a:t>A4 remains locked pending valid A3 summary evidence and audit.</a:t>
            </a:r>
          </a:p>
        </p:txBody>
      </p:sp>
    </p:spTree>
    <p:extLst>
      <p:ext uri="{BB962C8B-B14F-4D97-AF65-F5344CB8AC3E}">
        <p14:creationId xmlns:p14="http://schemas.microsoft.com/office/powerpoint/2010/main" val="10779722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2026-08-18T16:20:20.2420000Z</dcterms:created>
  <dcterms:modified xsi:type="dcterms:W3CDTF">2026-08-18T16:20:20.2420000Z</dcterms:modified>
</coreProperties>
</file>