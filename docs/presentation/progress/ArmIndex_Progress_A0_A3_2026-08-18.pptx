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f5fca29984541cd" /><Relationship Type="http://schemas.openxmlformats.org/officeDocument/2006/relationships/extended-properties" Target="/docProps/app.xml" Id="R6527df1c25bf43b6" /><Relationship Type="http://schemas.openxmlformats.org/officeDocument/2006/relationships/officeDocument" Target="/ppt/presentation.xml" Id="R2e98e0a1f73943a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fc37f6cda664f23"/>
  </p:sldMasterIdLst>
  <p:notesMasterIdLst>
    <p:notesMasterId xmlns:r="http://schemas.openxmlformats.org/officeDocument/2006/relationships" r:id="Rf36a2d66714a443b"/>
  </p:notesMasterIdLst>
  <p:sldIdLst>
    <p:sldId xmlns:r="http://schemas.openxmlformats.org/officeDocument/2006/relationships" id="256" r:id="Ra5892d78d5a04582"/>
    <p:sldId xmlns:r="http://schemas.openxmlformats.org/officeDocument/2006/relationships" id="257" r:id="Rb0494f8ee9b24a7b"/>
    <p:sldId xmlns:r="http://schemas.openxmlformats.org/officeDocument/2006/relationships" id="258" r:id="Racf5dfe2c0204f48"/>
    <p:sldId xmlns:r="http://schemas.openxmlformats.org/officeDocument/2006/relationships" id="259" r:id="Rc429f90c446f4f72"/>
    <p:sldId xmlns:r="http://schemas.openxmlformats.org/officeDocument/2006/relationships" id="260" r:id="Rb21f619cc39445b0"/>
    <p:sldId xmlns:r="http://schemas.openxmlformats.org/officeDocument/2006/relationships" id="261" r:id="R1260f6e7bb9846f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7ff848b888146a3" /><Relationship Type="http://schemas.openxmlformats.org/officeDocument/2006/relationships/slideMaster" Target="/ppt/slideMasters/slideMaster1.xml" Id="R2fc37f6cda664f23" /><Relationship Type="http://schemas.openxmlformats.org/officeDocument/2006/relationships/notesMaster" Target="/ppt/notesMasters/notesMaster1.xml" Id="Rf36a2d66714a443b" /><Relationship Type="http://schemas.openxmlformats.org/officeDocument/2006/relationships/presProps" Target="/ppt/presProps.xml" Id="Rb5e8574dcd0844e8" /><Relationship Type="http://schemas.openxmlformats.org/officeDocument/2006/relationships/tableStyles" Target="/ppt/tableStyles.xml" Id="Ra209b49c785a4d65" /><Relationship Type="http://schemas.openxmlformats.org/officeDocument/2006/relationships/slide" Target="/ppt/slides/slide1.xml" Id="Ra5892d78d5a04582" /><Relationship Type="http://schemas.openxmlformats.org/officeDocument/2006/relationships/slide" Target="/ppt/slides/slide2.xml" Id="Rb0494f8ee9b24a7b" /><Relationship Type="http://schemas.openxmlformats.org/officeDocument/2006/relationships/slide" Target="/ppt/slides/slide3.xml" Id="Racf5dfe2c0204f48" /><Relationship Type="http://schemas.openxmlformats.org/officeDocument/2006/relationships/slide" Target="/ppt/slides/slide4.xml" Id="Rc429f90c446f4f72" /><Relationship Type="http://schemas.openxmlformats.org/officeDocument/2006/relationships/slide" Target="/ppt/slides/slide5.xml" Id="Rb21f619cc39445b0" /><Relationship Type="http://schemas.openxmlformats.org/officeDocument/2006/relationships/slide" Target="/ppt/slides/slide6.xml" Id="R1260f6e7bb9846f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13b782b0b564cf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d667c43ac8d4367" /><Relationship Type="http://schemas.openxmlformats.org/officeDocument/2006/relationships/notesMaster" Target="/ppt/notesMasters/notesMaster1.xml" Id="R07ec76baee08422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b7dcf6ba8ad4f44" /><Relationship Type="http://schemas.openxmlformats.org/officeDocument/2006/relationships/notesMaster" Target="/ppt/notesMasters/notesMaster1.xml" Id="R2cc3034fc5674f7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c54a0af53c645c8" /><Relationship Type="http://schemas.openxmlformats.org/officeDocument/2006/relationships/notesMaster" Target="/ppt/notesMasters/notesMaster1.xml" Id="Rc1454bcc5f9c4af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7a7fa01657f42df" /><Relationship Type="http://schemas.openxmlformats.org/officeDocument/2006/relationships/notesMaster" Target="/ppt/notesMasters/notesMaster1.xml" Id="Ra1db48d02158434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4c00c9eb9ef4ec4" /><Relationship Type="http://schemas.openxmlformats.org/officeDocument/2006/relationships/notesMaster" Target="/ppt/notesMasters/notesMaster1.xml" Id="Rb7723c3600eb4e2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9357c2cb0e041c1" /><Relationship Type="http://schemas.openxmlformats.org/officeDocument/2006/relationships/notesMaster" Target="/ppt/notesMasters/notesMaster1.xml" Id="Rb90972af1f1740f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central question is whether the best deterministic representation of a patent family depends on the retriever.</a:t>
            </a:r>
          </a:p>
          <a:p xmlns:a="http://schemas.openxmlformats.org/drawingml/2006/main">
            <a:r>
              <a:t>This update reports completed evidence through A2 and the current operational state of A3. It does not present A3 results.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docs/research/ARMINDEX_RESEARCH_PLAN_V02.md</a:t>
            </a:r>
          </a:p>
          <a:p xmlns:a="http://schemas.openxmlformats.org/drawingml/2006/main">
            <a:r>
              <a:t>docs/goal/A3_TRANSFER_COMPLEMENTARITY_AND_HARNESSOPT_goal_003.md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A0 establishes reproducibility and data-protection controls. A1 tests the common comparison. A2 conducts constrained representation search for each retriever.</a:t>
            </a:r>
          </a:p>
          <a:p xmlns:a="http://schemas.openxmlformats.org/drawingml/2006/main">
            <a:r>
              <a:t>A3 now tests whether selected representations transfer and whether combining retrievers adds useful coverage under operational constraints.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docs/progress_report/update_A0_A1_A2_18AUG2026.md</a:t>
            </a:r>
          </a:p>
          <a:p xmlns:a="http://schemas.openxmlformats.org/drawingml/2006/main">
            <a:r>
              <a:t>docs/goal/A3_TRANSFER_COMPLEMENTARITY_AND_HARNESSOPT_goal_003.md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study keeps representation development and later harness development separate. Selection and final confirmation have not been opened.</a:t>
            </a:r>
          </a:p>
          <a:p xmlns:a="http://schemas.openxmlformats.org/drawingml/2006/main">
            <a:r>
              <a:t>The figure shows role separation only; it exposes no protected membership or relevance labels.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docs/progress_report/update_A0_A1_A2_18AUG2026.md</a:t>
            </a:r>
          </a:p>
          <a:p xmlns:a="http://schemas.openxmlformats.org/drawingml/2006/main">
            <a:r>
              <a:t>docs/progress_report/figures/a1-development-role-split.png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A1 measured five fixed representations across five predefined retrieval arms. A2 then searched its predefined candidate set independently for each arm.</a:t>
            </a:r>
          </a:p>
          <a:p xmlns:a="http://schemas.openxmlformats.org/drawingml/2006/main">
            <a:r>
              <a:t>All 52 authorized candidate slots are accounted for: 44 were measured and eight conditional reserves were dormant. A dormant reserve is not a missing or null result.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docs/progress_report/update_A0_A1_A2_18AUG2026.md</a:t>
            </a:r>
          </a:p>
          <a:p xmlns:a="http://schemas.openxmlformats.org/drawingml/2006/main">
            <a:r>
              <a:t>docs/progress_report/figures/a2-coverage-recovery.png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ARM-03, ARM-04, and ARM-05 are the only A3 inputs. ARM-01 and ARM-02 had three-way top ties without a unique winner and remain useful interpretation evidence.</a:t>
            </a:r>
          </a:p>
          <a:p xmlns:a="http://schemas.openxmlformats.org/drawingml/2006/main">
            <a:r>
              <a:t>ARM-04 is the strict A2 improvement; ARM-03 is a numerical tie at reported precision; ARM-05 is retained without a strict A2 improvement to avoid selecting only positive outcomes.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docs/goal/A3_TRANSFER_COMPLEMENTARITY_AND_HARNESSOPT_goal_003.md</a:t>
            </a:r>
          </a:p>
          <a:p xmlns:a="http://schemas.openxmlformats.org/drawingml/2006/main">
            <a:r>
              <a:t>docs/progress_report/A2_per_arm_autoindex_outcomes_eda_20260818.csv</a:t>
            </a:r>
          </a:p>
          <a:p xmlns:a="http://schemas.openxmlformats.org/drawingml/2006/main">
            <a:r>
              <a:t>docs/progress_report/figures/a2-per-arm-outcomes.png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Stage 028 launched all nine transfer operations and five fixed combination-control operations. Twelve return receipts are collected; two fixed controls remain active.</a:t>
            </a:r>
          </a:p>
          <a:p xmlns:a="http://schemas.openxmlformats.org/drawingml/2006/main">
            <a:r>
              <a:t>Launch is an operational fact, not a performance result. The next valid conclusion requires completed evidence collection, protected local evaluation, completeness checks, and a result-integrity audit.</a:t>
            </a:r>
          </a:p>
          <a:p xmlns:a="http://schemas.openxmlformats.org/drawingml/2006/main">
            <a:r>
              <a:t>A4 has no current authorization to proceed.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docs/goal/A3_TRANSFER_COMPLEMENTARITY_AND_HARNESSOPT_goal_003.md</a:t>
            </a:r>
          </a:p>
          <a:p xmlns:a="http://schemas.openxmlformats.org/drawingml/2006/main">
            <a:r>
              <a:t>../04_Owner_Stores/armindex/a3/a3-goal003-20260818-028-launch-receipts/ (aggregate receipt count only)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1e4ffff9854ad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373a67f1643404c" /><Relationship Type="http://schemas.openxmlformats.org/officeDocument/2006/relationships/slideLayout" Target="/ppt/slideLayouts/slideLayout1.xml" Id="R8010f8a2427d48f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010f8a2427d48f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b9e854f1284f5a" /><Relationship Type="http://schemas.openxmlformats.org/officeDocument/2006/relationships/notesSlide" Target="/ppt/notesSlides/notesSlide1.xml" Id="R80e2741cd39343b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18f6393ee24543" /><Relationship Type="http://schemas.openxmlformats.org/officeDocument/2006/relationships/notesSlide" Target="/ppt/notesSlides/notesSlide2.xml" Id="R38b5d883c3ab496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f0c880de094e72" /><Relationship Type="http://schemas.openxmlformats.org/officeDocument/2006/relationships/image" Target="/ppt/media/image.png" Id="R968d5be4c196411f" /><Relationship Type="http://schemas.openxmlformats.org/officeDocument/2006/relationships/notesSlide" Target="/ppt/notesSlides/notesSlide3.xml" Id="Rea2a48afee04454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1f86a9cc7e4006" /><Relationship Type="http://schemas.openxmlformats.org/officeDocument/2006/relationships/image" Target="/ppt/media/image2.png" Id="R89de161d128246c6" /><Relationship Type="http://schemas.openxmlformats.org/officeDocument/2006/relationships/notesSlide" Target="/ppt/notesSlides/notesSlide4.xml" Id="R15444aa5ed1e430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1290dc52bd4224" /><Relationship Type="http://schemas.openxmlformats.org/officeDocument/2006/relationships/image" Target="/ppt/media/image3.png" Id="Rb7f7e00002da4542" /><Relationship Type="http://schemas.openxmlformats.org/officeDocument/2006/relationships/notesSlide" Target="/ppt/notesSlides/notesSlide5.xml" Id="R56ce7583354d4fb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116f3dbf444df8" /><Relationship Type="http://schemas.openxmlformats.org/officeDocument/2006/relationships/notesSlide" Target="/ppt/notesSlides/notesSlide6.xml" Id="R3a2f8b3338244e9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eyebrow">
            <a:extLst xmlns:a="http://schemas.openxmlformats.org/drawingml/2006/main">
              <a:ext uri="{FF2B5EF4-FFF2-40B4-BE49-F238E27FC236}">
                <a16:creationId xmlns:a16="http://schemas.microsoft.com/office/drawing/2014/main" id="{38DAB0A1-23EC-492E-BA52-0A0EF4328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F6CB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6CBD"/>
                </a:solidFill>
                <a:latin typeface="Aptos"/>
                <a:ea typeface="Aptos"/>
                <a:cs typeface="Aptos"/>
              </a:rPr>
              <a:t>ARMINDEX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5062DEA-FF4A-4B27-BEAA-28239DF67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7620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4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Progress Update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7F6CE460-AC25-408A-91E4-9437E1859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790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2100">
                <a:solidFill>
                  <a:srgbClr val="52616B"/>
                </a:solidFill>
                <a:latin typeface="Aptos"/>
                <a:ea typeface="Aptos"/>
                <a:cs typeface="Aptos"/>
              </a:rPr>
              <a:t>Retriever-specific document representation search for cross-domain patent retrieval</a:t>
            </a:r>
          </a:p>
        </p:txBody>
      </p:sp>
      <p:sp>
        <p:nvSpPr>
          <p:cNvPr id="4" name="status-surface">
            <a:extLst xmlns:a="http://schemas.openxmlformats.org/drawingml/2006/main">
              <a:ext uri="{FF2B5EF4-FFF2-40B4-BE49-F238E27FC236}">
                <a16:creationId xmlns:a16="http://schemas.microsoft.com/office/drawing/2014/main" id="{80B556A2-0CBD-4549-B588-F660667B8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14800"/>
            <a:ext cx="86677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E7F5F4"/>
          </a:solidFill>
          <a:ln xmlns:a="http://schemas.openxmlformats.org/drawingml/2006/main" w="9525">
            <a:solidFill>
              <a:srgbClr val="E7F5F4"/>
            </a:solidFill>
            <a:prstDash val="solid"/>
          </a:ln>
        </p:spPr>
      </p:sp>
      <p:sp>
        <p:nvSpPr>
          <p:cNvPr id="5" name="status">
            <a:extLst xmlns:a="http://schemas.openxmlformats.org/drawingml/2006/main">
              <a:ext uri="{FF2B5EF4-FFF2-40B4-BE49-F238E27FC236}">
                <a16:creationId xmlns:a16="http://schemas.microsoft.com/office/drawing/2014/main" id="{9CA221FC-5A07-49F3-8E86-7D9A2179C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52925"/>
            <a:ext cx="809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A6F4E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2A6F4E"/>
                </a:solidFill>
                <a:latin typeface="Aptos"/>
                <a:ea typeface="Aptos"/>
                <a:cs typeface="Aptos"/>
              </a:rPr>
              <a:t>A0-A2 complete | A3 measurement in progress | No A3 result yet</a:t>
            </a:r>
          </a:p>
        </p:txBody>
      </p:sp>
      <p:sp>
        <p:nvSpPr>
          <p:cNvPr id="6" name="date">
            <a:extLst xmlns:a="http://schemas.openxmlformats.org/drawingml/2006/main">
              <a:ext uri="{FF2B5EF4-FFF2-40B4-BE49-F238E27FC236}">
                <a16:creationId xmlns:a16="http://schemas.microsoft.com/office/drawing/2014/main" id="{5D96904E-8F75-432A-A135-CA3B627BB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52616B"/>
                </a:solidFill>
                <a:latin typeface="Aptos"/>
                <a:ea typeface="Aptos"/>
                <a:cs typeface="Aptos"/>
              </a:rPr>
              <a:t>19 August 2026</a:t>
            </a:r>
          </a:p>
        </p:txBody>
      </p:sp>
      <p:cxnSp>
        <p:nvCxnSpPr>
          <p:cNvPr id="15" name="footer-rule"/>
          <p:cNvCxnSpPr/>
          <p:nvPr/>
        </p:nvCxnSpPr>
        <p:spPr>
          <a:xfrm xmlns:a="http://schemas.openxmlformats.org/drawingml/2006/main">
            <a:off x="685800" y="6248400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BD5E1"/>
            </a:solidFill>
            <a:prstDash val="solid"/>
          </a:ln>
        </p:spPr>
      </p:cxn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CD20C955-4E2C-4355-88C9-2834950D8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933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52616B"/>
                </a:solidFill>
                <a:latin typeface="Aptos"/>
                <a:ea typeface="Aptos"/>
                <a:cs typeface="Aptos"/>
              </a:rPr>
              <a:t>Summary advisor update. Selection and final confirmation remain closed.</a:t>
            </a:r>
          </a:p>
        </p:txBody>
      </p:sp>
    </p:spTree>
    <p:extLst>
      <p:ext uri="{BB962C8B-B14F-4D97-AF65-F5344CB8AC3E}">
        <p14:creationId xmlns:p14="http://schemas.microsoft.com/office/powerpoint/2010/main" val="150937054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eyebrow">
            <a:extLst xmlns:a="http://schemas.openxmlformats.org/drawingml/2006/main">
              <a:ext uri="{FF2B5EF4-FFF2-40B4-BE49-F238E27FC236}">
                <a16:creationId xmlns:a16="http://schemas.microsoft.com/office/drawing/2014/main" id="{69AA129C-8F98-454E-AB2C-D81EEE1D8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628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F6CB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6CBD"/>
                </a:solidFill>
                <a:latin typeface="Aptos"/>
                <a:ea typeface="Aptos"/>
                <a:cs typeface="Aptos"/>
              </a:rPr>
              <a:t>ARMINDEX | ADVISOR PROGRESS UPDATE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F2C4DCA-FD6D-42BC-A791-94A525E31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0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A0-A3 advances to transfer measurement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6D6E483D-92C0-4A6E-99FA-2534392E5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0050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1050">
                <a:solidFill>
                  <a:srgbClr val="52616B"/>
                </a:solidFill>
                <a:latin typeface="Aptos"/>
                <a:ea typeface="Aptos"/>
                <a:cs typeface="Aptos"/>
              </a:rPr>
              <a:t>2 / 6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969869FB-9D08-4910-BEF6-DE0DAD9B5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1725">
                <a:solidFill>
                  <a:srgbClr val="52616B"/>
                </a:solidFill>
                <a:latin typeface="Aptos"/>
                <a:ea typeface="Aptos"/>
                <a:cs typeface="Aptos"/>
              </a:rPr>
              <a:t>Each phase answers a narrower question while keeping retrievers, scoring rules, and data protections controlled.</a:t>
            </a:r>
          </a:p>
        </p:txBody>
      </p:sp>
      <p:sp>
        <p:nvSpPr>
          <p:cNvPr id="5" name="phase-A0">
            <a:extLst xmlns:a="http://schemas.openxmlformats.org/drawingml/2006/main">
              <a:ext uri="{FF2B5EF4-FFF2-40B4-BE49-F238E27FC236}">
                <a16:creationId xmlns:a16="http://schemas.microsoft.com/office/drawing/2014/main" id="{24232039-80B2-4A84-B3FB-837F6291F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28925"/>
            <a:ext cx="21907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phase-tag-A0">
            <a:extLst xmlns:a="http://schemas.openxmlformats.org/drawingml/2006/main">
              <a:ext uri="{FF2B5EF4-FFF2-40B4-BE49-F238E27FC236}">
                <a16:creationId xmlns:a16="http://schemas.microsoft.com/office/drawing/2014/main" id="{5F0D2015-1C00-4986-9B7A-0E187662B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19425"/>
            <a:ext cx="6096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F6CBD"/>
          </a:solidFill>
          <a:ln xmlns:a="http://schemas.openxmlformats.org/drawingml/2006/main" w="9525">
            <a:solidFill>
              <a:srgbClr val="0F6CBD"/>
            </a:solidFill>
            <a:prstDash val="solid"/>
          </a:ln>
        </p:spPr>
      </p:sp>
      <p:sp>
        <p:nvSpPr>
          <p:cNvPr id="7" name="phase-label-A0">
            <a:extLst xmlns:a="http://schemas.openxmlformats.org/drawingml/2006/main">
              <a:ext uri="{FF2B5EF4-FFF2-40B4-BE49-F238E27FC236}">
                <a16:creationId xmlns:a16="http://schemas.microsoft.com/office/drawing/2014/main" id="{1152F89A-750F-40E0-8164-547643969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30670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A0</a:t>
            </a:r>
          </a:p>
        </p:txBody>
      </p:sp>
      <p:sp>
        <p:nvSpPr>
          <p:cNvPr id="8" name="phase-state-A0">
            <a:extLst xmlns:a="http://schemas.openxmlformats.org/drawingml/2006/main">
              <a:ext uri="{FF2B5EF4-FFF2-40B4-BE49-F238E27FC236}">
                <a16:creationId xmlns:a16="http://schemas.microsoft.com/office/drawing/2014/main" id="{6D27E6DE-E9F6-4200-A1E5-2A7236E40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86150"/>
            <a:ext cx="1762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Controls</a:t>
            </a:r>
          </a:p>
        </p:txBody>
      </p:sp>
      <p:sp>
        <p:nvSpPr>
          <p:cNvPr id="9" name="phase-A1">
            <a:extLst xmlns:a="http://schemas.openxmlformats.org/drawingml/2006/main">
              <a:ext uri="{FF2B5EF4-FFF2-40B4-BE49-F238E27FC236}">
                <a16:creationId xmlns:a16="http://schemas.microsoft.com/office/drawing/2014/main" id="{FFFACB24-6A39-4CCC-B344-77455C3CA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828925"/>
            <a:ext cx="21907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phase-tag-A1">
            <a:extLst xmlns:a="http://schemas.openxmlformats.org/drawingml/2006/main">
              <a:ext uri="{FF2B5EF4-FFF2-40B4-BE49-F238E27FC236}">
                <a16:creationId xmlns:a16="http://schemas.microsoft.com/office/drawing/2014/main" id="{A1F42978-5557-4C3A-84BF-722BD3848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019425"/>
            <a:ext cx="6096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07F80"/>
          </a:solidFill>
          <a:ln xmlns:a="http://schemas.openxmlformats.org/drawingml/2006/main" w="9525">
            <a:solidFill>
              <a:srgbClr val="007F80"/>
            </a:solidFill>
            <a:prstDash val="solid"/>
          </a:ln>
        </p:spPr>
      </p:sp>
      <p:sp>
        <p:nvSpPr>
          <p:cNvPr id="11" name="phase-label-A1">
            <a:extLst xmlns:a="http://schemas.openxmlformats.org/drawingml/2006/main">
              <a:ext uri="{FF2B5EF4-FFF2-40B4-BE49-F238E27FC236}">
                <a16:creationId xmlns:a16="http://schemas.microsoft.com/office/drawing/2014/main" id="{B8C95387-7C49-438E-BFDE-A3E3AA5F3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0670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A1</a:t>
            </a:r>
          </a:p>
        </p:txBody>
      </p:sp>
      <p:sp>
        <p:nvSpPr>
          <p:cNvPr id="12" name="phase-state-A1">
            <a:extLst xmlns:a="http://schemas.openxmlformats.org/drawingml/2006/main">
              <a:ext uri="{FF2B5EF4-FFF2-40B4-BE49-F238E27FC236}">
                <a16:creationId xmlns:a16="http://schemas.microsoft.com/office/drawing/2014/main" id="{4E75045C-D309-4FC2-87DC-FE9B36544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486150"/>
            <a:ext cx="1762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Common comparison</a:t>
            </a:r>
          </a:p>
        </p:txBody>
      </p:sp>
      <p:sp>
        <p:nvSpPr>
          <p:cNvPr id="13" name="phase-A2">
            <a:extLst xmlns:a="http://schemas.openxmlformats.org/drawingml/2006/main">
              <a:ext uri="{FF2B5EF4-FFF2-40B4-BE49-F238E27FC236}">
                <a16:creationId xmlns:a16="http://schemas.microsoft.com/office/drawing/2014/main" id="{F58C981F-2401-47FD-BDFB-B8B659DC0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828925"/>
            <a:ext cx="21907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phase-tag-A2">
            <a:extLst xmlns:a="http://schemas.openxmlformats.org/drawingml/2006/main">
              <a:ext uri="{FF2B5EF4-FFF2-40B4-BE49-F238E27FC236}">
                <a16:creationId xmlns:a16="http://schemas.microsoft.com/office/drawing/2014/main" id="{DED21040-24BC-4D75-BCA6-835F6AF88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019425"/>
            <a:ext cx="6096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2A6F4E"/>
          </a:solidFill>
          <a:ln xmlns:a="http://schemas.openxmlformats.org/drawingml/2006/main" w="9525">
            <a:solidFill>
              <a:srgbClr val="2A6F4E"/>
            </a:solidFill>
            <a:prstDash val="solid"/>
          </a:ln>
        </p:spPr>
      </p:sp>
      <p:sp>
        <p:nvSpPr>
          <p:cNvPr id="15" name="phase-label-A2">
            <a:extLst xmlns:a="http://schemas.openxmlformats.org/drawingml/2006/main">
              <a:ext uri="{FF2B5EF4-FFF2-40B4-BE49-F238E27FC236}">
                <a16:creationId xmlns:a16="http://schemas.microsoft.com/office/drawing/2014/main" id="{D573002F-CD13-423B-A4C0-423132A3E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30670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A2</a:t>
            </a:r>
          </a:p>
        </p:txBody>
      </p:sp>
      <p:sp>
        <p:nvSpPr>
          <p:cNvPr id="16" name="phase-state-A2">
            <a:extLst xmlns:a="http://schemas.openxmlformats.org/drawingml/2006/main">
              <a:ext uri="{FF2B5EF4-FFF2-40B4-BE49-F238E27FC236}">
                <a16:creationId xmlns:a16="http://schemas.microsoft.com/office/drawing/2014/main" id="{5C49A7B4-7290-44E2-B822-EDB86FE88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486150"/>
            <a:ext cx="1762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Representation search</a:t>
            </a:r>
          </a:p>
        </p:txBody>
      </p:sp>
      <p:sp>
        <p:nvSpPr>
          <p:cNvPr id="17" name="phase-A3">
            <a:extLst xmlns:a="http://schemas.openxmlformats.org/drawingml/2006/main">
              <a:ext uri="{FF2B5EF4-FFF2-40B4-BE49-F238E27FC236}">
                <a16:creationId xmlns:a16="http://schemas.microsoft.com/office/drawing/2014/main" id="{503F4F00-12B9-4654-8160-9F67C59A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828925"/>
            <a:ext cx="21907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8" name="phase-tag-A3">
            <a:extLst xmlns:a="http://schemas.openxmlformats.org/drawingml/2006/main">
              <a:ext uri="{FF2B5EF4-FFF2-40B4-BE49-F238E27FC236}">
                <a16:creationId xmlns:a16="http://schemas.microsoft.com/office/drawing/2014/main" id="{DF51DDA9-59A8-463A-AF27-AF56CAE85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19425"/>
            <a:ext cx="6096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A15C00"/>
          </a:solidFill>
          <a:ln xmlns:a="http://schemas.openxmlformats.org/drawingml/2006/main" w="9525">
            <a:solidFill>
              <a:srgbClr val="A15C00"/>
            </a:solidFill>
            <a:prstDash val="solid"/>
          </a:ln>
        </p:spPr>
      </p:sp>
      <p:sp>
        <p:nvSpPr>
          <p:cNvPr id="19" name="phase-label-A3">
            <a:extLst xmlns:a="http://schemas.openxmlformats.org/drawingml/2006/main">
              <a:ext uri="{FF2B5EF4-FFF2-40B4-BE49-F238E27FC236}">
                <a16:creationId xmlns:a16="http://schemas.microsoft.com/office/drawing/2014/main" id="{EEE0137C-759D-4EC1-807F-275736435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30670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A3</a:t>
            </a:r>
          </a:p>
        </p:txBody>
      </p:sp>
      <p:sp>
        <p:nvSpPr>
          <p:cNvPr id="20" name="phase-state-A3">
            <a:extLst xmlns:a="http://schemas.openxmlformats.org/drawingml/2006/main">
              <a:ext uri="{FF2B5EF4-FFF2-40B4-BE49-F238E27FC236}">
                <a16:creationId xmlns:a16="http://schemas.microsoft.com/office/drawing/2014/main" id="{2053DDD0-C3E8-445B-ACD6-23D17FE05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486150"/>
            <a:ext cx="1762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Transfer study</a:t>
            </a:r>
          </a:p>
        </p:txBody>
      </p:sp>
      <p:sp>
        <p:nvSpPr>
          <p:cNvPr id="21" name="a0-status">
            <a:extLst xmlns:a="http://schemas.openxmlformats.org/drawingml/2006/main">
              <a:ext uri="{FF2B5EF4-FFF2-40B4-BE49-F238E27FC236}">
                <a16:creationId xmlns:a16="http://schemas.microsoft.com/office/drawing/2014/main" id="{9712263C-AA9B-4FCE-B6FC-D044C300B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2A6F4E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2A6F4E"/>
                </a:solidFill>
                <a:latin typeface="Aptos"/>
                <a:ea typeface="Aptos"/>
                <a:cs typeface="Aptos"/>
              </a:rPr>
              <a:t>complete</a:t>
            </a:r>
          </a:p>
        </p:txBody>
      </p:sp>
      <p:sp>
        <p:nvSpPr>
          <p:cNvPr id="22" name="a1-status">
            <a:extLst xmlns:a="http://schemas.openxmlformats.org/drawingml/2006/main">
              <a:ext uri="{FF2B5EF4-FFF2-40B4-BE49-F238E27FC236}">
                <a16:creationId xmlns:a16="http://schemas.microsoft.com/office/drawing/2014/main" id="{77B7BC59-78D0-46E1-BE2C-65D304989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095750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2A6F4E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2A6F4E"/>
                </a:solidFill>
                <a:latin typeface="Aptos"/>
                <a:ea typeface="Aptos"/>
                <a:cs typeface="Aptos"/>
              </a:rPr>
              <a:t>complete</a:t>
            </a:r>
          </a:p>
        </p:txBody>
      </p:sp>
      <p:sp>
        <p:nvSpPr>
          <p:cNvPr id="23" name="a2-status">
            <a:extLst xmlns:a="http://schemas.openxmlformats.org/drawingml/2006/main">
              <a:ext uri="{FF2B5EF4-FFF2-40B4-BE49-F238E27FC236}">
                <a16:creationId xmlns:a16="http://schemas.microsoft.com/office/drawing/2014/main" id="{F1861E8B-33A7-44D9-AB8C-67ACDD865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095750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2A6F4E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2A6F4E"/>
                </a:solidFill>
                <a:latin typeface="Aptos"/>
                <a:ea typeface="Aptos"/>
                <a:cs typeface="Aptos"/>
              </a:rPr>
              <a:t>complete</a:t>
            </a:r>
          </a:p>
        </p:txBody>
      </p:sp>
      <p:sp>
        <p:nvSpPr>
          <p:cNvPr id="24" name="a3-status">
            <a:extLst xmlns:a="http://schemas.openxmlformats.org/drawingml/2006/main">
              <a:ext uri="{FF2B5EF4-FFF2-40B4-BE49-F238E27FC236}">
                <a16:creationId xmlns:a16="http://schemas.microsoft.com/office/drawing/2014/main" id="{9A25E700-A454-4078-B8AB-EDE15DA9F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095750"/>
            <a:ext cx="2000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15C00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A15C00"/>
                </a:solidFill>
                <a:latin typeface="Aptos"/>
                <a:ea typeface="Aptos"/>
                <a:cs typeface="Aptos"/>
              </a:rPr>
              <a:t>12 returned / 2 active</a:t>
            </a:r>
          </a:p>
        </p:txBody>
      </p:sp>
      <p:sp>
        <p:nvSpPr>
          <p:cNvPr id="25" name="takeaway">
            <a:extLst xmlns:a="http://schemas.openxmlformats.org/drawingml/2006/main">
              <a:ext uri="{FF2B5EF4-FFF2-40B4-BE49-F238E27FC236}">
                <a16:creationId xmlns:a16="http://schemas.microsoft.com/office/drawing/2014/main" id="{F25F86FE-428D-4AB1-BEEC-6B4273080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809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A4 remains locked until A3 evidence is collected and audited.</a:t>
            </a:r>
          </a:p>
        </p:txBody>
      </p:sp>
      <p:cxnSp>
        <p:nvCxnSpPr>
          <p:cNvPr id="53" name="footer-rule"/>
          <p:cNvCxnSpPr/>
          <p:nvPr/>
        </p:nvCxnSpPr>
        <p:spPr>
          <a:xfrm xmlns:a="http://schemas.openxmlformats.org/drawingml/2006/main">
            <a:off x="685800" y="6248400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BD5E1"/>
            </a:solidFill>
            <a:prstDash val="solid"/>
          </a:ln>
        </p:spPr>
      </p:cxnSp>
      <p:sp>
        <p:nvSpPr>
          <p:cNvPr id="27" name="footer">
            <a:extLst xmlns:a="http://schemas.openxmlformats.org/drawingml/2006/main">
              <a:ext uri="{FF2B5EF4-FFF2-40B4-BE49-F238E27FC236}">
                <a16:creationId xmlns:a16="http://schemas.microsoft.com/office/drawing/2014/main" id="{0808523F-A736-4768-BEC6-79E4DB610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933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52616B"/>
                </a:solidFill>
                <a:latin typeface="Aptos"/>
                <a:ea typeface="Aptos"/>
                <a:cs typeface="Aptos"/>
              </a:rPr>
              <a:t>Phase roles and A3 scope are set before measurement.</a:t>
            </a:r>
          </a:p>
        </p:txBody>
      </p:sp>
    </p:spTree>
    <p:extLst>
      <p:ext uri="{BB962C8B-B14F-4D97-AF65-F5344CB8AC3E}">
        <p14:creationId xmlns:p14="http://schemas.microsoft.com/office/powerpoint/2010/main" val="123135967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eyebrow">
            <a:extLst xmlns:a="http://schemas.openxmlformats.org/drawingml/2006/main">
              <a:ext uri="{FF2B5EF4-FFF2-40B4-BE49-F238E27FC236}">
                <a16:creationId xmlns:a16="http://schemas.microsoft.com/office/drawing/2014/main" id="{5B77BC88-1DBE-40B1-A023-51370CC2D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628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F6CB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6CBD"/>
                </a:solidFill>
                <a:latin typeface="Aptos"/>
                <a:ea typeface="Aptos"/>
                <a:cs typeface="Aptos"/>
              </a:rPr>
              <a:t>ARMINDEX | ADVISOR PROGRESS UPDATE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D536F1A-7A01-41D8-A9EB-169DCED0E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0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A0 separates development from future confirmation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D6CA6780-F0D2-48DB-B515-7F33DAEC1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0050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1050">
                <a:solidFill>
                  <a:srgbClr val="52616B"/>
                </a:solidFill>
                <a:latin typeface="Aptos"/>
                <a:ea typeface="Aptos"/>
                <a:cs typeface="Aptos"/>
              </a:rPr>
              <a:t>3 / 6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DDEEB814-4B15-424B-93DD-214BDF824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1725">
                <a:solidFill>
                  <a:srgbClr val="52616B"/>
                </a:solidFill>
                <a:latin typeface="Aptos"/>
                <a:ea typeface="Aptos"/>
                <a:cs typeface="Aptos"/>
              </a:rPr>
              <a:t>Predefined data roles keep adaptive development away from later confirmation decisions.</a:t>
            </a:r>
          </a:p>
        </p:txBody>
      </p:sp>
      <p:sp>
        <p:nvSpPr>
          <p:cNvPr id="5" name="method-summary">
            <a:extLst xmlns:a="http://schemas.openxmlformats.org/drawingml/2006/main">
              <a:ext uri="{FF2B5EF4-FFF2-40B4-BE49-F238E27FC236}">
                <a16:creationId xmlns:a16="http://schemas.microsoft.com/office/drawing/2014/main" id="{0A8266CC-3FB5-43DF-A27F-A686953AB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3476625" cy="2524125"/>
          </a:xfrm>
          <a:prstGeom xmlns:a="http://schemas.openxmlformats.org/drawingml/2006/main" prst="roundRect">
            <a:avLst>
              <a:gd name="adj" fmla="val 30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why-title">
            <a:extLst xmlns:a="http://schemas.openxmlformats.org/drawingml/2006/main">
              <a:ext uri="{FF2B5EF4-FFF2-40B4-BE49-F238E27FC236}">
                <a16:creationId xmlns:a16="http://schemas.microsoft.com/office/drawing/2014/main" id="{DD72D1D3-CA6B-4C12-A285-7636405BB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717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7" name="why-body">
            <a:extLst xmlns:a="http://schemas.openxmlformats.org/drawingml/2006/main">
              <a:ext uri="{FF2B5EF4-FFF2-40B4-BE49-F238E27FC236}">
                <a16:creationId xmlns:a16="http://schemas.microsoft.com/office/drawing/2014/main" id="{E1B5208D-BD15-47E4-837D-678667FD7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43250"/>
            <a:ext cx="2857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14213D"/>
                </a:solidFill>
                <a:latin typeface="Aptos"/>
                <a:ea typeface="Aptos"/>
                <a:cs typeface="Aptos"/>
              </a:rPr>
              <a:t>- Representation development has a predefined role</a:t>
            </a:r>
          </a:p>
          <a:p xmlns:a="http://schemas.openxmlformats.org/drawingml/2006/main">
            <a:pPr>
              <a:defRPr sz="1575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14213D"/>
                </a:solidFill>
                <a:latin typeface="Aptos"/>
                <a:ea typeface="Aptos"/>
                <a:cs typeface="Aptos"/>
              </a:rPr>
              <a:t>- Harness development is separated</a:t>
            </a:r>
          </a:p>
          <a:p xmlns:a="http://schemas.openxmlformats.org/drawingml/2006/main">
            <a:pPr>
              <a:defRPr sz="1575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14213D"/>
                </a:solidFill>
                <a:latin typeface="Aptos"/>
                <a:ea typeface="Aptos"/>
                <a:cs typeface="Aptos"/>
              </a:rPr>
              <a:t>- Selection and final confirmation remain closed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8d5be4c196411f"/>
          <a:stretch xmlns:a="http://schemas.openxmlformats.org/drawingml/2006/main"/>
        </p:blipFill>
        <p:spPr>
          <a:xfrm xmlns:a="http://schemas.openxmlformats.org/drawingml/2006/main">
            <a:off x="4736856" y="2019300"/>
            <a:ext cx="6242538" cy="3381375"/>
          </a:xfrm>
          <a:prstGeom xmlns:a="http://schemas.openxmlformats.org/drawingml/2006/main" prst="rect">
            <a:avLst/>
          </a:prstGeom>
        </p:spPr>
      </p:pic>
      <p:sp>
        <p:nvSpPr>
          <p:cNvPr id="9" name="figure-caption">
            <a:extLst xmlns:a="http://schemas.openxmlformats.org/drawingml/2006/main">
              <a:ext uri="{FF2B5EF4-FFF2-40B4-BE49-F238E27FC236}">
                <a16:creationId xmlns:a16="http://schemas.microsoft.com/office/drawing/2014/main" id="{ADFA22F1-B9D0-4E36-83E9-EA8DEA4E1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543550"/>
            <a:ext cx="657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52616B"/>
                </a:solidFill>
                <a:latin typeface="Aptos"/>
                <a:ea typeface="Aptos"/>
                <a:cs typeface="Aptos"/>
              </a:rPr>
              <a:t>The figure shows role separation only; it contains no protected membership or relevance labels.</a:t>
            </a:r>
          </a:p>
        </p:txBody>
      </p:sp>
      <p:cxnSp>
        <p:nvCxnSpPr>
          <p:cNvPr id="21" name="footer-rule"/>
          <p:cNvCxnSpPr/>
          <p:nvPr/>
        </p:nvCxnSpPr>
        <p:spPr>
          <a:xfrm xmlns:a="http://schemas.openxmlformats.org/drawingml/2006/main">
            <a:off x="685800" y="6248400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BD5E1"/>
            </a:solidFill>
            <a:prstDash val="solid"/>
          </a:ln>
        </p:spPr>
      </p:cxn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24513A4B-E478-43E1-9A78-4BF3007F6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933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52616B"/>
                </a:solidFill>
                <a:latin typeface="Aptos"/>
                <a:ea typeface="Aptos"/>
                <a:cs typeface="Aptos"/>
              </a:rPr>
              <a:t>A0 is engineering and reproducibility evidence, not a retrieval-performance result.</a:t>
            </a:r>
          </a:p>
        </p:txBody>
      </p:sp>
    </p:spTree>
    <p:extLst>
      <p:ext uri="{BB962C8B-B14F-4D97-AF65-F5344CB8AC3E}">
        <p14:creationId xmlns:p14="http://schemas.microsoft.com/office/powerpoint/2010/main" val="192592608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eyebrow">
            <a:extLst xmlns:a="http://schemas.openxmlformats.org/drawingml/2006/main">
              <a:ext uri="{FF2B5EF4-FFF2-40B4-BE49-F238E27FC236}">
                <a16:creationId xmlns:a16="http://schemas.microsoft.com/office/drawing/2014/main" id="{AC459C4B-5F93-42CE-9889-FA4BE2FC4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628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F6CB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6CBD"/>
                </a:solidFill>
                <a:latin typeface="Aptos"/>
                <a:ea typeface="Aptos"/>
                <a:cs typeface="Aptos"/>
              </a:rPr>
              <a:t>ARMINDEX | ADVISOR PROGRESS UPDATE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4E1EB2C-336C-4574-8AC2-2F39B6E06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0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A1 and A2 establish complete development evidence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807E0306-27F8-49EB-9AFB-D24FDFE17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0050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1050">
                <a:solidFill>
                  <a:srgbClr val="52616B"/>
                </a:solidFill>
                <a:latin typeface="Aptos"/>
                <a:ea typeface="Aptos"/>
                <a:cs typeface="Aptos"/>
              </a:rPr>
              <a:t>4 / 6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E2F2119B-AE32-4BC3-9B89-70052280F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1019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1725">
                <a:solidFill>
                  <a:srgbClr val="52616B"/>
                </a:solidFill>
                <a:latin typeface="Aptos"/>
                <a:ea typeface="Aptos"/>
                <a:cs typeface="Aptos"/>
              </a:rPr>
              <a:t>A1 maps the common comparison; A2 searches a predefined candidate set for each retriever.</a:t>
            </a:r>
          </a:p>
        </p:txBody>
      </p:sp>
      <p:sp>
        <p:nvSpPr>
          <p:cNvPr id="5" name="a1-summary">
            <a:extLst xmlns:a="http://schemas.openxmlformats.org/drawingml/2006/main">
              <a:ext uri="{FF2B5EF4-FFF2-40B4-BE49-F238E27FC236}">
                <a16:creationId xmlns:a16="http://schemas.microsoft.com/office/drawing/2014/main" id="{B2773C31-43F1-4DE6-87D0-AAF6FF1C1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333375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E8F1FA"/>
          </a:solidFill>
          <a:ln xmlns:a="http://schemas.openxmlformats.org/drawingml/2006/main" w="9525">
            <a:solidFill>
              <a:srgbClr val="E8F1FA"/>
            </a:solidFill>
            <a:prstDash val="solid"/>
          </a:ln>
        </p:spPr>
      </p:sp>
      <p:sp>
        <p:nvSpPr>
          <p:cNvPr id="6" name="a1-label">
            <a:extLst xmlns:a="http://schemas.openxmlformats.org/drawingml/2006/main">
              <a:ext uri="{FF2B5EF4-FFF2-40B4-BE49-F238E27FC236}">
                <a16:creationId xmlns:a16="http://schemas.microsoft.com/office/drawing/2014/main" id="{4B475B60-69DD-467B-8E25-EAA4063A0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52700"/>
            <a:ext cx="104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F6CBD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6CBD"/>
                </a:solidFill>
                <a:latin typeface="Aptos"/>
                <a:ea typeface="Aptos"/>
                <a:cs typeface="Aptos"/>
              </a:rPr>
              <a:t>A1</a:t>
            </a:r>
          </a:p>
        </p:txBody>
      </p:sp>
      <p:sp>
        <p:nvSpPr>
          <p:cNvPr id="7" name="a1-value">
            <a:extLst xmlns:a="http://schemas.openxmlformats.org/drawingml/2006/main">
              <a:ext uri="{FF2B5EF4-FFF2-40B4-BE49-F238E27FC236}">
                <a16:creationId xmlns:a16="http://schemas.microsoft.com/office/drawing/2014/main" id="{4195320A-1CD7-494B-89BE-16A916F88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181350"/>
            <a:ext cx="2524125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5 representations</a:t>
            </a:r>
          </a:p>
          <a:p xmlns:a="http://schemas.openxmlformats.org/drawingml/2006/main">
            <a:pPr>
              <a:defRPr sz="19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x 5 frozen retrievers</a:t>
            </a:r>
          </a:p>
          <a:p xmlns:a="http://schemas.openxmlformats.org/drawingml/2006/main">
            <a:pPr>
              <a:defRPr sz="19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= 25 completed cells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de161d128246c6"/>
          <a:stretch xmlns:a="http://schemas.openxmlformats.org/drawingml/2006/main"/>
        </p:blipFill>
        <p:spPr>
          <a:xfrm xmlns:a="http://schemas.openxmlformats.org/drawingml/2006/main">
            <a:off x="4770827" y="1962150"/>
            <a:ext cx="5888845" cy="3714750"/>
          </a:xfrm>
          <a:prstGeom xmlns:a="http://schemas.openxmlformats.org/drawingml/2006/main" prst="rect">
            <a:avLst/>
          </a:prstGeom>
        </p:spPr>
      </p:pic>
      <p:sp>
        <p:nvSpPr>
          <p:cNvPr id="9" name="a2-accounting-label">
            <a:extLst xmlns:a="http://schemas.openxmlformats.org/drawingml/2006/main">
              <a:ext uri="{FF2B5EF4-FFF2-40B4-BE49-F238E27FC236}">
                <a16:creationId xmlns:a16="http://schemas.microsoft.com/office/drawing/2014/main" id="{5A0F7AA2-81F5-4208-A499-18E6372BC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2333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F6CBD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F6CBD"/>
                </a:solidFill>
                <a:latin typeface="Aptos"/>
                <a:ea typeface="Aptos"/>
                <a:cs typeface="Aptos"/>
              </a:rPr>
              <a:t>A2 accounting</a:t>
            </a:r>
          </a:p>
        </p:txBody>
      </p:sp>
      <p:sp>
        <p:nvSpPr>
          <p:cNvPr id="10" name="a2-accounting">
            <a:extLst xmlns:a="http://schemas.openxmlformats.org/drawingml/2006/main">
              <a:ext uri="{FF2B5EF4-FFF2-40B4-BE49-F238E27FC236}">
                <a16:creationId xmlns:a16="http://schemas.microsoft.com/office/drawing/2014/main" id="{AFC21FC8-F3B2-4D8E-A07B-62BAE89DC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816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52 = 44 measured + 8 dormant</a:t>
            </a:r>
          </a:p>
        </p:txBody>
      </p:sp>
      <p:sp>
        <p:nvSpPr>
          <p:cNvPr id="11" name="a2-caption">
            <a:extLst xmlns:a="http://schemas.openxmlformats.org/drawingml/2006/main">
              <a:ext uri="{FF2B5EF4-FFF2-40B4-BE49-F238E27FC236}">
                <a16:creationId xmlns:a16="http://schemas.microsoft.com/office/drawing/2014/main" id="{C88366DE-2AEF-4E99-A0AB-683C384F0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791200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2616B"/>
                </a:solidFill>
                <a:latin typeface="Aptos"/>
                <a:ea typeface="Aptos"/>
                <a:cs typeface="Aptos"/>
              </a:rPr>
              <a:t>Dormant means not admitted for evaluation; it is not failure or zero performance.</a:t>
            </a:r>
          </a:p>
        </p:txBody>
      </p:sp>
      <p:cxnSp>
        <p:nvCxnSpPr>
          <p:cNvPr id="25" name="footer-rule"/>
          <p:cNvCxnSpPr/>
          <p:nvPr/>
        </p:nvCxnSpPr>
        <p:spPr>
          <a:xfrm xmlns:a="http://schemas.openxmlformats.org/drawingml/2006/main">
            <a:off x="685800" y="6248400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BD5E1"/>
            </a:solidFill>
            <a:prstDash val="solid"/>
          </a:ln>
        </p:spPr>
      </p:cxnSp>
      <p:sp>
        <p:nvSpPr>
          <p:cNvPr id="13" name="footer">
            <a:extLst xmlns:a="http://schemas.openxmlformats.org/drawingml/2006/main">
              <a:ext uri="{FF2B5EF4-FFF2-40B4-BE49-F238E27FC236}">
                <a16:creationId xmlns:a16="http://schemas.microsoft.com/office/drawing/2014/main" id="{31C4E179-48E0-4932-9EAF-C94C30731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933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52616B"/>
                </a:solidFill>
                <a:latin typeface="Aptos"/>
                <a:ea typeface="Aptos"/>
                <a:cs typeface="Aptos"/>
              </a:rPr>
              <a:t>A1 and A2 are summary development evidence; they are not Selection or Final confirmation.</a:t>
            </a:r>
          </a:p>
        </p:txBody>
      </p:sp>
    </p:spTree>
    <p:extLst>
      <p:ext uri="{BB962C8B-B14F-4D97-AF65-F5344CB8AC3E}">
        <p14:creationId xmlns:p14="http://schemas.microsoft.com/office/powerpoint/2010/main" val="50252679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eyebrow">
            <a:extLst xmlns:a="http://schemas.openxmlformats.org/drawingml/2006/main">
              <a:ext uri="{FF2B5EF4-FFF2-40B4-BE49-F238E27FC236}">
                <a16:creationId xmlns:a16="http://schemas.microsoft.com/office/drawing/2014/main" id="{61A7BFB5-611B-4CAF-A854-FA69D224C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628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F6CB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6CBD"/>
                </a:solidFill>
                <a:latin typeface="Aptos"/>
                <a:ea typeface="Aptos"/>
                <a:cs typeface="Aptos"/>
              </a:rPr>
              <a:t>ARMINDEX | ADVISOR PROGRESS UPDATE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13DA72C3-5DDD-475A-B496-11809F504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0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A2 advances three retrievers to A3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BA1EA2C4-D3F3-4E9E-BCF6-EAF00B481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0050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1050">
                <a:solidFill>
                  <a:srgbClr val="52616B"/>
                </a:solidFill>
                <a:latin typeface="Aptos"/>
                <a:ea typeface="Aptos"/>
                <a:cs typeface="Aptos"/>
              </a:rPr>
              <a:t>5 / 6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D235DFB0-7CBF-4CCC-8968-6F95423DD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1019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1725">
                <a:solidFill>
                  <a:srgbClr val="52616B"/>
                </a:solidFill>
                <a:latin typeface="Aptos"/>
                <a:ea typeface="Aptos"/>
                <a:cs typeface="Aptos"/>
              </a:rPr>
              <a:t>The advancement rule retains interpretable ties and no-gain outcomes instead of selecting only positive results.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f7e00002da4542"/>
          <a:stretch xmlns:a="http://schemas.openxmlformats.org/drawingml/2006/main"/>
        </p:blipFill>
        <p:spPr>
          <a:xfrm xmlns:a="http://schemas.openxmlformats.org/drawingml/2006/main">
            <a:off x="1243801" y="2047875"/>
            <a:ext cx="5741998" cy="3619500"/>
          </a:xfrm>
          <a:prstGeom xmlns:a="http://schemas.openxmlformats.org/drawingml/2006/main" prst="rect">
            <a:avLst/>
          </a:prstGeom>
        </p:spPr>
      </p:pic>
      <p:sp>
        <p:nvSpPr>
          <p:cNvPr id="6" name="primary-arms">
            <a:extLst xmlns:a="http://schemas.openxmlformats.org/drawingml/2006/main">
              <a:ext uri="{FF2B5EF4-FFF2-40B4-BE49-F238E27FC236}">
                <a16:creationId xmlns:a16="http://schemas.microsoft.com/office/drawing/2014/main" id="{1E5DC4EE-0E26-46A0-A40E-03CFFFDE0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162175"/>
            <a:ext cx="3238500" cy="1952625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E7F5F4"/>
          </a:solidFill>
          <a:ln xmlns:a="http://schemas.openxmlformats.org/drawingml/2006/main" w="9525">
            <a:solidFill>
              <a:srgbClr val="E7F5F4"/>
            </a:solidFill>
            <a:prstDash val="solid"/>
          </a:ln>
        </p:spPr>
      </p:sp>
      <p:sp>
        <p:nvSpPr>
          <p:cNvPr id="7" name="primary-title">
            <a:extLst xmlns:a="http://schemas.openxmlformats.org/drawingml/2006/main">
              <a:ext uri="{FF2B5EF4-FFF2-40B4-BE49-F238E27FC236}">
                <a16:creationId xmlns:a16="http://schemas.microsoft.com/office/drawing/2014/main" id="{3C13D3FC-4FEC-47FF-8809-EFCD9CC74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4003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A6F4E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2A6F4E"/>
                </a:solidFill>
                <a:latin typeface="Aptos"/>
                <a:ea typeface="Aptos"/>
                <a:cs typeface="Aptos"/>
              </a:rPr>
              <a:t>Primary A3 inputs</a:t>
            </a:r>
          </a:p>
        </p:txBody>
      </p:sp>
      <p:sp>
        <p:nvSpPr>
          <p:cNvPr id="8" name="primary-list">
            <a:extLst xmlns:a="http://schemas.openxmlformats.org/drawingml/2006/main">
              <a:ext uri="{FF2B5EF4-FFF2-40B4-BE49-F238E27FC236}">
                <a16:creationId xmlns:a16="http://schemas.microsoft.com/office/drawing/2014/main" id="{DA301B08-7F90-4EC3-B21B-FABD6D3F6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895600"/>
            <a:ext cx="2476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ARM-03  PatEmbed</a:t>
            </a:r>
          </a:p>
          <a:p xmlns:a="http://schemas.openxmlformats.org/drawingml/2006/main">
            <a:pPr>
              <a:defRPr sz="15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ARM-04  Arctic Embed</a:t>
            </a:r>
          </a:p>
          <a:p xmlns:a="http://schemas.openxmlformats.org/drawingml/2006/main">
            <a:pPr>
              <a:defRPr sz="15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ARM-05  Qwen3 Embedding</a:t>
            </a:r>
          </a:p>
        </p:txBody>
      </p:sp>
      <p:sp>
        <p:nvSpPr>
          <p:cNvPr id="9" name="diagnostic-arms">
            <a:extLst xmlns:a="http://schemas.openxmlformats.org/drawingml/2006/main">
              <a:ext uri="{FF2B5EF4-FFF2-40B4-BE49-F238E27FC236}">
                <a16:creationId xmlns:a16="http://schemas.microsoft.com/office/drawing/2014/main" id="{AE3865F5-8B48-4EE9-87DE-5B95AE62F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333875"/>
            <a:ext cx="3238500" cy="1095375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FFF4E5"/>
          </a:solidFill>
          <a:ln xmlns:a="http://schemas.openxmlformats.org/drawingml/2006/main" w="9525">
            <a:solidFill>
              <a:srgbClr val="FFF4E5"/>
            </a:solidFill>
            <a:prstDash val="solid"/>
          </a:ln>
        </p:spPr>
      </p:sp>
      <p:sp>
        <p:nvSpPr>
          <p:cNvPr id="10" name="diagnostic-note">
            <a:extLst xmlns:a="http://schemas.openxmlformats.org/drawingml/2006/main">
              <a:ext uri="{FF2B5EF4-FFF2-40B4-BE49-F238E27FC236}">
                <a16:creationId xmlns:a16="http://schemas.microsoft.com/office/drawing/2014/main" id="{ADCF7A38-D0BE-4FCA-B04D-9F354F671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581525"/>
            <a:ext cx="2571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A15C0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A15C00"/>
                </a:solidFill>
                <a:latin typeface="Aptos"/>
                <a:ea typeface="Aptos"/>
                <a:cs typeface="Aptos"/>
              </a:rPr>
              <a:t>ARM-01 and ARM-02 are retained for interpretation but do not advance.</a:t>
            </a:r>
          </a:p>
        </p:txBody>
      </p:sp>
      <p:cxnSp>
        <p:nvCxnSpPr>
          <p:cNvPr id="23" name="footer-rule"/>
          <p:cNvCxnSpPr/>
          <p:nvPr/>
        </p:nvCxnSpPr>
        <p:spPr>
          <a:xfrm xmlns:a="http://schemas.openxmlformats.org/drawingml/2006/main">
            <a:off x="685800" y="6248400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BD5E1"/>
            </a:solidFill>
            <a:prstDash val="solid"/>
          </a:ln>
        </p:spPr>
      </p:cxn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7DBA5D60-CE99-4713-8D9A-0F575FF68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933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52616B"/>
                </a:solidFill>
                <a:latin typeface="Aptos"/>
                <a:ea typeface="Aptos"/>
                <a:cs typeface="Aptos"/>
              </a:rPr>
              <a:t>Only ARM-03, ARM-04, and ARM-05 enter A3 transfer and complementarity measurement.</a:t>
            </a:r>
          </a:p>
        </p:txBody>
      </p:sp>
    </p:spTree>
    <p:extLst>
      <p:ext uri="{BB962C8B-B14F-4D97-AF65-F5344CB8AC3E}">
        <p14:creationId xmlns:p14="http://schemas.microsoft.com/office/powerpoint/2010/main" val="1030524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eyebrow">
            <a:extLst xmlns:a="http://schemas.openxmlformats.org/drawingml/2006/main">
              <a:ext uri="{FF2B5EF4-FFF2-40B4-BE49-F238E27FC236}">
                <a16:creationId xmlns:a16="http://schemas.microsoft.com/office/drawing/2014/main" id="{7FDC5672-A973-4EE9-9978-A5F65295A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628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F6CB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6CBD"/>
                </a:solidFill>
                <a:latin typeface="Aptos"/>
                <a:ea typeface="Aptos"/>
                <a:cs typeface="Aptos"/>
              </a:rPr>
              <a:t>ARMINDEX | ADVISOR PROGRESS UPDATE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F49F084-37EE-4FC9-AED9-14DBDFCA8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0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A3 is running; conclusions await a result audit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73421E6-14AC-4FD8-97FF-21B9F3812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0050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1050">
                <a:solidFill>
                  <a:srgbClr val="52616B"/>
                </a:solidFill>
                <a:latin typeface="Aptos"/>
                <a:ea typeface="Aptos"/>
                <a:cs typeface="Aptos"/>
              </a:rPr>
              <a:t>6 / 6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C3202E89-021F-45FC-9F4C-2AF52C257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1000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1725">
                <a:solidFill>
                  <a:srgbClr val="52616B"/>
                </a:solidFill>
                <a:latin typeface="Aptos"/>
                <a:ea typeface="Aptos"/>
                <a:cs typeface="Aptos"/>
              </a:rPr>
              <a:t>The current work tests transfer and fixed combination controls before any production decision.</a:t>
            </a:r>
          </a:p>
        </p:txBody>
      </p:sp>
      <p:sp>
        <p:nvSpPr>
          <p:cNvPr id="5" name="launch-status">
            <a:extLst xmlns:a="http://schemas.openxmlformats.org/drawingml/2006/main">
              <a:ext uri="{FF2B5EF4-FFF2-40B4-BE49-F238E27FC236}">
                <a16:creationId xmlns:a16="http://schemas.microsoft.com/office/drawing/2014/main" id="{72F9D27B-227F-4961-A8D3-679106BA0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25717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4E5"/>
          </a:solidFill>
          <a:ln xmlns:a="http://schemas.openxmlformats.org/drawingml/2006/main" w="9525">
            <a:solidFill>
              <a:srgbClr val="FFF4E5"/>
            </a:solidFill>
            <a:prstDash val="solid"/>
          </a:ln>
        </p:spPr>
      </p:sp>
      <p:sp>
        <p:nvSpPr>
          <p:cNvPr id="6" name="operation-count">
            <a:extLst xmlns:a="http://schemas.openxmlformats.org/drawingml/2006/main">
              <a:ext uri="{FF2B5EF4-FFF2-40B4-BE49-F238E27FC236}">
                <a16:creationId xmlns:a16="http://schemas.microsoft.com/office/drawing/2014/main" id="{B78391D5-1EA6-4328-B08C-EC6B113E7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19375"/>
            <a:ext cx="1857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3525" b="1">
                <a:solidFill>
                  <a:srgbClr val="A15C00"/>
                </a:solidFill>
                <a:latin typeface="Aptos"/>
                <a:ea typeface="Aptos"/>
                <a:cs typeface="Aptos"/>
              </a:defRPr>
            </a:pPr>
            <a:r>
              <a:rPr sz="3525" b="1">
                <a:solidFill>
                  <a:srgbClr val="A15C00"/>
                </a:solidFill>
                <a:latin typeface="Aptos"/>
                <a:ea typeface="Aptos"/>
                <a:cs typeface="Aptos"/>
              </a:rPr>
              <a:t>14 / 14</a:t>
            </a:r>
          </a:p>
        </p:txBody>
      </p:sp>
      <p:sp>
        <p:nvSpPr>
          <p:cNvPr id="7" name="operation-label">
            <a:extLst xmlns:a="http://schemas.openxmlformats.org/drawingml/2006/main">
              <a:ext uri="{FF2B5EF4-FFF2-40B4-BE49-F238E27FC236}">
                <a16:creationId xmlns:a16="http://schemas.microsoft.com/office/drawing/2014/main" id="{36EE13DD-A06D-41CF-A5DB-445AC91D8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333750"/>
            <a:ext cx="1809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operations launched</a:t>
            </a:r>
          </a:p>
          <a:p xmlns:a="http://schemas.openxmlformats.org/drawingml/2006/main">
            <a:pPr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12 returned | 2 active</a:t>
            </a:r>
          </a:p>
        </p:txBody>
      </p:sp>
      <p:sp>
        <p:nvSpPr>
          <p:cNvPr id="8" name="measurement-scope">
            <a:extLst xmlns:a="http://schemas.openxmlformats.org/drawingml/2006/main">
              <a:ext uri="{FF2B5EF4-FFF2-40B4-BE49-F238E27FC236}">
                <a16:creationId xmlns:a16="http://schemas.microsoft.com/office/drawing/2014/main" id="{5CF3E471-49BF-47B2-8C57-1E137CC6B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238375"/>
            <a:ext cx="34290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scope-title">
            <a:extLst xmlns:a="http://schemas.openxmlformats.org/drawingml/2006/main">
              <a:ext uri="{FF2B5EF4-FFF2-40B4-BE49-F238E27FC236}">
                <a16:creationId xmlns:a16="http://schemas.microsoft.com/office/drawing/2014/main" id="{9BDDED50-EB50-47CC-AEED-D118404A7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54317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What is being measured</a:t>
            </a:r>
          </a:p>
        </p:txBody>
      </p:sp>
      <p:sp>
        <p:nvSpPr>
          <p:cNvPr id="10" name="scope-body">
            <a:extLst xmlns:a="http://schemas.openxmlformats.org/drawingml/2006/main">
              <a:ext uri="{FF2B5EF4-FFF2-40B4-BE49-F238E27FC236}">
                <a16:creationId xmlns:a16="http://schemas.microsoft.com/office/drawing/2014/main" id="{09E0AB47-C56B-45D0-9842-0197B1821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086100"/>
            <a:ext cx="285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4213D"/>
                </a:solidFill>
                <a:latin typeface="Aptos"/>
                <a:ea typeface="Aptos"/>
                <a:cs typeface="Aptos"/>
              </a:rPr>
              <a:t>- 9 transfer operations</a:t>
            </a:r>
          </a:p>
          <a:p xmlns:a="http://schemas.openxmlformats.org/drawingml/2006/main">
            <a:pPr>
              <a:defRPr sz="150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4213D"/>
                </a:solidFill>
                <a:latin typeface="Aptos"/>
                <a:ea typeface="Aptos"/>
                <a:cs typeface="Aptos"/>
              </a:rPr>
              <a:t>- 5 fixed combination controls</a:t>
            </a:r>
          </a:p>
          <a:p xmlns:a="http://schemas.openxmlformats.org/drawingml/2006/main">
            <a:pPr>
              <a:defRPr sz="150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4213D"/>
                </a:solidFill>
                <a:latin typeface="Aptos"/>
                <a:ea typeface="Aptos"/>
                <a:cs typeface="Aptos"/>
              </a:rPr>
              <a:t>- ARM-03, ARM-04, ARM-05 only</a:t>
            </a:r>
          </a:p>
        </p:txBody>
      </p:sp>
      <p:sp>
        <p:nvSpPr>
          <p:cNvPr id="11" name="decision-boundary">
            <a:extLst xmlns:a="http://schemas.openxmlformats.org/drawingml/2006/main">
              <a:ext uri="{FF2B5EF4-FFF2-40B4-BE49-F238E27FC236}">
                <a16:creationId xmlns:a16="http://schemas.microsoft.com/office/drawing/2014/main" id="{DDD06F3F-D6B8-4200-A227-004B84D19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238375"/>
            <a:ext cx="38100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8F1FA"/>
          </a:solidFill>
          <a:ln xmlns:a="http://schemas.openxmlformats.org/drawingml/2006/main" w="9525">
            <a:solidFill>
              <a:srgbClr val="E8F1FA"/>
            </a:solidFill>
            <a:prstDash val="solid"/>
          </a:ln>
        </p:spPr>
      </p:sp>
      <p:sp>
        <p:nvSpPr>
          <p:cNvPr id="12" name="boundary-title">
            <a:extLst xmlns:a="http://schemas.openxmlformats.org/drawingml/2006/main">
              <a:ext uri="{FF2B5EF4-FFF2-40B4-BE49-F238E27FC236}">
                <a16:creationId xmlns:a16="http://schemas.microsoft.com/office/drawing/2014/main" id="{076A602C-40C3-48A9-AE4A-B422F3DED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5431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F6CBD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F6CBD"/>
                </a:solidFill>
                <a:latin typeface="Aptos"/>
                <a:ea typeface="Aptos"/>
                <a:cs typeface="Aptos"/>
              </a:rPr>
              <a:t>What cannot be concluded yet</a:t>
            </a:r>
          </a:p>
        </p:txBody>
      </p:sp>
      <p:sp>
        <p:nvSpPr>
          <p:cNvPr id="13" name="boundary-body">
            <a:extLst xmlns:a="http://schemas.openxmlformats.org/drawingml/2006/main">
              <a:ext uri="{FF2B5EF4-FFF2-40B4-BE49-F238E27FC236}">
                <a16:creationId xmlns:a16="http://schemas.microsoft.com/office/drawing/2014/main" id="{C99CFB79-C5C8-4854-AD94-E363627DB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086100"/>
            <a:ext cx="30003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No transfer result</a:t>
            </a:r>
          </a:p>
          <a:p xmlns:a="http://schemas.openxmlformats.org/drawingml/2006/main">
            <a:pPr>
              <a:defRPr sz="15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No complementary-set decision</a:t>
            </a:r>
          </a:p>
          <a:p xmlns:a="http://schemas.openxmlformats.org/drawingml/2006/main">
            <a:pPr>
              <a:defRPr sz="15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No A4 production decision</a:t>
            </a:r>
          </a:p>
        </p:txBody>
      </p:sp>
      <p:sp>
        <p:nvSpPr>
          <p:cNvPr id="14" name="next-step">
            <a:extLst xmlns:a="http://schemas.openxmlformats.org/drawingml/2006/main">
              <a:ext uri="{FF2B5EF4-FFF2-40B4-BE49-F238E27FC236}">
                <a16:creationId xmlns:a16="http://schemas.microsoft.com/office/drawing/2014/main" id="{0833689E-E0A3-484B-8BBA-E812509C0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00625"/>
            <a:ext cx="9763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Next valid update: collected packages, protected local evaluation, completeness check, and independent result audit.</a:t>
            </a:r>
          </a:p>
        </p:txBody>
      </p:sp>
      <p:cxnSp>
        <p:nvCxnSpPr>
          <p:cNvPr id="31" name="footer-rule"/>
          <p:cNvCxnSpPr/>
          <p:nvPr/>
        </p:nvCxnSpPr>
        <p:spPr>
          <a:xfrm xmlns:a="http://schemas.openxmlformats.org/drawingml/2006/main">
            <a:off x="685800" y="6248400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BD5E1"/>
            </a:solidFill>
            <a:prstDash val="solid"/>
          </a:ln>
        </p:spPr>
      </p:cxnSp>
      <p:sp>
        <p:nvSpPr>
          <p:cNvPr id="16" name="footer">
            <a:extLst xmlns:a="http://schemas.openxmlformats.org/drawingml/2006/main">
              <a:ext uri="{FF2B5EF4-FFF2-40B4-BE49-F238E27FC236}">
                <a16:creationId xmlns:a16="http://schemas.microsoft.com/office/drawing/2014/main" id="{BDE799F1-09E4-475B-8C4B-C56398336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933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52616B"/>
                </a:solidFill>
                <a:latin typeface="Aptos"/>
                <a:ea typeface="Aptos"/>
                <a:cs typeface="Aptos"/>
              </a:rPr>
              <a:t>A4 remains locked pending valid A3 summary evidence and audit.</a:t>
            </a:r>
          </a:p>
        </p:txBody>
      </p:sp>
    </p:spTree>
    <p:extLst>
      <p:ext uri="{BB962C8B-B14F-4D97-AF65-F5344CB8AC3E}">
        <p14:creationId xmlns:p14="http://schemas.microsoft.com/office/powerpoint/2010/main" val="186497225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2026-08-18T18:35:17.2910000Z</dcterms:created>
  <dcterms:modified xsi:type="dcterms:W3CDTF">2026-08-18T18:35:17.2910000Z</dcterms:modified>
</coreProperties>
</file>