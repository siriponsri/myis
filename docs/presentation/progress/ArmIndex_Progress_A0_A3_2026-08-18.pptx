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e548fcffdf4ec1" /><Relationship Type="http://schemas.openxmlformats.org/officeDocument/2006/relationships/extended-properties" Target="/docProps/app.xml" Id="R0140e1337ad1424b" /><Relationship Type="http://schemas.openxmlformats.org/officeDocument/2006/relationships/officeDocument" Target="/ppt/presentation.xml" Id="R3138f1306c46469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f7cf22802094acc"/>
  </p:sldMasterIdLst>
  <p:notesMasterIdLst>
    <p:notesMasterId xmlns:r="http://schemas.openxmlformats.org/officeDocument/2006/relationships" r:id="R996a00c688244dae"/>
  </p:notesMasterIdLst>
  <p:sldIdLst>
    <p:sldId xmlns:r="http://schemas.openxmlformats.org/officeDocument/2006/relationships" id="256" r:id="R945623701c824635"/>
    <p:sldId xmlns:r="http://schemas.openxmlformats.org/officeDocument/2006/relationships" id="257" r:id="R50d83de9c5c64ea1"/>
    <p:sldId xmlns:r="http://schemas.openxmlformats.org/officeDocument/2006/relationships" id="258" r:id="Re300f17b666a4e70"/>
    <p:sldId xmlns:r="http://schemas.openxmlformats.org/officeDocument/2006/relationships" id="259" r:id="R4f2f69f111234727"/>
    <p:sldId xmlns:r="http://schemas.openxmlformats.org/officeDocument/2006/relationships" id="260" r:id="R63980ffa05b24d3e"/>
    <p:sldId xmlns:r="http://schemas.openxmlformats.org/officeDocument/2006/relationships" id="261" r:id="R2489907d8fca4bc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4ac7d7828a44a19" /><Relationship Type="http://schemas.openxmlformats.org/officeDocument/2006/relationships/slideMaster" Target="/ppt/slideMasters/slideMaster1.xml" Id="Rdf7cf22802094acc" /><Relationship Type="http://schemas.openxmlformats.org/officeDocument/2006/relationships/notesMaster" Target="/ppt/notesMasters/notesMaster1.xml" Id="R996a00c688244dae" /><Relationship Type="http://schemas.openxmlformats.org/officeDocument/2006/relationships/presProps" Target="/ppt/presProps.xml" Id="Rbe6c2cf677b1406d" /><Relationship Type="http://schemas.openxmlformats.org/officeDocument/2006/relationships/tableStyles" Target="/ppt/tableStyles.xml" Id="R7514edcbdcbc410b" /><Relationship Type="http://schemas.openxmlformats.org/officeDocument/2006/relationships/slide" Target="/ppt/slides/slide1.xml" Id="R945623701c824635" /><Relationship Type="http://schemas.openxmlformats.org/officeDocument/2006/relationships/slide" Target="/ppt/slides/slide2.xml" Id="R50d83de9c5c64ea1" /><Relationship Type="http://schemas.openxmlformats.org/officeDocument/2006/relationships/slide" Target="/ppt/slides/slide3.xml" Id="Re300f17b666a4e70" /><Relationship Type="http://schemas.openxmlformats.org/officeDocument/2006/relationships/slide" Target="/ppt/slides/slide4.xml" Id="R4f2f69f111234727" /><Relationship Type="http://schemas.openxmlformats.org/officeDocument/2006/relationships/slide" Target="/ppt/slides/slide5.xml" Id="R63980ffa05b24d3e" /><Relationship Type="http://schemas.openxmlformats.org/officeDocument/2006/relationships/slide" Target="/ppt/slides/slide6.xml" Id="R2489907d8fca4bc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fd7d89ffe8c4ff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3931716ebdd4993" /><Relationship Type="http://schemas.openxmlformats.org/officeDocument/2006/relationships/notesMaster" Target="/ppt/notesMasters/notesMaster1.xml" Id="R4a7a7ece49e3409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3a93d668efc4491" /><Relationship Type="http://schemas.openxmlformats.org/officeDocument/2006/relationships/notesMaster" Target="/ppt/notesMasters/notesMaster1.xml" Id="R3eb6290a4f8b432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986a36d021a426f" /><Relationship Type="http://schemas.openxmlformats.org/officeDocument/2006/relationships/notesMaster" Target="/ppt/notesMasters/notesMaster1.xml" Id="R66773a35c15145a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6e05857bb4143d0" /><Relationship Type="http://schemas.openxmlformats.org/officeDocument/2006/relationships/notesMaster" Target="/ppt/notesMasters/notesMaster1.xml" Id="Rac73a537ed8942e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f5fa0a4a7574f09" /><Relationship Type="http://schemas.openxmlformats.org/officeDocument/2006/relationships/notesMaster" Target="/ppt/notesMasters/notesMaster1.xml" Id="Rbf12ee8378624e7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04c6ee11e724efc" /><Relationship Type="http://schemas.openxmlformats.org/officeDocument/2006/relationships/notesMaster" Target="/ppt/notesMasters/notesMaster1.xml" Id="Ra7cff762752d4e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central question is whether the best deterministic representation of a patent family depends on the retriever.</a:t>
            </a:r>
          </a:p>
          <a:p xmlns:a="http://schemas.openxmlformats.org/drawingml/2006/main">
            <a:r>
              <a:t>This update reports completed evidence through A2 and the current operational state of A3. It does not present A3 results.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docs/research/ARMINDEX_RESEARCH_PLAN_V02.md</a:t>
            </a:r>
          </a:p>
          <a:p xmlns:a="http://schemas.openxmlformats.org/drawingml/2006/main">
            <a:r>
              <a:t>docs/goal/A3_TRANSFER_COMPLEMENTARITY_AND_HARNESSOPT_goal_003.md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A0 establishes reproducibility and protected-data controls. A1 tests the common representation surface. A2 conducts constrained per-retriever search.</a:t>
            </a:r>
          </a:p>
          <a:p xmlns:a="http://schemas.openxmlformats.org/drawingml/2006/main">
            <a:r>
              <a:t>A3 now tests whether selected representations transfer and whether combining retrievers adds useful coverage under operational constraints.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docs/progress_report/update_A0_A1_A2_18AUG2026.md</a:t>
            </a:r>
          </a:p>
          <a:p xmlns:a="http://schemas.openxmlformats.org/drawingml/2006/main">
            <a:r>
              <a:t>docs/goal/A3_TRANSFER_COMPLEMENTARITY_AND_HARNESSOPT_goal_003.md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study keeps representation development and later harness development separate. Selection and final confirmation have not been opened.</a:t>
            </a:r>
          </a:p>
          <a:p xmlns:a="http://schemas.openxmlformats.org/drawingml/2006/main">
            <a:r>
              <a:t>The figure shows role separation only; it exposes no protected membership or relevance labels.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docs/progress_report/update_A0_A1_A2_18AUG2026.md</a:t>
            </a:r>
          </a:p>
          <a:p xmlns:a="http://schemas.openxmlformats.org/drawingml/2006/main">
            <a:r>
              <a:t>docs/progress_report/figures/a1-development-role-split.png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A1 measured five fixed representations across five frozen retrieval arms. A2 then searched its frozen candidate universe independently per arm.</a:t>
            </a:r>
          </a:p>
          <a:p xmlns:a="http://schemas.openxmlformats.org/drawingml/2006/main">
            <a:r>
              <a:t>All 52 authorized candidate slots are accounted for: 44 were measured and eight conditional reserves were dormant. A dormant reserve is not a missing or null result.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docs/progress_report/update_A0_A1_A2_18AUG2026.md</a:t>
            </a:r>
          </a:p>
          <a:p xmlns:a="http://schemas.openxmlformats.org/drawingml/2006/main">
            <a:r>
              <a:t>docs/progress_report/figures/a2-coverage-recovery.png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ARM-03, ARM-04, and ARM-05 are the only A3 inputs. ARM-01 and ARM-02 had three-way top ties without a unique winner and remain useful diagnostic evidence.</a:t>
            </a:r>
          </a:p>
          <a:p xmlns:a="http://schemas.openxmlformats.org/drawingml/2006/main">
            <a:r>
              <a:t>ARM-04 is the strict A2 improvement; ARM-03 is a numerical tie at reported precision; ARM-05 is retained without a strict A2 improvement to avoid selecting only positive outcomes.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docs/goal/A3_TRANSFER_COMPLEMENTARITY_AND_HARNESSOPT_goal_003.md</a:t>
            </a:r>
          </a:p>
          <a:p xmlns:a="http://schemas.openxmlformats.org/drawingml/2006/main">
            <a:r>
              <a:t>docs/progress_report/A2_per_arm_autoindex_outcomes_eda_20260818.csv</a:t>
            </a:r>
          </a:p>
          <a:p xmlns:a="http://schemas.openxmlformats.org/drawingml/2006/main">
            <a:r>
              <a:t>docs/progress_report/figures/a2-per-arm-outcomes.png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Stage 028 has launched all nine transfer operations and five fixed-control operations.</a:t>
            </a:r>
          </a:p>
          <a:p xmlns:a="http://schemas.openxmlformats.org/drawingml/2006/main">
            <a:r>
              <a:t>Launch is an operational fact, not a performance result. The next valid conclusion requires completed evidence collection, owner-local evaluation, coverage checks, and a result-integrity audit.</a:t>
            </a:r>
          </a:p>
          <a:p xmlns:a="http://schemas.openxmlformats.org/drawingml/2006/main">
            <a:r>
              <a:t>A4 has no current authorization to proceed.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docs/goal/A3_TRANSFER_COMPLEMENTARITY_AND_HARNESSOPT_goal_003.md</a:t>
            </a:r>
          </a:p>
          <a:p xmlns:a="http://schemas.openxmlformats.org/drawingml/2006/main">
            <a:r>
              <a:t>../04_Owner_Stores/armindex/a3/a3-goal003-20260818-028-launch-receipts/ (aggregate receipt count only)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866b98052744f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00ae03826744bf" /><Relationship Type="http://schemas.openxmlformats.org/officeDocument/2006/relationships/slideLayout" Target="/ppt/slideLayouts/slideLayout1.xml" Id="R38272e9336e64a9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8272e9336e64a9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dee1ffaf3f44cc" /><Relationship Type="http://schemas.openxmlformats.org/officeDocument/2006/relationships/notesSlide" Target="/ppt/notesSlides/notesSlide1.xml" Id="R88bfbb582932407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02e323b7a240e9" /><Relationship Type="http://schemas.openxmlformats.org/officeDocument/2006/relationships/notesSlide" Target="/ppt/notesSlides/notesSlide2.xml" Id="R0413655100bd405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4b7cc93ae94a50" /><Relationship Type="http://schemas.openxmlformats.org/officeDocument/2006/relationships/image" Target="/ppt/media/image.png" Id="R11a05c1948cf4f78" /><Relationship Type="http://schemas.openxmlformats.org/officeDocument/2006/relationships/notesSlide" Target="/ppt/notesSlides/notesSlide3.xml" Id="R1e0e4a211e9347c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d47f7ed7c54d50" /><Relationship Type="http://schemas.openxmlformats.org/officeDocument/2006/relationships/image" Target="/ppt/media/image2.png" Id="R4dbbd7a5f43048db" /><Relationship Type="http://schemas.openxmlformats.org/officeDocument/2006/relationships/notesSlide" Target="/ppt/notesSlides/notesSlide4.xml" Id="R87540a57107a49a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1baf0b2aad4fb8" /><Relationship Type="http://schemas.openxmlformats.org/officeDocument/2006/relationships/image" Target="/ppt/media/image3.png" Id="Rd1c42a884b954d79" /><Relationship Type="http://schemas.openxmlformats.org/officeDocument/2006/relationships/notesSlide" Target="/ppt/notesSlides/notesSlide5.xml" Id="Rf74c432eff314d6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f04c595c564c51" /><Relationship Type="http://schemas.openxmlformats.org/officeDocument/2006/relationships/notesSlide" Target="/ppt/notesSlides/notesSlide6.xml" Id="R84155c15e19d458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D63895C3-C981-46B1-954A-5647949B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ARMINDEX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E66EB2C-AECD-4ECE-937C-0C3BA34C8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762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4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Progress Update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B41CF5F4-0FC0-45FA-AD59-CA1901DB8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790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2100">
                <a:solidFill>
                  <a:srgbClr val="52616B"/>
                </a:solidFill>
                <a:latin typeface="Aptos"/>
                <a:ea typeface="Aptos"/>
                <a:cs typeface="Aptos"/>
              </a:rPr>
              <a:t>Retriever-conditioned representation search for cross-domain patent retrieval</a:t>
            </a:r>
          </a:p>
        </p:txBody>
      </p:sp>
      <p:sp>
        <p:nvSpPr>
          <p:cNvPr id="4" name="status-surface">
            <a:extLst xmlns:a="http://schemas.openxmlformats.org/drawingml/2006/main">
              <a:ext uri="{FF2B5EF4-FFF2-40B4-BE49-F238E27FC236}">
                <a16:creationId xmlns:a16="http://schemas.microsoft.com/office/drawing/2014/main" id="{434AB692-41BF-4A05-9E1C-935E53CEB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86677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7F5F4"/>
          </a:solidFill>
          <a:ln xmlns:a="http://schemas.openxmlformats.org/drawingml/2006/main" w="9525">
            <a:solidFill>
              <a:srgbClr val="E7F5F4"/>
            </a:solidFill>
            <a:prstDash val="solid"/>
          </a:ln>
        </p:spPr>
      </p:sp>
      <p:sp>
        <p:nvSpPr>
          <p:cNvPr id="5" name="status">
            <a:extLst xmlns:a="http://schemas.openxmlformats.org/drawingml/2006/main">
              <a:ext uri="{FF2B5EF4-FFF2-40B4-BE49-F238E27FC236}">
                <a16:creationId xmlns:a16="http://schemas.microsoft.com/office/drawing/2014/main" id="{4C48CFFE-314A-40C3-9DE0-36B48FD0A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52925"/>
            <a:ext cx="809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A6F4E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A6F4E"/>
                </a:solidFill>
                <a:latin typeface="Aptos"/>
                <a:ea typeface="Aptos"/>
                <a:cs typeface="Aptos"/>
              </a:rPr>
              <a:t>A0-A2 complete | A3 measurement in progress | No A3 result yet</a:t>
            </a:r>
          </a:p>
        </p:txBody>
      </p:sp>
      <p:sp>
        <p:nvSpPr>
          <p:cNvPr id="6" name="date">
            <a:extLst xmlns:a="http://schemas.openxmlformats.org/drawingml/2006/main">
              <a:ext uri="{FF2B5EF4-FFF2-40B4-BE49-F238E27FC236}">
                <a16:creationId xmlns:a16="http://schemas.microsoft.com/office/drawing/2014/main" id="{0F1F97D0-1F76-432E-B0CD-97FE4EBA0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52616B"/>
                </a:solidFill>
                <a:latin typeface="Aptos"/>
                <a:ea typeface="Aptos"/>
                <a:cs typeface="Aptos"/>
              </a:rPr>
              <a:t>18 August 2026</a:t>
            </a:r>
          </a:p>
        </p:txBody>
      </p:sp>
      <p:cxnSp>
        <p:nvCxnSpPr>
          <p:cNvPr id="15" name="footer-rule"/>
          <p:cNvCxnSpPr/>
          <p:nvPr/>
        </p:nvCxnSpPr>
        <p:spPr>
          <a:xfrm xmlns:a="http://schemas.openxmlformats.org/drawingml/2006/main">
            <a:off x="685800" y="6248400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cxn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D48582C3-C791-4448-9A6E-FE607460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933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52616B"/>
                </a:solidFill>
                <a:latin typeface="Aptos"/>
                <a:ea typeface="Aptos"/>
                <a:cs typeface="Aptos"/>
              </a:rPr>
              <a:t>Aggregate-safe advisor update. Selection and final confirmation remain closed.</a:t>
            </a:r>
          </a:p>
        </p:txBody>
      </p:sp>
    </p:spTree>
    <p:extLst>
      <p:ext uri="{BB962C8B-B14F-4D97-AF65-F5344CB8AC3E}">
        <p14:creationId xmlns:p14="http://schemas.microsoft.com/office/powerpoint/2010/main" val="16434377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eyebrow">
            <a:extLst xmlns:a="http://schemas.openxmlformats.org/drawingml/2006/main">
              <a:ext uri="{FF2B5EF4-FFF2-40B4-BE49-F238E27FC236}">
                <a16:creationId xmlns:a16="http://schemas.microsoft.com/office/drawing/2014/main" id="{7A9D71B5-2005-4A80-B4D6-8FDBEBC0E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628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ARMINDEX | ADVISOR PROGRESS UPDATE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C972F70-4328-488D-B938-C2DFCF5F2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A0-A3 advances to transfer measurement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226DC09A-4991-40E4-ADF7-BAA1E00DE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005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52616B"/>
                </a:solidFill>
                <a:latin typeface="Aptos"/>
                <a:ea typeface="Aptos"/>
                <a:cs typeface="Aptos"/>
              </a:rPr>
              <a:t>2 / 6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14AE269D-D677-42C7-A97C-AD8DA63E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2616B"/>
                </a:solidFill>
                <a:latin typeface="Aptos"/>
                <a:ea typeface="Aptos"/>
                <a:cs typeface="Aptos"/>
              </a:rPr>
              <a:t>Each phase answers a narrower question while keeping the retrievers, evaluator, and protected boundaries controlled.</a:t>
            </a:r>
          </a:p>
        </p:txBody>
      </p:sp>
      <p:sp>
        <p:nvSpPr>
          <p:cNvPr id="5" name="phase-A0">
            <a:extLst xmlns:a="http://schemas.openxmlformats.org/drawingml/2006/main">
              <a:ext uri="{FF2B5EF4-FFF2-40B4-BE49-F238E27FC236}">
                <a16:creationId xmlns:a16="http://schemas.microsoft.com/office/drawing/2014/main" id="{F7419A8C-9F21-4F76-84FA-9B2E9A13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28925"/>
            <a:ext cx="2190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phase-tag-A0">
            <a:extLst xmlns:a="http://schemas.openxmlformats.org/drawingml/2006/main">
              <a:ext uri="{FF2B5EF4-FFF2-40B4-BE49-F238E27FC236}">
                <a16:creationId xmlns:a16="http://schemas.microsoft.com/office/drawing/2014/main" id="{86940FC5-8E17-4092-AB87-2DB924218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19425"/>
            <a:ext cx="6096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F6CBD"/>
          </a:solidFill>
          <a:ln xmlns:a="http://schemas.openxmlformats.org/drawingml/2006/main" w="9525">
            <a:solidFill>
              <a:srgbClr val="0F6CBD"/>
            </a:solidFill>
            <a:prstDash val="solid"/>
          </a:ln>
        </p:spPr>
      </p:sp>
      <p:sp>
        <p:nvSpPr>
          <p:cNvPr id="7" name="phase-label-A0">
            <a:extLst xmlns:a="http://schemas.openxmlformats.org/drawingml/2006/main">
              <a:ext uri="{FF2B5EF4-FFF2-40B4-BE49-F238E27FC236}">
                <a16:creationId xmlns:a16="http://schemas.microsoft.com/office/drawing/2014/main" id="{2FC7F341-B991-49C6-A003-1BD820D0E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0670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A0</a:t>
            </a:r>
          </a:p>
        </p:txBody>
      </p:sp>
      <p:sp>
        <p:nvSpPr>
          <p:cNvPr id="8" name="phase-state-A0">
            <a:extLst xmlns:a="http://schemas.openxmlformats.org/drawingml/2006/main">
              <a:ext uri="{FF2B5EF4-FFF2-40B4-BE49-F238E27FC236}">
                <a16:creationId xmlns:a16="http://schemas.microsoft.com/office/drawing/2014/main" id="{17718937-4D9B-4E79-9333-18A05AF1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86150"/>
            <a:ext cx="1762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Controls</a:t>
            </a:r>
          </a:p>
        </p:txBody>
      </p:sp>
      <p:sp>
        <p:nvSpPr>
          <p:cNvPr id="9" name="phase-A1">
            <a:extLst xmlns:a="http://schemas.openxmlformats.org/drawingml/2006/main">
              <a:ext uri="{FF2B5EF4-FFF2-40B4-BE49-F238E27FC236}">
                <a16:creationId xmlns:a16="http://schemas.microsoft.com/office/drawing/2014/main" id="{F9A6F984-3408-418A-BDEA-0F9DBBDDB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828925"/>
            <a:ext cx="2190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phase-tag-A1">
            <a:extLst xmlns:a="http://schemas.openxmlformats.org/drawingml/2006/main">
              <a:ext uri="{FF2B5EF4-FFF2-40B4-BE49-F238E27FC236}">
                <a16:creationId xmlns:a16="http://schemas.microsoft.com/office/drawing/2014/main" id="{9A68A34E-EB48-44C9-A85D-B3B13DDEB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19425"/>
            <a:ext cx="6096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07F80"/>
          </a:solidFill>
          <a:ln xmlns:a="http://schemas.openxmlformats.org/drawingml/2006/main" w="9525">
            <a:solidFill>
              <a:srgbClr val="007F80"/>
            </a:solidFill>
            <a:prstDash val="solid"/>
          </a:ln>
        </p:spPr>
      </p:sp>
      <p:sp>
        <p:nvSpPr>
          <p:cNvPr id="11" name="phase-label-A1">
            <a:extLst xmlns:a="http://schemas.openxmlformats.org/drawingml/2006/main">
              <a:ext uri="{FF2B5EF4-FFF2-40B4-BE49-F238E27FC236}">
                <a16:creationId xmlns:a16="http://schemas.microsoft.com/office/drawing/2014/main" id="{553DBB08-D898-459E-B0F8-E8B957247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0670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A1</a:t>
            </a:r>
          </a:p>
        </p:txBody>
      </p:sp>
      <p:sp>
        <p:nvSpPr>
          <p:cNvPr id="12" name="phase-state-A1">
            <a:extLst xmlns:a="http://schemas.openxmlformats.org/drawingml/2006/main">
              <a:ext uri="{FF2B5EF4-FFF2-40B4-BE49-F238E27FC236}">
                <a16:creationId xmlns:a16="http://schemas.microsoft.com/office/drawing/2014/main" id="{19721C85-16B4-4E18-AAC6-8695F9C8E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486150"/>
            <a:ext cx="1762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Common screen</a:t>
            </a:r>
          </a:p>
        </p:txBody>
      </p:sp>
      <p:sp>
        <p:nvSpPr>
          <p:cNvPr id="13" name="phase-A2">
            <a:extLst xmlns:a="http://schemas.openxmlformats.org/drawingml/2006/main">
              <a:ext uri="{FF2B5EF4-FFF2-40B4-BE49-F238E27FC236}">
                <a16:creationId xmlns:a16="http://schemas.microsoft.com/office/drawing/2014/main" id="{7E2D2CBD-C4C3-4CA6-8736-3B1DAAF40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28925"/>
            <a:ext cx="2190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phase-tag-A2">
            <a:extLst xmlns:a="http://schemas.openxmlformats.org/drawingml/2006/main">
              <a:ext uri="{FF2B5EF4-FFF2-40B4-BE49-F238E27FC236}">
                <a16:creationId xmlns:a16="http://schemas.microsoft.com/office/drawing/2014/main" id="{BD82D127-883E-4208-99EA-FEF0D2FF6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19425"/>
            <a:ext cx="6096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2A6F4E"/>
          </a:solidFill>
          <a:ln xmlns:a="http://schemas.openxmlformats.org/drawingml/2006/main" w="9525">
            <a:solidFill>
              <a:srgbClr val="2A6F4E"/>
            </a:solidFill>
            <a:prstDash val="solid"/>
          </a:ln>
        </p:spPr>
      </p:sp>
      <p:sp>
        <p:nvSpPr>
          <p:cNvPr id="15" name="phase-label-A2">
            <a:extLst xmlns:a="http://schemas.openxmlformats.org/drawingml/2006/main">
              <a:ext uri="{FF2B5EF4-FFF2-40B4-BE49-F238E27FC236}">
                <a16:creationId xmlns:a16="http://schemas.microsoft.com/office/drawing/2014/main" id="{559666A7-F9CB-4C77-879F-7F091D9F0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0670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A2</a:t>
            </a:r>
          </a:p>
        </p:txBody>
      </p:sp>
      <p:sp>
        <p:nvSpPr>
          <p:cNvPr id="16" name="phase-state-A2">
            <a:extLst xmlns:a="http://schemas.openxmlformats.org/drawingml/2006/main">
              <a:ext uri="{FF2B5EF4-FFF2-40B4-BE49-F238E27FC236}">
                <a16:creationId xmlns:a16="http://schemas.microsoft.com/office/drawing/2014/main" id="{7C121C57-6891-44B2-9AA0-82204918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86150"/>
            <a:ext cx="1762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Per-retriever search</a:t>
            </a:r>
          </a:p>
        </p:txBody>
      </p:sp>
      <p:sp>
        <p:nvSpPr>
          <p:cNvPr id="17" name="phase-A3">
            <a:extLst xmlns:a="http://schemas.openxmlformats.org/drawingml/2006/main">
              <a:ext uri="{FF2B5EF4-FFF2-40B4-BE49-F238E27FC236}">
                <a16:creationId xmlns:a16="http://schemas.microsoft.com/office/drawing/2014/main" id="{FCBD1B61-476F-416B-93CD-A112B19D5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28925"/>
            <a:ext cx="2190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phase-tag-A3">
            <a:extLst xmlns:a="http://schemas.openxmlformats.org/drawingml/2006/main">
              <a:ext uri="{FF2B5EF4-FFF2-40B4-BE49-F238E27FC236}">
                <a16:creationId xmlns:a16="http://schemas.microsoft.com/office/drawing/2014/main" id="{039C0579-4D26-49E6-A12C-ABFFE0B96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19425"/>
            <a:ext cx="6096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A15C00"/>
          </a:solidFill>
          <a:ln xmlns:a="http://schemas.openxmlformats.org/drawingml/2006/main" w="9525">
            <a:solidFill>
              <a:srgbClr val="A15C00"/>
            </a:solidFill>
            <a:prstDash val="solid"/>
          </a:ln>
        </p:spPr>
      </p:sp>
      <p:sp>
        <p:nvSpPr>
          <p:cNvPr id="19" name="phase-label-A3">
            <a:extLst xmlns:a="http://schemas.openxmlformats.org/drawingml/2006/main">
              <a:ext uri="{FF2B5EF4-FFF2-40B4-BE49-F238E27FC236}">
                <a16:creationId xmlns:a16="http://schemas.microsoft.com/office/drawing/2014/main" id="{1C8FE088-2ABD-431E-B15A-713EB6F4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0670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A3</a:t>
            </a:r>
          </a:p>
        </p:txBody>
      </p:sp>
      <p:sp>
        <p:nvSpPr>
          <p:cNvPr id="20" name="phase-state-A3">
            <a:extLst xmlns:a="http://schemas.openxmlformats.org/drawingml/2006/main">
              <a:ext uri="{FF2B5EF4-FFF2-40B4-BE49-F238E27FC236}">
                <a16:creationId xmlns:a16="http://schemas.microsoft.com/office/drawing/2014/main" id="{E6666A94-E66D-4930-BF5D-B2211549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86150"/>
            <a:ext cx="1762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Transfer study</a:t>
            </a:r>
          </a:p>
        </p:txBody>
      </p:sp>
      <p:sp>
        <p:nvSpPr>
          <p:cNvPr id="21" name="a0-status">
            <a:extLst xmlns:a="http://schemas.openxmlformats.org/drawingml/2006/main">
              <a:ext uri="{FF2B5EF4-FFF2-40B4-BE49-F238E27FC236}">
                <a16:creationId xmlns:a16="http://schemas.microsoft.com/office/drawing/2014/main" id="{7A3DBFC2-DC84-4E22-8A44-4F94EF65C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2A6F4E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2A6F4E"/>
                </a:solidFill>
                <a:latin typeface="Aptos"/>
                <a:ea typeface="Aptos"/>
                <a:cs typeface="Aptos"/>
              </a:rPr>
              <a:t>complete</a:t>
            </a:r>
          </a:p>
        </p:txBody>
      </p:sp>
      <p:sp>
        <p:nvSpPr>
          <p:cNvPr id="22" name="a1-status">
            <a:extLst xmlns:a="http://schemas.openxmlformats.org/drawingml/2006/main">
              <a:ext uri="{FF2B5EF4-FFF2-40B4-BE49-F238E27FC236}">
                <a16:creationId xmlns:a16="http://schemas.microsoft.com/office/drawing/2014/main" id="{3D6CE6F7-0CF8-4FB1-9AE9-6AB47DFEB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095750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2A6F4E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2A6F4E"/>
                </a:solidFill>
                <a:latin typeface="Aptos"/>
                <a:ea typeface="Aptos"/>
                <a:cs typeface="Aptos"/>
              </a:rPr>
              <a:t>complete</a:t>
            </a:r>
          </a:p>
        </p:txBody>
      </p:sp>
      <p:sp>
        <p:nvSpPr>
          <p:cNvPr id="23" name="a2-status">
            <a:extLst xmlns:a="http://schemas.openxmlformats.org/drawingml/2006/main">
              <a:ext uri="{FF2B5EF4-FFF2-40B4-BE49-F238E27FC236}">
                <a16:creationId xmlns:a16="http://schemas.microsoft.com/office/drawing/2014/main" id="{36C2A552-AAFE-4C61-ACD0-89DA9768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95750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2A6F4E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2A6F4E"/>
                </a:solidFill>
                <a:latin typeface="Aptos"/>
                <a:ea typeface="Aptos"/>
                <a:cs typeface="Aptos"/>
              </a:rPr>
              <a:t>complete</a:t>
            </a:r>
          </a:p>
        </p:txBody>
      </p:sp>
      <p:sp>
        <p:nvSpPr>
          <p:cNvPr id="24" name="a3-status">
            <a:extLst xmlns:a="http://schemas.openxmlformats.org/drawingml/2006/main">
              <a:ext uri="{FF2B5EF4-FFF2-40B4-BE49-F238E27FC236}">
                <a16:creationId xmlns:a16="http://schemas.microsoft.com/office/drawing/2014/main" id="{419EF1B7-2FDA-42DC-9C73-5D1656FE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95750"/>
            <a:ext cx="1809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A15C00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A15C00"/>
                </a:solidFill>
                <a:latin typeface="Aptos"/>
                <a:ea typeface="Aptos"/>
                <a:cs typeface="Aptos"/>
              </a:rPr>
              <a:t>14 operations launched</a:t>
            </a:r>
          </a:p>
        </p:txBody>
      </p:sp>
      <p:sp>
        <p:nvSpPr>
          <p:cNvPr id="25" name="takeaway">
            <a:extLst xmlns:a="http://schemas.openxmlformats.org/drawingml/2006/main">
              <a:ext uri="{FF2B5EF4-FFF2-40B4-BE49-F238E27FC236}">
                <a16:creationId xmlns:a16="http://schemas.microsoft.com/office/drawing/2014/main" id="{8C27B057-61A5-472F-B166-C6FE9D7F5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809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A4 remains locked until A3 evidence is collected and audited.</a:t>
            </a:r>
          </a:p>
        </p:txBody>
      </p:sp>
      <p:cxnSp>
        <p:nvCxnSpPr>
          <p:cNvPr id="53" name="footer-rule"/>
          <p:cNvCxnSpPr/>
          <p:nvPr/>
        </p:nvCxnSpPr>
        <p:spPr>
          <a:xfrm xmlns:a="http://schemas.openxmlformats.org/drawingml/2006/main">
            <a:off x="685800" y="6248400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cxnSp>
      <p:sp>
        <p:nvSpPr>
          <p:cNvPr id="27" name="footer">
            <a:extLst xmlns:a="http://schemas.openxmlformats.org/drawingml/2006/main">
              <a:ext uri="{FF2B5EF4-FFF2-40B4-BE49-F238E27FC236}">
                <a16:creationId xmlns:a16="http://schemas.microsoft.com/office/drawing/2014/main" id="{93BA07BF-007B-465E-9BE5-9C560668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933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52616B"/>
                </a:solidFill>
                <a:latin typeface="Aptos"/>
                <a:ea typeface="Aptos"/>
                <a:cs typeface="Aptos"/>
              </a:rPr>
              <a:t>Phase roles and A3 scope are fixed before measurement.</a:t>
            </a:r>
          </a:p>
        </p:txBody>
      </p:sp>
    </p:spTree>
    <p:extLst>
      <p:ext uri="{BB962C8B-B14F-4D97-AF65-F5344CB8AC3E}">
        <p14:creationId xmlns:p14="http://schemas.microsoft.com/office/powerpoint/2010/main" val="14051789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eyebrow">
            <a:extLst xmlns:a="http://schemas.openxmlformats.org/drawingml/2006/main">
              <a:ext uri="{FF2B5EF4-FFF2-40B4-BE49-F238E27FC236}">
                <a16:creationId xmlns:a16="http://schemas.microsoft.com/office/drawing/2014/main" id="{D5E9FB1E-DEFE-4451-8723-5B480FF7B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628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ARMINDEX | ADVISOR PROGRESS UPDATE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D5BC553-308E-4918-A569-39F4FCCC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A0 separates development from future confirmation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9F5A16B-9F41-49BE-AE0A-48B552D5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005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52616B"/>
                </a:solidFill>
                <a:latin typeface="Aptos"/>
                <a:ea typeface="Aptos"/>
                <a:cs typeface="Aptos"/>
              </a:rPr>
              <a:t>3 / 6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4BB70A3-E5EE-4C89-813A-86E1FA311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2616B"/>
                </a:solidFill>
                <a:latin typeface="Aptos"/>
                <a:ea typeface="Aptos"/>
                <a:cs typeface="Aptos"/>
              </a:rPr>
              <a:t>Predefined data roles keep adaptive development away from later confirmation decisions.</a:t>
            </a:r>
          </a:p>
        </p:txBody>
      </p:sp>
      <p:sp>
        <p:nvSpPr>
          <p:cNvPr id="5" name="method-summary">
            <a:extLst xmlns:a="http://schemas.openxmlformats.org/drawingml/2006/main">
              <a:ext uri="{FF2B5EF4-FFF2-40B4-BE49-F238E27FC236}">
                <a16:creationId xmlns:a16="http://schemas.microsoft.com/office/drawing/2014/main" id="{CDE503A9-C097-4EA9-8842-2EA63C88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3476625" cy="2524125"/>
          </a:xfrm>
          <a:prstGeom xmlns:a="http://schemas.openxmlformats.org/drawingml/2006/main" prst="roundRect">
            <a:avLst>
              <a:gd name="adj" fmla="val 30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why-title">
            <a:extLst xmlns:a="http://schemas.openxmlformats.org/drawingml/2006/main">
              <a:ext uri="{FF2B5EF4-FFF2-40B4-BE49-F238E27FC236}">
                <a16:creationId xmlns:a16="http://schemas.microsoft.com/office/drawing/2014/main" id="{EC99411F-9FAF-4719-9FAD-8D0B14FAC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7" name="why-body">
            <a:extLst xmlns:a="http://schemas.openxmlformats.org/drawingml/2006/main">
              <a:ext uri="{FF2B5EF4-FFF2-40B4-BE49-F238E27FC236}">
                <a16:creationId xmlns:a16="http://schemas.microsoft.com/office/drawing/2014/main" id="{F810D258-D2B4-4A1B-9950-57DB69E9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43250"/>
            <a:ext cx="2857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14213D"/>
                </a:solidFill>
                <a:latin typeface="Aptos"/>
                <a:ea typeface="Aptos"/>
                <a:cs typeface="Aptos"/>
              </a:rPr>
              <a:t>- Representation development has a predefined role</a:t>
            </a:r>
          </a:p>
          <a:p xmlns:a="http://schemas.openxmlformats.org/drawingml/2006/main">
            <a:pPr>
              <a:defRPr sz="1575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14213D"/>
                </a:solidFill>
                <a:latin typeface="Aptos"/>
                <a:ea typeface="Aptos"/>
                <a:cs typeface="Aptos"/>
              </a:rPr>
              <a:t>- Harness development is separated</a:t>
            </a:r>
          </a:p>
          <a:p xmlns:a="http://schemas.openxmlformats.org/drawingml/2006/main">
            <a:pPr>
              <a:defRPr sz="1575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14213D"/>
                </a:solidFill>
                <a:latin typeface="Aptos"/>
                <a:ea typeface="Aptos"/>
                <a:cs typeface="Aptos"/>
              </a:rPr>
              <a:t>- Selection and final confirmation remain closed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a05c1948cf4f78"/>
          <a:stretch xmlns:a="http://schemas.openxmlformats.org/drawingml/2006/main"/>
        </p:blipFill>
        <p:spPr>
          <a:xfrm xmlns:a="http://schemas.openxmlformats.org/drawingml/2006/main">
            <a:off x="4736856" y="2019300"/>
            <a:ext cx="6242538" cy="3381375"/>
          </a:xfrm>
          <a:prstGeom xmlns:a="http://schemas.openxmlformats.org/drawingml/2006/main" prst="rect">
            <a:avLst/>
          </a:prstGeom>
        </p:spPr>
      </p:pic>
      <p:sp>
        <p:nvSpPr>
          <p:cNvPr id="9" name="figure-caption">
            <a:extLst xmlns:a="http://schemas.openxmlformats.org/drawingml/2006/main">
              <a:ext uri="{FF2B5EF4-FFF2-40B4-BE49-F238E27FC236}">
                <a16:creationId xmlns:a16="http://schemas.microsoft.com/office/drawing/2014/main" id="{9D3D7829-4E31-42EB-96A5-E38D1A26F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543550"/>
            <a:ext cx="657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52616B"/>
                </a:solidFill>
                <a:latin typeface="Aptos"/>
                <a:ea typeface="Aptos"/>
                <a:cs typeface="Aptos"/>
              </a:rPr>
              <a:t>The figure shows role separation only; it contains no protected membership or relevance labels.</a:t>
            </a:r>
          </a:p>
        </p:txBody>
      </p:sp>
      <p:cxnSp>
        <p:nvCxnSpPr>
          <p:cNvPr id="21" name="footer-rule"/>
          <p:cNvCxnSpPr/>
          <p:nvPr/>
        </p:nvCxnSpPr>
        <p:spPr>
          <a:xfrm xmlns:a="http://schemas.openxmlformats.org/drawingml/2006/main">
            <a:off x="685800" y="6248400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cxn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FB3A74FD-99F2-4912-AAA7-BD5E73981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933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52616B"/>
                </a:solidFill>
                <a:latin typeface="Aptos"/>
                <a:ea typeface="Aptos"/>
                <a:cs typeface="Aptos"/>
              </a:rPr>
              <a:t>A0 is engineering and reproducibility evidence, not a retrieval-performance result.</a:t>
            </a:r>
          </a:p>
        </p:txBody>
      </p:sp>
    </p:spTree>
    <p:extLst>
      <p:ext uri="{BB962C8B-B14F-4D97-AF65-F5344CB8AC3E}">
        <p14:creationId xmlns:p14="http://schemas.microsoft.com/office/powerpoint/2010/main" val="15861867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eyebrow">
            <a:extLst xmlns:a="http://schemas.openxmlformats.org/drawingml/2006/main">
              <a:ext uri="{FF2B5EF4-FFF2-40B4-BE49-F238E27FC236}">
                <a16:creationId xmlns:a16="http://schemas.microsoft.com/office/drawing/2014/main" id="{522EF1BC-A24C-4C33-AF6F-65B6B0C3E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628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ARMINDEX | ADVISOR PROGRESS UPDATE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A14906B-69FD-42B8-A696-DBD48DC9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A1 and A2 establish complete development evidence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CEDF6A8-CB13-485E-AA80-971926CC1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005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52616B"/>
                </a:solidFill>
                <a:latin typeface="Aptos"/>
                <a:ea typeface="Aptos"/>
                <a:cs typeface="Aptos"/>
              </a:rPr>
              <a:t>4 / 6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CF692CAE-699B-4DCB-841A-FE25B999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2616B"/>
                </a:solidFill>
                <a:latin typeface="Aptos"/>
                <a:ea typeface="Aptos"/>
                <a:cs typeface="Aptos"/>
              </a:rPr>
              <a:t>A1 maps the common representation surface; A2 searches a frozen candidate universe per retriever.</a:t>
            </a:r>
          </a:p>
        </p:txBody>
      </p:sp>
      <p:sp>
        <p:nvSpPr>
          <p:cNvPr id="5" name="a1-summary">
            <a:extLst xmlns:a="http://schemas.openxmlformats.org/drawingml/2006/main">
              <a:ext uri="{FF2B5EF4-FFF2-40B4-BE49-F238E27FC236}">
                <a16:creationId xmlns:a16="http://schemas.microsoft.com/office/drawing/2014/main" id="{20F9873E-C77B-4695-9C2A-7CF25FE0B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33337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E8F1FA"/>
            </a:solidFill>
            <a:prstDash val="solid"/>
          </a:ln>
        </p:spPr>
      </p:sp>
      <p:sp>
        <p:nvSpPr>
          <p:cNvPr id="6" name="a1-label">
            <a:extLst xmlns:a="http://schemas.openxmlformats.org/drawingml/2006/main">
              <a:ext uri="{FF2B5EF4-FFF2-40B4-BE49-F238E27FC236}">
                <a16:creationId xmlns:a16="http://schemas.microsoft.com/office/drawing/2014/main" id="{BC97BD4A-3B6E-4BBA-900F-43DA49C2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52700"/>
            <a:ext cx="104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A1</a:t>
            </a:r>
          </a:p>
        </p:txBody>
      </p:sp>
      <p:sp>
        <p:nvSpPr>
          <p:cNvPr id="7" name="a1-value">
            <a:extLst xmlns:a="http://schemas.openxmlformats.org/drawingml/2006/main">
              <a:ext uri="{FF2B5EF4-FFF2-40B4-BE49-F238E27FC236}">
                <a16:creationId xmlns:a16="http://schemas.microsoft.com/office/drawing/2014/main" id="{589A22ED-B2EA-43C8-BB17-11BF909D4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81350"/>
            <a:ext cx="252412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5 representations</a:t>
            </a:r>
          </a:p>
          <a:p xmlns:a="http://schemas.openxmlformats.org/drawingml/2006/main">
            <a:pPr>
              <a:defRPr sz="19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x 5 frozen retrievers</a:t>
            </a:r>
          </a:p>
          <a:p xmlns:a="http://schemas.openxmlformats.org/drawingml/2006/main">
            <a:pPr>
              <a:defRPr sz="19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= 25 completed cells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bbd7a5f43048db"/>
          <a:stretch xmlns:a="http://schemas.openxmlformats.org/drawingml/2006/main"/>
        </p:blipFill>
        <p:spPr>
          <a:xfrm xmlns:a="http://schemas.openxmlformats.org/drawingml/2006/main">
            <a:off x="4770827" y="1962150"/>
            <a:ext cx="5888845" cy="3714750"/>
          </a:xfrm>
          <a:prstGeom xmlns:a="http://schemas.openxmlformats.org/drawingml/2006/main" prst="rect">
            <a:avLst/>
          </a:prstGeom>
        </p:spPr>
      </p:pic>
      <p:sp>
        <p:nvSpPr>
          <p:cNvPr id="9" name="a2-accounting-label">
            <a:extLst xmlns:a="http://schemas.openxmlformats.org/drawingml/2006/main">
              <a:ext uri="{FF2B5EF4-FFF2-40B4-BE49-F238E27FC236}">
                <a16:creationId xmlns:a16="http://schemas.microsoft.com/office/drawing/2014/main" id="{C5B6D609-2F96-4E01-A549-B6E013933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2333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A2 accounting</a:t>
            </a:r>
          </a:p>
        </p:txBody>
      </p:sp>
      <p:sp>
        <p:nvSpPr>
          <p:cNvPr id="10" name="a2-accounting">
            <a:extLst xmlns:a="http://schemas.openxmlformats.org/drawingml/2006/main">
              <a:ext uri="{FF2B5EF4-FFF2-40B4-BE49-F238E27FC236}">
                <a16:creationId xmlns:a16="http://schemas.microsoft.com/office/drawing/2014/main" id="{A2FEC96E-6B5B-4B86-BE14-5694ED68C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52 = 44 measured + 8 dormant</a:t>
            </a:r>
          </a:p>
        </p:txBody>
      </p:sp>
      <p:sp>
        <p:nvSpPr>
          <p:cNvPr id="11" name="a2-caption">
            <a:extLst xmlns:a="http://schemas.openxmlformats.org/drawingml/2006/main">
              <a:ext uri="{FF2B5EF4-FFF2-40B4-BE49-F238E27FC236}">
                <a16:creationId xmlns:a16="http://schemas.microsoft.com/office/drawing/2014/main" id="{26A81CCE-B576-4195-996A-910E4D0A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791200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2616B"/>
                </a:solidFill>
                <a:latin typeface="Aptos"/>
                <a:ea typeface="Aptos"/>
                <a:cs typeface="Aptos"/>
              </a:rPr>
              <a:t>Dormant means not admitted for evaluation; it is not failure or zero performance.</a:t>
            </a:r>
          </a:p>
        </p:txBody>
      </p:sp>
      <p:cxnSp>
        <p:nvCxnSpPr>
          <p:cNvPr id="25" name="footer-rule"/>
          <p:cNvCxnSpPr/>
          <p:nvPr/>
        </p:nvCxnSpPr>
        <p:spPr>
          <a:xfrm xmlns:a="http://schemas.openxmlformats.org/drawingml/2006/main">
            <a:off x="685800" y="6248400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cxn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5CA83C78-C969-4818-9EE9-C6892A83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933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52616B"/>
                </a:solidFill>
                <a:latin typeface="Aptos"/>
                <a:ea typeface="Aptos"/>
                <a:cs typeface="Aptos"/>
              </a:rPr>
              <a:t>A1 and A2 are aggregate development evidence; they are not Selection or Final confirmation.</a:t>
            </a:r>
          </a:p>
        </p:txBody>
      </p:sp>
    </p:spTree>
    <p:extLst>
      <p:ext uri="{BB962C8B-B14F-4D97-AF65-F5344CB8AC3E}">
        <p14:creationId xmlns:p14="http://schemas.microsoft.com/office/powerpoint/2010/main" val="4052034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eyebrow">
            <a:extLst xmlns:a="http://schemas.openxmlformats.org/drawingml/2006/main">
              <a:ext uri="{FF2B5EF4-FFF2-40B4-BE49-F238E27FC236}">
                <a16:creationId xmlns:a16="http://schemas.microsoft.com/office/drawing/2014/main" id="{7D7B2FED-9B59-4674-AA4C-CFED7EBA1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628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ARMINDEX | ADVISOR PROGRESS UPDATE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F65C2CF-045C-4501-AA72-162E12728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A2 advances three retrievers to A3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79E671F2-2B4B-4A19-B2EC-F3C0088A2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005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52616B"/>
                </a:solidFill>
                <a:latin typeface="Aptos"/>
                <a:ea typeface="Aptos"/>
                <a:cs typeface="Aptos"/>
              </a:rPr>
              <a:t>5 / 6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606FE6F4-217D-463C-BC57-0E530C726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2616B"/>
                </a:solidFill>
                <a:latin typeface="Aptos"/>
                <a:ea typeface="Aptos"/>
                <a:cs typeface="Aptos"/>
              </a:rPr>
              <a:t>The advancement rule retains interpretable ties and no-gain outcomes instead of selecting only positive results.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c42a884b954d79"/>
          <a:stretch xmlns:a="http://schemas.openxmlformats.org/drawingml/2006/main"/>
        </p:blipFill>
        <p:spPr>
          <a:xfrm xmlns:a="http://schemas.openxmlformats.org/drawingml/2006/main">
            <a:off x="1243801" y="2047875"/>
            <a:ext cx="5741998" cy="3619500"/>
          </a:xfrm>
          <a:prstGeom xmlns:a="http://schemas.openxmlformats.org/drawingml/2006/main" prst="rect">
            <a:avLst/>
          </a:prstGeom>
        </p:spPr>
      </p:pic>
      <p:sp>
        <p:nvSpPr>
          <p:cNvPr id="6" name="primary-arms">
            <a:extLst xmlns:a="http://schemas.openxmlformats.org/drawingml/2006/main">
              <a:ext uri="{FF2B5EF4-FFF2-40B4-BE49-F238E27FC236}">
                <a16:creationId xmlns:a16="http://schemas.microsoft.com/office/drawing/2014/main" id="{A11AAEB3-E5C7-4BD0-AD9D-C120B9E5F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162175"/>
            <a:ext cx="323850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E7F5F4"/>
          </a:solidFill>
          <a:ln xmlns:a="http://schemas.openxmlformats.org/drawingml/2006/main" w="9525">
            <a:solidFill>
              <a:srgbClr val="E7F5F4"/>
            </a:solidFill>
            <a:prstDash val="solid"/>
          </a:ln>
        </p:spPr>
      </p:sp>
      <p:sp>
        <p:nvSpPr>
          <p:cNvPr id="7" name="primary-title">
            <a:extLst xmlns:a="http://schemas.openxmlformats.org/drawingml/2006/main">
              <a:ext uri="{FF2B5EF4-FFF2-40B4-BE49-F238E27FC236}">
                <a16:creationId xmlns:a16="http://schemas.microsoft.com/office/drawing/2014/main" id="{C120CB96-3C9F-45EB-B142-C177D59F3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400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A6F4E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2A6F4E"/>
                </a:solidFill>
                <a:latin typeface="Aptos"/>
                <a:ea typeface="Aptos"/>
                <a:cs typeface="Aptos"/>
              </a:rPr>
              <a:t>Primary A3 inputs</a:t>
            </a:r>
          </a:p>
        </p:txBody>
      </p:sp>
      <p:sp>
        <p:nvSpPr>
          <p:cNvPr id="8" name="primary-list">
            <a:extLst xmlns:a="http://schemas.openxmlformats.org/drawingml/2006/main">
              <a:ext uri="{FF2B5EF4-FFF2-40B4-BE49-F238E27FC236}">
                <a16:creationId xmlns:a16="http://schemas.microsoft.com/office/drawing/2014/main" id="{AB30D20F-1A34-4BCA-9334-028950198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895600"/>
            <a:ext cx="2476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ARM-03  PatEmbed</a:t>
            </a:r>
          </a:p>
          <a:p xmlns:a="http://schemas.openxmlformats.org/drawingml/2006/main">
            <a:pPr>
              <a:defRPr sz="15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ARM-04  Arctic Embed</a:t>
            </a:r>
          </a:p>
          <a:p xmlns:a="http://schemas.openxmlformats.org/drawingml/2006/main">
            <a:pPr>
              <a:defRPr sz="15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ARM-05  Qwen3 Embedding</a:t>
            </a:r>
          </a:p>
        </p:txBody>
      </p:sp>
      <p:sp>
        <p:nvSpPr>
          <p:cNvPr id="9" name="diagnostic-arms">
            <a:extLst xmlns:a="http://schemas.openxmlformats.org/drawingml/2006/main">
              <a:ext uri="{FF2B5EF4-FFF2-40B4-BE49-F238E27FC236}">
                <a16:creationId xmlns:a16="http://schemas.microsoft.com/office/drawing/2014/main" id="{504A6B21-1E6B-4038-8F1D-E742A06F8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333875"/>
            <a:ext cx="3238500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4E5"/>
          </a:solidFill>
          <a:ln xmlns:a="http://schemas.openxmlformats.org/drawingml/2006/main" w="9525">
            <a:solidFill>
              <a:srgbClr val="FFF4E5"/>
            </a:solidFill>
            <a:prstDash val="solid"/>
          </a:ln>
        </p:spPr>
      </p:sp>
      <p:sp>
        <p:nvSpPr>
          <p:cNvPr id="10" name="diagnostic-note">
            <a:extLst xmlns:a="http://schemas.openxmlformats.org/drawingml/2006/main">
              <a:ext uri="{FF2B5EF4-FFF2-40B4-BE49-F238E27FC236}">
                <a16:creationId xmlns:a16="http://schemas.microsoft.com/office/drawing/2014/main" id="{5C6B7B7B-31D9-4637-875F-19F87A165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581525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A15C0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A15C00"/>
                </a:solidFill>
                <a:latin typeface="Aptos"/>
                <a:ea typeface="Aptos"/>
                <a:cs typeface="Aptos"/>
              </a:rPr>
              <a:t>ARM-01 and ARM-02 stay as non-advancing diagnostic evidence.</a:t>
            </a:r>
          </a:p>
        </p:txBody>
      </p:sp>
      <p:cxnSp>
        <p:nvCxnSpPr>
          <p:cNvPr id="23" name="footer-rule"/>
          <p:cNvCxnSpPr/>
          <p:nvPr/>
        </p:nvCxnSpPr>
        <p:spPr>
          <a:xfrm xmlns:a="http://schemas.openxmlformats.org/drawingml/2006/main">
            <a:off x="685800" y="6248400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cxn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FB3A9E14-4C15-4BB5-BB6C-E0656F6B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933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52616B"/>
                </a:solidFill>
                <a:latin typeface="Aptos"/>
                <a:ea typeface="Aptos"/>
                <a:cs typeface="Aptos"/>
              </a:rPr>
              <a:t>Only ARM-03, ARM-04, and ARM-05 enter A3 transfer and complementarity measurement.</a:t>
            </a:r>
          </a:p>
        </p:txBody>
      </p:sp>
    </p:spTree>
    <p:extLst>
      <p:ext uri="{BB962C8B-B14F-4D97-AF65-F5344CB8AC3E}">
        <p14:creationId xmlns:p14="http://schemas.microsoft.com/office/powerpoint/2010/main" val="126984143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eyebrow">
            <a:extLst xmlns:a="http://schemas.openxmlformats.org/drawingml/2006/main">
              <a:ext uri="{FF2B5EF4-FFF2-40B4-BE49-F238E27FC236}">
                <a16:creationId xmlns:a16="http://schemas.microsoft.com/office/drawing/2014/main" id="{712DD964-676E-4659-874A-054C0BFD0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628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ARMINDEX | ADVISOR PROGRESS UPDATE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A0C5B1D-52F9-4B84-99ED-766AFBCB2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A3 is running; conclusions await a result audit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F581739-A4F5-470E-A4D7-131E618E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005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52616B"/>
                </a:solidFill>
                <a:latin typeface="Aptos"/>
                <a:ea typeface="Aptos"/>
                <a:cs typeface="Aptos"/>
              </a:rPr>
              <a:t>6 / 6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CB20AD7A-5B26-4CE2-94F3-4ECD4FEB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2616B"/>
                </a:solidFill>
                <a:latin typeface="Aptos"/>
                <a:ea typeface="Aptos"/>
                <a:cs typeface="Aptos"/>
              </a:rPr>
              <a:t>The current work tests transfer and fixed-union controls before any production decision.</a:t>
            </a:r>
          </a:p>
        </p:txBody>
      </p:sp>
      <p:sp>
        <p:nvSpPr>
          <p:cNvPr id="5" name="launch-status">
            <a:extLst xmlns:a="http://schemas.openxmlformats.org/drawingml/2006/main">
              <a:ext uri="{FF2B5EF4-FFF2-40B4-BE49-F238E27FC236}">
                <a16:creationId xmlns:a16="http://schemas.microsoft.com/office/drawing/2014/main" id="{A427DDFE-3563-48A5-A811-5C4F4BC0C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25717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4E5"/>
          </a:solidFill>
          <a:ln xmlns:a="http://schemas.openxmlformats.org/drawingml/2006/main" w="9525">
            <a:solidFill>
              <a:srgbClr val="FFF4E5"/>
            </a:solidFill>
            <a:prstDash val="solid"/>
          </a:ln>
        </p:spPr>
      </p:sp>
      <p:sp>
        <p:nvSpPr>
          <p:cNvPr id="6" name="operation-count">
            <a:extLst xmlns:a="http://schemas.openxmlformats.org/drawingml/2006/main">
              <a:ext uri="{FF2B5EF4-FFF2-40B4-BE49-F238E27FC236}">
                <a16:creationId xmlns:a16="http://schemas.microsoft.com/office/drawing/2014/main" id="{697C5712-7E27-4660-889D-28687B4B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19375"/>
            <a:ext cx="1857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A15C00"/>
                </a:solidFill>
                <a:latin typeface="Aptos"/>
                <a:ea typeface="Aptos"/>
                <a:cs typeface="Aptos"/>
              </a:defRPr>
            </a:pPr>
            <a:r>
              <a:rPr sz="3525" b="1">
                <a:solidFill>
                  <a:srgbClr val="A15C00"/>
                </a:solidFill>
                <a:latin typeface="Aptos"/>
                <a:ea typeface="Aptos"/>
                <a:cs typeface="Aptos"/>
              </a:rPr>
              <a:t>14 / 14</a:t>
            </a:r>
          </a:p>
        </p:txBody>
      </p:sp>
      <p:sp>
        <p:nvSpPr>
          <p:cNvPr id="7" name="operation-label">
            <a:extLst xmlns:a="http://schemas.openxmlformats.org/drawingml/2006/main">
              <a:ext uri="{FF2B5EF4-FFF2-40B4-BE49-F238E27FC236}">
                <a16:creationId xmlns:a16="http://schemas.microsoft.com/office/drawing/2014/main" id="{0210F4BC-BB5C-4AB5-B08C-5A36FE87C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3375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operations launched</a:t>
            </a:r>
          </a:p>
          <a:p xmlns:a="http://schemas.openxmlformats.org/drawingml/2006/main">
            <a:pPr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in stage 028</a:t>
            </a:r>
          </a:p>
        </p:txBody>
      </p:sp>
      <p:sp>
        <p:nvSpPr>
          <p:cNvPr id="8" name="measurement-scope">
            <a:extLst xmlns:a="http://schemas.openxmlformats.org/drawingml/2006/main">
              <a:ext uri="{FF2B5EF4-FFF2-40B4-BE49-F238E27FC236}">
                <a16:creationId xmlns:a16="http://schemas.microsoft.com/office/drawing/2014/main" id="{4BA0ED49-FCA8-4BEC-BE91-9E71B1A32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238375"/>
            <a:ext cx="3429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scope-title">
            <a:extLst xmlns:a="http://schemas.openxmlformats.org/drawingml/2006/main">
              <a:ext uri="{FF2B5EF4-FFF2-40B4-BE49-F238E27FC236}">
                <a16:creationId xmlns:a16="http://schemas.microsoft.com/office/drawing/2014/main" id="{E8FD4885-0477-4731-A846-07750D7B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4317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What is being measured</a:t>
            </a:r>
          </a:p>
        </p:txBody>
      </p:sp>
      <p:sp>
        <p:nvSpPr>
          <p:cNvPr id="10" name="scope-body">
            <a:extLst xmlns:a="http://schemas.openxmlformats.org/drawingml/2006/main">
              <a:ext uri="{FF2B5EF4-FFF2-40B4-BE49-F238E27FC236}">
                <a16:creationId xmlns:a16="http://schemas.microsoft.com/office/drawing/2014/main" id="{4081FACB-3B85-4A72-B3DE-D7614295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86100"/>
            <a:ext cx="2762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4213D"/>
                </a:solidFill>
                <a:latin typeface="Aptos"/>
                <a:ea typeface="Aptos"/>
                <a:cs typeface="Aptos"/>
              </a:rPr>
              <a:t>- 9 transfer operations</a:t>
            </a:r>
          </a:p>
          <a:p xmlns:a="http://schemas.openxmlformats.org/drawingml/2006/main">
            <a:pPr>
              <a:defRPr sz="150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4213D"/>
                </a:solidFill>
                <a:latin typeface="Aptos"/>
                <a:ea typeface="Aptos"/>
                <a:cs typeface="Aptos"/>
              </a:rPr>
              <a:t>- 5 fixed-union controls</a:t>
            </a:r>
          </a:p>
          <a:p xmlns:a="http://schemas.openxmlformats.org/drawingml/2006/main">
            <a:pPr>
              <a:defRPr sz="150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4213D"/>
                </a:solidFill>
                <a:latin typeface="Aptos"/>
                <a:ea typeface="Aptos"/>
                <a:cs typeface="Aptos"/>
              </a:rPr>
              <a:t>- ARM-03, ARM-04, ARM-05 only</a:t>
            </a:r>
          </a:p>
        </p:txBody>
      </p:sp>
      <p:sp>
        <p:nvSpPr>
          <p:cNvPr id="11" name="decision-boundary">
            <a:extLst xmlns:a="http://schemas.openxmlformats.org/drawingml/2006/main">
              <a:ext uri="{FF2B5EF4-FFF2-40B4-BE49-F238E27FC236}">
                <a16:creationId xmlns:a16="http://schemas.microsoft.com/office/drawing/2014/main" id="{0D12ED45-25FB-4A5E-8516-05DAC6AA6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238375"/>
            <a:ext cx="3810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E8F1FA"/>
            </a:solidFill>
            <a:prstDash val="solid"/>
          </a:ln>
        </p:spPr>
      </p:sp>
      <p:sp>
        <p:nvSpPr>
          <p:cNvPr id="12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16131031-335C-4821-948E-51AB00B13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5431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What cannot be concluded yet</a:t>
            </a:r>
          </a:p>
        </p:txBody>
      </p:sp>
      <p:sp>
        <p:nvSpPr>
          <p:cNvPr id="13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A44DE1B2-8038-41AD-946A-A46749224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086100"/>
            <a:ext cx="3000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 transfer result</a:t>
            </a:r>
          </a:p>
          <a:p xmlns:a="http://schemas.openxmlformats.org/drawingml/2006/main">
            <a:pPr>
              <a:defRPr sz="15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 complementary-set decision</a:t>
            </a:r>
          </a:p>
          <a:p xmlns:a="http://schemas.openxmlformats.org/drawingml/2006/main">
            <a:pPr>
              <a:defRPr sz="15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 A4 production decision</a:t>
            </a:r>
          </a:p>
        </p:txBody>
      </p:sp>
      <p:sp>
        <p:nvSpPr>
          <p:cNvPr id="14" name="next-step">
            <a:extLst xmlns:a="http://schemas.openxmlformats.org/drawingml/2006/main">
              <a:ext uri="{FF2B5EF4-FFF2-40B4-BE49-F238E27FC236}">
                <a16:creationId xmlns:a16="http://schemas.microsoft.com/office/drawing/2014/main" id="{E0FA7E4D-A895-4599-8C1E-44590833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9763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Next valid update: collected packages, owner-local evaluation, coverage check, and independent result audit.</a:t>
            </a:r>
          </a:p>
        </p:txBody>
      </p:sp>
      <p:cxnSp>
        <p:nvCxnSpPr>
          <p:cNvPr id="31" name="footer-rule"/>
          <p:cNvCxnSpPr/>
          <p:nvPr/>
        </p:nvCxnSpPr>
        <p:spPr>
          <a:xfrm xmlns:a="http://schemas.openxmlformats.org/drawingml/2006/main">
            <a:off x="685800" y="6248400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cxnSp>
      <p:sp>
        <p:nvSpPr>
          <p:cNvPr id="16" name="footer">
            <a:extLst xmlns:a="http://schemas.openxmlformats.org/drawingml/2006/main">
              <a:ext uri="{FF2B5EF4-FFF2-40B4-BE49-F238E27FC236}">
                <a16:creationId xmlns:a16="http://schemas.microsoft.com/office/drawing/2014/main" id="{06E6F4B0-29DC-42C3-BBCC-10ED51DB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933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52616B"/>
                </a:solidFill>
                <a:latin typeface="Aptos"/>
                <a:ea typeface="Aptos"/>
                <a:cs typeface="Aptos"/>
              </a:rPr>
              <a:t>A4 remains locked pending valid A3 aggregate evidence and audit.</a:t>
            </a:r>
          </a:p>
        </p:txBody>
      </p:sp>
    </p:spTree>
    <p:extLst>
      <p:ext uri="{BB962C8B-B14F-4D97-AF65-F5344CB8AC3E}">
        <p14:creationId xmlns:p14="http://schemas.microsoft.com/office/powerpoint/2010/main" val="2151832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2026-08-18T14:34:32.4210000Z</dcterms:created>
  <dcterms:modified xsi:type="dcterms:W3CDTF">2026-08-18T14:34:32.4210000Z</dcterms:modified>
</coreProperties>
</file>