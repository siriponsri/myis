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d9d58cbfc64278" /><Relationship Type="http://schemas.openxmlformats.org/officeDocument/2006/relationships/extended-properties" Target="/docProps/app.xml" Id="Rc0ab41e5059d4d74" /><Relationship Type="http://schemas.openxmlformats.org/officeDocument/2006/relationships/officeDocument" Target="/ppt/presentation.xml" Id="R1e1dffd625eb4e11" /></Relationships>
</file>

<file path=ppt/presentation.xml><?xml version="1.0" encoding="utf-8"?>
<p:presentation xmlns:p="http://schemas.openxmlformats.org/presentationml/2006/main">
  <p:sldMasterIdLst>
    <p:sldMasterId xmlns:r="http://schemas.openxmlformats.org/officeDocument/2006/relationships" id="2147483648" r:id="Rca8332223c1e42ac"/>
  </p:sldMasterIdLst>
  <p:notesMasterIdLst>
    <p:notesMasterId xmlns:r="http://schemas.openxmlformats.org/officeDocument/2006/relationships" r:id="Rc6289f9a8ea94d00"/>
  </p:notesMasterIdLst>
  <p:sldIdLst>
    <p:sldId xmlns:r="http://schemas.openxmlformats.org/officeDocument/2006/relationships" id="256" r:id="R7898be6b05874821"/>
    <p:sldId xmlns:r="http://schemas.openxmlformats.org/officeDocument/2006/relationships" id="257" r:id="R09221079dbf74a8a"/>
    <p:sldId xmlns:r="http://schemas.openxmlformats.org/officeDocument/2006/relationships" id="258" r:id="R3de6035d5ae34751"/>
    <p:sldId xmlns:r="http://schemas.openxmlformats.org/officeDocument/2006/relationships" id="259" r:id="R2c00668374b943f2"/>
    <p:sldId xmlns:r="http://schemas.openxmlformats.org/officeDocument/2006/relationships" id="260" r:id="R1abffc37bb8546c4"/>
    <p:sldId xmlns:r="http://schemas.openxmlformats.org/officeDocument/2006/relationships" id="261" r:id="R1bc550cc141f4fc6"/>
    <p:sldId xmlns:r="http://schemas.openxmlformats.org/officeDocument/2006/relationships" id="262" r:id="Raac65f4db15c4618"/>
    <p:sldId xmlns:r="http://schemas.openxmlformats.org/officeDocument/2006/relationships" id="263" r:id="R8a28c3e5d4f24481"/>
    <p:sldId xmlns:r="http://schemas.openxmlformats.org/officeDocument/2006/relationships" id="264" r:id="R6be1d54ba55e4838"/>
    <p:sldId xmlns:r="http://schemas.openxmlformats.org/officeDocument/2006/relationships" id="265" r:id="Rd91d6082bf134a37"/>
    <p:sldId xmlns:r="http://schemas.openxmlformats.org/officeDocument/2006/relationships" id="266" r:id="Ra9c8fe99bc204ba1"/>
    <p:sldId xmlns:r="http://schemas.openxmlformats.org/officeDocument/2006/relationships" id="267" r:id="R4fca030de1e242ce"/>
    <p:sldId xmlns:r="http://schemas.openxmlformats.org/officeDocument/2006/relationships" id="268" r:id="R7cffc6adf109452d"/>
    <p:sldId xmlns:r="http://schemas.openxmlformats.org/officeDocument/2006/relationships" id="269" r:id="Rb38eebbfab36483c"/>
    <p:sldId xmlns:r="http://schemas.openxmlformats.org/officeDocument/2006/relationships" id="270" r:id="R68f41981a649421d"/>
    <p:sldId xmlns:r="http://schemas.openxmlformats.org/officeDocument/2006/relationships" id="271" r:id="Rcc91fd64b5554e27"/>
    <p:sldId xmlns:r="http://schemas.openxmlformats.org/officeDocument/2006/relationships" id="272" r:id="R9875e28f2fa54ea6"/>
    <p:sldId xmlns:r="http://schemas.openxmlformats.org/officeDocument/2006/relationships" id="273" r:id="Rc7b591ade1ee4b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a700c526ef45f6" /><Relationship Type="http://schemas.openxmlformats.org/officeDocument/2006/relationships/slideMaster" Target="/ppt/slideMasters/slideMaster1.xml" Id="Rca8332223c1e42ac" /><Relationship Type="http://schemas.openxmlformats.org/officeDocument/2006/relationships/notesMaster" Target="/ppt/notesMasters/notesMaster1.xml" Id="Rc6289f9a8ea94d00" /><Relationship Type="http://schemas.openxmlformats.org/officeDocument/2006/relationships/presProps" Target="/ppt/presProps.xml" Id="R705e1f30a4784bef" /><Relationship Type="http://schemas.openxmlformats.org/officeDocument/2006/relationships/tableStyles" Target="/ppt/tableStyles.xml" Id="R64097f425a104d47" /><Relationship Type="http://schemas.openxmlformats.org/officeDocument/2006/relationships/slide" Target="/ppt/slides/slide1.xml" Id="R7898be6b05874821" /><Relationship Type="http://schemas.openxmlformats.org/officeDocument/2006/relationships/slide" Target="/ppt/slides/slide2.xml" Id="R09221079dbf74a8a" /><Relationship Type="http://schemas.openxmlformats.org/officeDocument/2006/relationships/slide" Target="/ppt/slides/slide3.xml" Id="R3de6035d5ae34751" /><Relationship Type="http://schemas.openxmlformats.org/officeDocument/2006/relationships/slide" Target="/ppt/slides/slide4.xml" Id="R2c00668374b943f2" /><Relationship Type="http://schemas.openxmlformats.org/officeDocument/2006/relationships/slide" Target="/ppt/slides/slide5.xml" Id="R1abffc37bb8546c4" /><Relationship Type="http://schemas.openxmlformats.org/officeDocument/2006/relationships/slide" Target="/ppt/slides/slide6.xml" Id="R1bc550cc141f4fc6" /><Relationship Type="http://schemas.openxmlformats.org/officeDocument/2006/relationships/slide" Target="/ppt/slides/slide7.xml" Id="Raac65f4db15c4618" /><Relationship Type="http://schemas.openxmlformats.org/officeDocument/2006/relationships/slide" Target="/ppt/slides/slide8.xml" Id="R8a28c3e5d4f24481" /><Relationship Type="http://schemas.openxmlformats.org/officeDocument/2006/relationships/slide" Target="/ppt/slides/slide9.xml" Id="R6be1d54ba55e4838" /><Relationship Type="http://schemas.openxmlformats.org/officeDocument/2006/relationships/slide" Target="/ppt/slides/slide10.xml" Id="Rd91d6082bf134a37" /><Relationship Type="http://schemas.openxmlformats.org/officeDocument/2006/relationships/slide" Target="/ppt/slides/slide11.xml" Id="Ra9c8fe99bc204ba1" /><Relationship Type="http://schemas.openxmlformats.org/officeDocument/2006/relationships/slide" Target="/ppt/slides/slide12.xml" Id="R4fca030de1e242ce" /><Relationship Type="http://schemas.openxmlformats.org/officeDocument/2006/relationships/slide" Target="/ppt/slides/slide13.xml" Id="R7cffc6adf109452d" /><Relationship Type="http://schemas.openxmlformats.org/officeDocument/2006/relationships/slide" Target="/ppt/slides/slide14.xml" Id="Rb38eebbfab36483c" /><Relationship Type="http://schemas.openxmlformats.org/officeDocument/2006/relationships/slide" Target="/ppt/slides/slide15.xml" Id="R68f41981a649421d" /><Relationship Type="http://schemas.openxmlformats.org/officeDocument/2006/relationships/slide" Target="/ppt/slides/slide16.xml" Id="Rcc91fd64b5554e27" /><Relationship Type="http://schemas.openxmlformats.org/officeDocument/2006/relationships/slide" Target="/ppt/slides/slide17.xml" Id="R9875e28f2fa54ea6" /><Relationship Type="http://schemas.openxmlformats.org/officeDocument/2006/relationships/slide" Target="/ppt/slides/slide18.xml" Id="Rc7b591ade1ee4b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1c4c9406ad48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rmIndex Studio Editorial">
      <a:dk1>
        <a:srgbClr val="172027"/>
      </a:dk1>
      <a:lt1>
        <a:srgbClr val="FFFFFF"/>
      </a:lt1>
      <a:dk2>
        <a:srgbClr val="23313A"/>
      </a:dk2>
      <a:lt2>
        <a:srgbClr val="DCE5E2"/>
      </a:lt2>
      <a:accent1>
        <a:srgbClr val="0F766E"/>
      </a:accent1>
      <a:accent2>
        <a:srgbClr val="C18119"/>
      </a:accent2>
      <a:accent3>
        <a:srgbClr val="B95059"/>
      </a:accent3>
      <a:accent4>
        <a:srgbClr val="3C6E71"/>
      </a:accent4>
      <a:accent5>
        <a:srgbClr val="6B4E71"/>
      </a:accent5>
      <a:accent6>
        <a:srgbClr val="4C7A64"/>
      </a:accent6>
      <a:hlink>
        <a:srgbClr val="0F766E"/>
      </a:hlink>
      <a:folHlink>
        <a:srgbClr val="B95059"/>
      </a:folHlink>
    </a:clrScheme>
    <a:fontScheme name="Office">
      <a:majorFont>
        <a:latin typeface="Calibri Light"/>
        <a:ea typeface="Calibri Light"/>
        <a:cs typeface="Calibri Light"/>
      </a:majorFont>
      <a:minorFont>
        <a:latin typeface="Calibri"/>
        <a:ea typeface="Calibri"/>
        <a:cs typeface="Calibri"/>
      </a:minorFont>
    </a:fontScheme>
    <a:fmtScheme name="ArmIndex Studio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5d0fb04fdb4d6c" /><Relationship Type="http://schemas.openxmlformats.org/officeDocument/2006/relationships/notesMaster" Target="/ppt/notesMasters/notesMaster1.xml" Id="R9f2b8575579548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3f54e43fa44de1" /><Relationship Type="http://schemas.openxmlformats.org/officeDocument/2006/relationships/notesMaster" Target="/ppt/notesMasters/notesMaster1.xml" Id="R93213b9cbe5b48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cba2ce3c69456b" /><Relationship Type="http://schemas.openxmlformats.org/officeDocument/2006/relationships/notesMaster" Target="/ppt/notesMasters/notesMaster1.xml" Id="R6831cb38f63e4b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345e9bba104535" /><Relationship Type="http://schemas.openxmlformats.org/officeDocument/2006/relationships/notesMaster" Target="/ppt/notesMasters/notesMaster1.xml" Id="R507fbbb218ba4d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133c0884954fb2" /><Relationship Type="http://schemas.openxmlformats.org/officeDocument/2006/relationships/notesMaster" Target="/ppt/notesMasters/notesMaster1.xml" Id="R4505b299cb1b4a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701f7086e94569" /><Relationship Type="http://schemas.openxmlformats.org/officeDocument/2006/relationships/notesMaster" Target="/ppt/notesMasters/notesMaster1.xml" Id="R766792e691c54f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73381a5d9841f8" /><Relationship Type="http://schemas.openxmlformats.org/officeDocument/2006/relationships/notesMaster" Target="/ppt/notesMasters/notesMaster1.xml" Id="Re773815b350344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0cb8a369ec44e0" /><Relationship Type="http://schemas.openxmlformats.org/officeDocument/2006/relationships/notesMaster" Target="/ppt/notesMasters/notesMaster1.xml" Id="R621ce038abd94e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70d7755fa0425e" /><Relationship Type="http://schemas.openxmlformats.org/officeDocument/2006/relationships/notesMaster" Target="/ppt/notesMasters/notesMaster1.xml" Id="Rd6e71a9addfd4f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c43ccffa0c40df" /><Relationship Type="http://schemas.openxmlformats.org/officeDocument/2006/relationships/notesMaster" Target="/ppt/notesMasters/notesMaster1.xml" Id="Ree3c3dbdae0443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dc5bdbeb38464d" /><Relationship Type="http://schemas.openxmlformats.org/officeDocument/2006/relationships/notesMaster" Target="/ppt/notesMasters/notesMaster1.xml" Id="Rc4fe65a4d3004b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4aaebd557a4a2b" /><Relationship Type="http://schemas.openxmlformats.org/officeDocument/2006/relationships/notesMaster" Target="/ppt/notesMasters/notesMaster1.xml" Id="R5f11d4cd02c649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c72396dd4348ba" /><Relationship Type="http://schemas.openxmlformats.org/officeDocument/2006/relationships/notesMaster" Target="/ppt/notesMasters/notesMaster1.xml" Id="R29fa2eeb4b8d4b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5841f8e6ba4d1b" /><Relationship Type="http://schemas.openxmlformats.org/officeDocument/2006/relationships/notesMaster" Target="/ppt/notesMasters/notesMaster1.xml" Id="R34529a946a674b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6e62619f724b22" /><Relationship Type="http://schemas.openxmlformats.org/officeDocument/2006/relationships/notesMaster" Target="/ppt/notesMasters/notesMaster1.xml" Id="Rb17ba98541394f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98eedd4d7b4820" /><Relationship Type="http://schemas.openxmlformats.org/officeDocument/2006/relationships/notesMaster" Target="/ppt/notesMasters/notesMaster1.xml" Id="R5cbbcb5d5bd04d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e0c192fd5449e3" /><Relationship Type="http://schemas.openxmlformats.org/officeDocument/2006/relationships/notesMaster" Target="/ppt/notesMasters/notesMaster1.xml" Id="R14b7a6df5e7c4a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77480a843d4573" /><Relationship Type="http://schemas.openxmlformats.org/officeDocument/2006/relationships/notesMaster" Target="/ppt/notesMasters/notesMaster1.xml" Id="R1b59321b88124a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research question and evidence boundary. A2 is closed with exact aggregate accounting, but its results remain development evidence rather than Selection or Final confirmation.</a:t>
            </a:r>
          </a:p>
          <a:p xmlns:a="http://schemas.openxmlformats.org/drawingml/2006/main">
            <a:r>
              <a:t/>
            </a:r>
          </a:p>
          <a:p xmlns:a="http://schemas.openxmlformats.org/drawingml/2006/main">
            <a:r>
              <a:t>[Sources]</a:t>
            </a:r>
          </a:p>
          <a:p xmlns:a="http://schemas.openxmlformats.org/drawingml/2006/main">
            <a:r>
              <a:t>[P1] ArmIndex Research Plan V02</a:t>
            </a:r>
          </a:p>
          <a:p xmlns:a="http://schemas.openxmlformats.org/drawingml/2006/main">
            <a:r>
              <a:t>[P2] Current campaign plan</a:t>
            </a:r>
          </a:p>
          <a:p xmlns:a="http://schemas.openxmlformats.org/drawingml/2006/main">
            <a:r>
              <a:t>[P11] A2 Goal 004</a:t>
            </a:r>
          </a:p>
          <a:p xmlns:a="http://schemas.openxmlformats.org/drawingml/2006/main">
            <a:r>
              <a:t>[P17] A2 closeout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one isolated chunk is inadequate: patent-family retrieval aggregates several fields and publications. The figure deliberately shows the schema, not a raw protected record.</a:t>
            </a:r>
          </a:p>
          <a:p xmlns:a="http://schemas.openxmlformats.org/drawingml/2006/main">
            <a:r>
              <a:t/>
            </a:r>
          </a:p>
          <a:p xmlns:a="http://schemas.openxmlformats.org/drawingml/2006/main">
            <a:r>
              <a:t>[Sources]</a:t>
            </a:r>
          </a:p>
          <a:p xmlns:a="http://schemas.openxmlformats.org/drawingml/2006/main">
            <a:r>
              <a:t>[P3] DAPFAM source contract</a:t>
            </a:r>
          </a:p>
          <a:p xmlns:a="http://schemas.openxmlformats.org/drawingml/2006/main">
            <a:r>
              <a:t>[R1] DAPFAM dataset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GEPA is methodological lineage, not a reproduced result. A2 uses Official Codex only before measurement to propose/review bounded, falsifiable programs; production retrieval stays deterministic and hash-bound.</a:t>
            </a:r>
          </a:p>
          <a:p xmlns:a="http://schemas.openxmlformats.org/drawingml/2006/main">
            <a:r>
              <a:t/>
            </a:r>
          </a:p>
          <a:p xmlns:a="http://schemas.openxmlformats.org/drawingml/2006/main">
            <a:r>
              <a:t>[Sources]</a:t>
            </a:r>
          </a:p>
          <a:p xmlns:a="http://schemas.openxmlformats.org/drawingml/2006/main">
            <a:r>
              <a:t>[R2] GEPA paper</a:t>
            </a:r>
          </a:p>
          <a:p xmlns:a="http://schemas.openxmlformats.org/drawingml/2006/main">
            <a:r>
              <a:t>[P14] A2 Official Codex bridge</a:t>
            </a:r>
          </a:p>
          <a:p xmlns:a="http://schemas.openxmlformats.org/drawingml/2006/main">
            <a:r>
              <a:t>[P1] ArmIndex Research Plan V02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talk's roadmap. Each phase supports a distinct inference and controls what later phases may adapt on.</a:t>
            </a:r>
          </a:p>
          <a:p xmlns:a="http://schemas.openxmlformats.org/drawingml/2006/main">
            <a:r>
              <a:t/>
            </a:r>
          </a:p>
          <a:p xmlns:a="http://schemas.openxmlformats.org/drawingml/2006/main">
            <a:r>
              <a:t>[Sources]</a:t>
            </a:r>
          </a:p>
          <a:p xmlns:a="http://schemas.openxmlformats.org/drawingml/2006/main">
            <a:r>
              <a:t>[P1] ArmIndex Research Plan V02</a:t>
            </a:r>
          </a:p>
          <a:p xmlns:a="http://schemas.openxmlformats.org/drawingml/2006/main">
            <a:r>
              <a:t>[P13] A3 Extended Goal 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establishes why chunking is part of the scientific treatment rather than preprocessing. Keep the causal claim modest: ArmIndex measures associations under frozen execution, not a universal mechanism.</a:t>
            </a:r>
          </a:p>
          <a:p xmlns:a="http://schemas.openxmlformats.org/drawingml/2006/main">
            <a:r>
              <a:t/>
            </a:r>
          </a:p>
          <a:p xmlns:a="http://schemas.openxmlformats.org/drawingml/2006/main">
            <a:r>
              <a:t>[Sources]</a:t>
            </a:r>
          </a:p>
          <a:p xmlns:a="http://schemas.openxmlformats.org/drawingml/2006/main">
            <a:r>
              <a:t>[P4] Deterministic common-program compiler</a:t>
            </a:r>
          </a:p>
          <a:p xmlns:a="http://schemas.openxmlformats.org/drawingml/2006/main">
            <a:r>
              <a:t>[R1] DAPFAM dataset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Train-250 split uses seed 42 and protected deterministic membership. Explain the role separation before showing any A1 quality result.</a:t>
            </a:r>
          </a:p>
          <a:p xmlns:a="http://schemas.openxmlformats.org/drawingml/2006/main">
            <a:r>
              <a:t/>
            </a:r>
          </a:p>
          <a:p xmlns:a="http://schemas.openxmlformats.org/drawingml/2006/main">
            <a:r>
              <a:t>[Sources]</a:t>
            </a:r>
          </a:p>
          <a:p xmlns:a="http://schemas.openxmlformats.org/drawingml/2006/main">
            <a:r>
              <a:t>[P5] REP/HARNESS split decision</a:t>
            </a:r>
          </a:p>
          <a:p xmlns:a="http://schemas.openxmlformats.org/drawingml/2006/main">
            <a:r>
              <a:t>[P6] A1 publication-impact preregistration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absence of an A0 quality score explicit. The foundation is evidence infrastructure, not a performance claim.</a:t>
            </a:r>
          </a:p>
          <a:p xmlns:a="http://schemas.openxmlformats.org/drawingml/2006/main">
            <a:r>
              <a:t/>
            </a:r>
          </a:p>
          <a:p xmlns:a="http://schemas.openxmlformats.org/drawingml/2006/main">
            <a:r>
              <a:t>[Sources]</a:t>
            </a:r>
          </a:p>
          <a:p xmlns:a="http://schemas.openxmlformats.org/drawingml/2006/main">
            <a:r>
              <a:t>[P7] A0-A2 advisor progress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is a common screen, not a final model-selection result. The only changing treatment is the deterministic representation program; evaluator and role remain fixed.</a:t>
            </a:r>
          </a:p>
          <a:p xmlns:a="http://schemas.openxmlformats.org/drawingml/2006/main">
            <a:r>
              <a:t/>
            </a:r>
          </a:p>
          <a:p xmlns:a="http://schemas.openxmlformats.org/drawingml/2006/main">
            <a:r>
              <a:t>[Sources]</a:t>
            </a:r>
          </a:p>
          <a:p xmlns:a="http://schemas.openxmlformats.org/drawingml/2006/main">
            <a:r>
              <a:t>[P4] Deterministic common-program compiler</a:t>
            </a:r>
          </a:p>
          <a:p xmlns:a="http://schemas.openxmlformats.org/drawingml/2006/main">
            <a:r>
              <a:t>[P8] A1 validated aggregate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arm is bound to a specific model revision and adapter template. ARM-01 has no embedding prompt. ARM-03 remains research/non-commercial. The full exact templates are documented in Appendix B of the material.</a:t>
            </a:r>
          </a:p>
          <a:p xmlns:a="http://schemas.openxmlformats.org/drawingml/2006/main">
            <a:r>
              <a:t/>
            </a:r>
          </a:p>
          <a:p xmlns:a="http://schemas.openxmlformats.org/drawingml/2006/main">
            <a:r>
              <a:t>[Sources]</a:t>
            </a:r>
          </a:p>
          <a:p xmlns:a="http://schemas.openxmlformats.org/drawingml/2006/main">
            <a:r>
              <a:t>[P9] A1 model source locks</a:t>
            </a:r>
          </a:p>
          <a:p xmlns:a="http://schemas.openxmlformats.org/drawingml/2006/main">
            <a:r>
              <a:t>[P10] Frozen dense adapter contract</a:t>
            </a:r>
          </a:p>
          <a:p xmlns:a="http://schemas.openxmlformats.org/drawingml/2006/main">
            <a:r>
              <a:t>[R4]-[R7] Official model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arm means as a quality spread, not a final model selection. The arm-level numbers are 0.191, 0.270, 0.413, 0.341, and 0.364 mean OUT Recall@100 for BM25, BGE-M3, PatEmbed, Arctic, and Qwen3 respectively.</a:t>
            </a:r>
          </a:p>
          <a:p xmlns:a="http://schemas.openxmlformats.org/drawingml/2006/main">
            <a:r>
              <a:t/>
            </a:r>
          </a:p>
          <a:p xmlns:a="http://schemas.openxmlformats.org/drawingml/2006/main">
            <a:r>
              <a:t>[Sources]</a:t>
            </a:r>
          </a:p>
          <a:p xmlns:a="http://schemas.openxmlformats.org/drawingml/2006/main">
            <a:r>
              <a:t>[P8] A1 cell EDA CSV and validated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EDA to distinguish the common-screen pattern from deployment policy. No conclusion is drawn from Recall alone; later phases preserve p95 latency, throughput, cost, RAM, VRAM, and index-size receipts.</a:t>
            </a:r>
          </a:p>
          <a:p xmlns:a="http://schemas.openxmlformats.org/drawingml/2006/main">
            <a:r>
              <a:t/>
            </a:r>
          </a:p>
          <a:p xmlns:a="http://schemas.openxmlformats.org/drawingml/2006/main">
            <a:r>
              <a:t>[Sources]</a:t>
            </a:r>
          </a:p>
          <a:p xmlns:a="http://schemas.openxmlformats.org/drawingml/2006/main">
            <a:r>
              <a:t>[P8] A1 efficiency EDA</a:t>
            </a:r>
          </a:p>
          <a:p xmlns:a="http://schemas.openxmlformats.org/drawingml/2006/main">
            <a:r>
              <a:t>[P13] A3 Extended Goal 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dormant carefully. A dormant reserve candidate is not zero, null, failure, or equal to the baseline. It was not evaluated because its pre-registered admission predicate did not trigger.</a:t>
            </a:r>
          </a:p>
          <a:p xmlns:a="http://schemas.openxmlformats.org/drawingml/2006/main">
            <a:r>
              <a:t/>
            </a:r>
          </a:p>
          <a:p xmlns:a="http://schemas.openxmlformats.org/drawingml/2006/main">
            <a:r>
              <a:t>[Sources]</a:t>
            </a:r>
          </a:p>
          <a:p xmlns:a="http://schemas.openxmlformats.org/drawingml/2006/main">
            <a:r>
              <a:t>[P11] A2 Goal 004</a:t>
            </a:r>
          </a:p>
          <a:p xmlns:a="http://schemas.openxmlformats.org/drawingml/2006/main">
            <a:r>
              <a:t>[P12] A2 execution runbook</a:t>
            </a:r>
          </a:p>
          <a:p xmlns:a="http://schemas.openxmlformats.org/drawingml/2006/main">
            <a:r>
              <a:t>[P14] A2 Official Codex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A2 passed execution closeout and result-integrity audit: 52 equals 44 measured plus 8 dormant, with zero failures, safe return, and worker reaping. ARM-01 and ARM-02 are three-way diagnostic ties with no winner and are excluded. ARM-03, ARM-04, and ARM-05 are the three approved A3 transfer inputs. No Selection or Final claim is supported.</a:t>
            </a:r>
          </a:p>
          <a:p xmlns:a="http://schemas.openxmlformats.org/drawingml/2006/main">
            <a:r>
              <a:t/>
            </a:r>
          </a:p>
          <a:p xmlns:a="http://schemas.openxmlformats.org/drawingml/2006/main">
            <a:r>
              <a:t>[Sources]</a:t>
            </a:r>
          </a:p>
          <a:p xmlns:a="http://schemas.openxmlformats.org/drawingml/2006/main">
            <a:r>
              <a:t>[P11] A2 Goal 004</a:t>
            </a:r>
          </a:p>
          <a:p xmlns:a="http://schemas.openxmlformats.org/drawingml/2006/main">
            <a:r>
              <a:t>[P17] A2 closeout projection</a:t>
            </a:r>
          </a:p>
          <a:p xmlns:a="http://schemas.openxmlformats.org/drawingml/2006/main">
            <a:r>
              <a:t>[P18] A2 execution closeout and integrity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 is prepared but cannot launch. It requires a fresh Owner-authorized hash-bound Train-250 query/corpus/evaluator package, then a fresh provider admission. The three-primary route excludes ARM-01 and ARM-02 permanently from A3 optimization.</a:t>
            </a:r>
          </a:p>
          <a:p xmlns:a="http://schemas.openxmlformats.org/drawingml/2006/main">
            <a:r>
              <a:t/>
            </a:r>
          </a:p>
          <a:p xmlns:a="http://schemas.openxmlformats.org/drawingml/2006/main">
            <a:r>
              <a:t>[Sources]</a:t>
            </a:r>
          </a:p>
          <a:p xmlns:a="http://schemas.openxmlformats.org/drawingml/2006/main">
            <a:r>
              <a:t>[P13] A3 Extended Goal 003</a:t>
            </a:r>
          </a:p>
          <a:p xmlns:a="http://schemas.openxmlformats.org/drawingml/2006/main">
            <a:r>
              <a:t>[P5] REP/HARNESS split decision</a:t>
            </a:r>
          </a:p>
          <a:p xmlns:a="http://schemas.openxmlformats.org/drawingml/2006/main">
            <a:r>
              <a:t>[P17] A2 closeout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evidence sequence. The advisor discussion is whether the A2 evidence justifies the bounded three-primary A3 design and whether its required Train-250 package can be bound without weakening the protocol.</a:t>
            </a:r>
          </a:p>
          <a:p xmlns:a="http://schemas.openxmlformats.org/drawingml/2006/main">
            <a:r>
              <a:t/>
            </a:r>
          </a:p>
          <a:p xmlns:a="http://schemas.openxmlformats.org/drawingml/2006/main">
            <a:r>
              <a:t>[Sources]</a:t>
            </a:r>
          </a:p>
          <a:p xmlns:a="http://schemas.openxmlformats.org/drawingml/2006/main">
            <a:r>
              <a:t>[P1] ArmIndex Research Plan V02</a:t>
            </a:r>
          </a:p>
          <a:p xmlns:a="http://schemas.openxmlformats.org/drawingml/2006/main">
            <a:r>
              <a:t>[P11] A2 Goal 004</a:t>
            </a:r>
          </a:p>
          <a:p xmlns:a="http://schemas.openxmlformats.org/drawingml/2006/main">
            <a:r>
              <a:t>[P13] A3 Extended Goal 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backup slide documents the rationale for the staged split and shows a safe aggregate windowing diagnostic. It does not open protected membership or qrels.</a:t>
            </a:r>
          </a:p>
          <a:p xmlns:a="http://schemas.openxmlformats.org/drawingml/2006/main">
            <a:r>
              <a:t/>
            </a:r>
          </a:p>
          <a:p xmlns:a="http://schemas.openxmlformats.org/drawingml/2006/main">
            <a:r>
              <a:t>[Sources]</a:t>
            </a:r>
          </a:p>
          <a:p xmlns:a="http://schemas.openxmlformats.org/drawingml/2006/main">
            <a:r>
              <a:t>[P5] REP/HARNESS split decision</a:t>
            </a:r>
          </a:p>
          <a:p xmlns:a="http://schemas.openxmlformats.org/drawingml/2006/main">
            <a:r>
              <a:t>[P6] A1 preregistration</a:t>
            </a:r>
          </a:p>
          <a:p xmlns:a="http://schemas.openxmlformats.org/drawingml/2006/main">
            <a:r>
              <a:t>[P8] Dense-overflow EDA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exact binding from the material Appendix A. ARM-02 revision 5617a9f61b028005a4858fdac845db406aefb181; ARM-03 2d5c0f92a3e5dc3d5415c08e612c57543c0e03ad; ARM-04 95c2741480856aa9666782eb4afe11959938017f; ARM-05 97b0c614be4d77ee51c0cef4e5f07c00f9eb65b3.</a:t>
            </a:r>
          </a:p>
          <a:p xmlns:a="http://schemas.openxmlformats.org/drawingml/2006/main">
            <a:r>
              <a:t/>
            </a:r>
          </a:p>
          <a:p xmlns:a="http://schemas.openxmlformats.org/drawingml/2006/main">
            <a:r>
              <a:t>[Sources]</a:t>
            </a:r>
          </a:p>
          <a:p xmlns:a="http://schemas.openxmlformats.org/drawingml/2006/main">
            <a:r>
              <a:t>[P9] A1 model source locks</a:t>
            </a:r>
          </a:p>
          <a:p xmlns:a="http://schemas.openxmlformats.org/drawingml/2006/main">
            <a:r>
              <a:t>[P10] Frozen dense adapter contract</a:t>
            </a:r>
          </a:p>
          <a:p xmlns:a="http://schemas.openxmlformats.org/drawingml/2006/main">
            <a:r>
              <a:t>[R4]-[R7] Official model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exact proposer template:</a:t>
            </a:r>
          </a:p>
          <a:p xmlns:a="http://schemas.openxmlformats.org/drawingml/2006/main">
            <a:r>
              <a:t/>
            </a:r>
          </a:p>
          <a:p xmlns:a="http://schemas.openxmlformats.org/drawingml/2006/main">
            <a:r>
              <a:t>You are the Official Codex representation proposer for a pre-measurement, five-arm patent-retrieval study. Return only JSON matching the supplied output schema.</a:t>
            </a:r>
          </a:p>
          <a:p xmlns:a="http://schemas.openxmlformats.org/drawingml/2006/main">
            <a:r>
              <a:t/>
            </a:r>
          </a:p>
          <a:p xmlns:a="http://schemas.openxmlformats.org/drawingml/2006/main">
            <a:r>
              <a:t>Use only the frozen aggregate-safe payload below. Propose exactly the four requested candidate slots. Preserve every candidate ID and role exactly. Make each hypothesis falsifiable, retriever-conditioned, compatible with the listed source fields, and distinct from the other candidates in the batch. Do not use or request qrels, query IDs, membership, rankings, per-query outcomes, protected text, credentials, provider payloads, or measured results. Do not claim that an unmeasured candidate improves retrieval. Do not expose hidden reasoning.</a:t>
            </a:r>
          </a:p>
          <a:p xmlns:a="http://schemas.openxmlformats.org/drawingml/2006/main">
            <a:r>
              <a:t/>
            </a:r>
          </a:p>
          <a:p xmlns:a="http://schemas.openxmlformats.org/drawingml/2006/main">
            <a:r>
              <a:t>For program fields, use only the allowed source fields and ensure field_order contains exactly the same fields once. Keep logical passage sizes conservative for the declared arm limit. ARM-01 and ARM-02 candidates are diagnostic only when the payload says advancement_eligible=false.</a:t>
            </a:r>
          </a:p>
          <a:p xmlns:a="http://schemas.openxmlformats.org/drawingml/2006/main">
            <a:r>
              <a:t/>
            </a:r>
          </a:p>
          <a:p xmlns:a="http://schemas.openxmlformats.org/drawingml/2006/main">
            <a:r>
              <a:t>Every hypothesis must identify one deterministic representation intervention, the frozen within-arm comparator, the expected direction that can later be falsified, and a concrete failure condition without claiming improvement. Avoid learned, adaptive, data-dependent, ranking-dependent, or unspecified processing. Keep each candidate attributable to its declared axis and explain it in language suitable for a journal ablation. For conditional reserve slots, state that the candidate remains dormant unless the frozen activation predicate is satisfied. Apply every reviewer_required_changes item to its named candidate while keeping the other slots independently valid. On revision rounds, accepted_candidate_ids are immutable: copy those candidates from previous_candidates byte-for-byte, including their hypothesis, program, expected_effect, and failure_risk. Revise only candidate IDs that are not in accepted_candidate_ids. Return all four slots in the canonical order.</a:t>
            </a:r>
          </a:p>
          <a:p xmlns:a="http://schemas.openxmlformats.org/drawingml/2006/main">
            <a:r>
              <a:t/>
            </a:r>
          </a:p>
          <a:p xmlns:a="http://schemas.openxmlformats.org/drawingml/2006/main">
            <a:r>
              <a:t>Operation payload:</a:t>
            </a:r>
          </a:p>
          <a:p xmlns:a="http://schemas.openxmlformats.org/drawingml/2006/main">
            <a:r>
              <a:t/>
            </a:r>
          </a:p>
          <a:p xmlns:a="http://schemas.openxmlformats.org/drawingml/2006/main">
            <a:r>
              <a:t>{{OPERATION_PAYLOAD_JSON}}</a:t>
            </a:r>
          </a:p>
          <a:p xmlns:a="http://schemas.openxmlformats.org/drawingml/2006/main">
            <a:r>
              <a:t/>
            </a:r>
          </a:p>
          <a:p xmlns:a="http://schemas.openxmlformats.org/drawingml/2006/main">
            <a:r>
              <a:t>Full exact reviewer template:</a:t>
            </a:r>
          </a:p>
          <a:p xmlns:a="http://schemas.openxmlformats.org/drawingml/2006/main">
            <a:r>
              <a:t/>
            </a:r>
          </a:p>
          <a:p xmlns:a="http://schemas.openxmlformats.org/drawingml/2006/main">
            <a:r>
              <a:t>You are the independent Official Codex reviewer for a frozen pre-measurement representation-candidate batch. Return only JSON matching the supplied output schema.</a:t>
            </a:r>
          </a:p>
          <a:p xmlns:a="http://schemas.openxmlformats.org/drawingml/2006/main">
            <a:r>
              <a:t/>
            </a:r>
          </a:p>
          <a:p xmlns:a="http://schemas.openxmlformats.org/drawingml/2006/main">
            <a:r>
              <a:t>Review only the frozen aggregate-safe context and candidate payload below. You have no proposer transcript and no measured outcomes. Preserve every candidate ID. Check falsifiability, role fit, duplication, protected-boundary safety, arm compatibility, deterministic interpretability, and publication interpretability. Accept only candidates that satisfy every check. Required changes must be specific and must not alter the frozen evaluator, metrics, A1 promotion, model weights, protected split, or diagnostic non-advancement. Do not expose hidden reasoning.</a:t>
            </a:r>
          </a:p>
          <a:p xmlns:a="http://schemas.openxmlformats.org/drawingml/2006/main">
            <a:r>
              <a:t/>
            </a:r>
          </a:p>
          <a:p xmlns:a="http://schemas.openxmlformats.org/drawingml/2006/main">
            <a:r>
              <a:t>previously_accepted_candidate_ids were accepted in an earlier independent review and are required to be byte-identical in this round. Recheck them, but do not request stylistic changes or reinterpret their scientific semantics. Reject a previously accepted candidate only for a concrete newly observed safety, determinism, duplication, or contract defect.</a:t>
            </a:r>
          </a:p>
          <a:p xmlns:a="http://schemas.openxmlformats.org/drawingml/2006/main">
            <a:r>
              <a:t/>
            </a:r>
          </a:p>
          <a:p xmlns:a="http://schemas.openxmlformats.org/drawingml/2006/main">
            <a:r>
              <a:t>Operation payload:</a:t>
            </a:r>
          </a:p>
          <a:p xmlns:a="http://schemas.openxmlformats.org/drawingml/2006/main">
            <a:r>
              <a:t/>
            </a:r>
          </a:p>
          <a:p xmlns:a="http://schemas.openxmlformats.org/drawingml/2006/main">
            <a:r>
              <a:t>{{OPERATION_PAYLOAD_JSON}}</a:t>
            </a:r>
          </a:p>
          <a:p xmlns:a="http://schemas.openxmlformats.org/drawingml/2006/main">
            <a:r>
              <a:t/>
            </a:r>
          </a:p>
          <a:p xmlns:a="http://schemas.openxmlformats.org/drawingml/2006/main">
            <a:r>
              <a:t>[Sources]</a:t>
            </a:r>
          </a:p>
          <a:p xmlns:a="http://schemas.openxmlformats.org/drawingml/2006/main">
            <a:r>
              <a:t>[P14] A2 Official Codex bridge</a:t>
            </a:r>
          </a:p>
          <a:p xmlns:a="http://schemas.openxmlformats.org/drawingml/2006/main">
            <a:r>
              <a:t>[P15] A2 representation proposer prompt</a:t>
            </a:r>
          </a:p>
          <a:p xmlns:a="http://schemas.openxmlformats.org/drawingml/2006/main">
            <a:r>
              <a:t>[P16] A2 representation reviewer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455b2091a542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57ece850f94c47" /><Relationship Type="http://schemas.openxmlformats.org/officeDocument/2006/relationships/slideLayout" Target="/ppt/slideLayouts/slideLayout1.xml" Id="Rd9094cb5a0b14b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094cb5a0b14b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rmIndex Studio Editorial">
      <a:dk1>
        <a:srgbClr val="172027"/>
      </a:dk1>
      <a:lt1>
        <a:srgbClr val="FFFFFF"/>
      </a:lt1>
      <a:dk2>
        <a:srgbClr val="23313A"/>
      </a:dk2>
      <a:lt2>
        <a:srgbClr val="DCE5E2"/>
      </a:lt2>
      <a:accent1>
        <a:srgbClr val="0F766E"/>
      </a:accent1>
      <a:accent2>
        <a:srgbClr val="C18119"/>
      </a:accent2>
      <a:accent3>
        <a:srgbClr val="B95059"/>
      </a:accent3>
      <a:accent4>
        <a:srgbClr val="3C6E71"/>
      </a:accent4>
      <a:accent5>
        <a:srgbClr val="6B4E71"/>
      </a:accent5>
      <a:accent6>
        <a:srgbClr val="4C7A64"/>
      </a:accent6>
      <a:hlink>
        <a:srgbClr val="0F766E"/>
      </a:hlink>
      <a:folHlink>
        <a:srgbClr val="B95059"/>
      </a:folHlink>
    </a:clrScheme>
    <a:fontScheme name="Office">
      <a:majorFont>
        <a:latin typeface="Calibri Light"/>
        <a:ea typeface="Calibri Light"/>
        <a:cs typeface="Calibri Light"/>
      </a:majorFont>
      <a:minorFont>
        <a:latin typeface="Calibri"/>
        <a:ea typeface="Calibri"/>
        <a:cs typeface="Calibri"/>
      </a:minorFont>
    </a:fontScheme>
    <a:fmtScheme name="ArmIndex Studio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d10a7ddd2a459b" /><Relationship Type="http://schemas.openxmlformats.org/officeDocument/2006/relationships/image" Target="/ppt/media/image.png" Id="R7ba80f70459d440e" /><Relationship Type="http://schemas.openxmlformats.org/officeDocument/2006/relationships/notesSlide" Target="/ppt/notesSlides/notesSlide1.xml" Id="R03c53fe04f3146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7a36a53468454f" /><Relationship Type="http://schemas.openxmlformats.org/officeDocument/2006/relationships/image" Target="/ppt/media/image2.png" Id="R4f3beb66c2ad4870" /><Relationship Type="http://schemas.openxmlformats.org/officeDocument/2006/relationships/notesSlide" Target="/ppt/notesSlides/notesSlide2.xml" Id="R34fd09991f5542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a67cb78a3b4b25" /><Relationship Type="http://schemas.openxmlformats.org/officeDocument/2006/relationships/image" Target="/ppt/media/image3.png" Id="Ref243edd7ac749b9" /><Relationship Type="http://schemas.openxmlformats.org/officeDocument/2006/relationships/notesSlide" Target="/ppt/notesSlides/notesSlide3.xml" Id="R9c3e58658a4449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a7256574664527" /><Relationship Type="http://schemas.openxmlformats.org/officeDocument/2006/relationships/image" Target="/ppt/media/image4.png" Id="R43f8f778954d4a27" /><Relationship Type="http://schemas.openxmlformats.org/officeDocument/2006/relationships/notesSlide" Target="/ppt/notesSlides/notesSlide4.xml" Id="Rfdb13925f0fb45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3745293f93434f" /><Relationship Type="http://schemas.openxmlformats.org/officeDocument/2006/relationships/image" Target="/ppt/media/image5.png" Id="Rc3586d9f74f44dea" /><Relationship Type="http://schemas.openxmlformats.org/officeDocument/2006/relationships/notesSlide" Target="/ppt/notesSlides/notesSlide5.xml" Id="Rd44251b826ff40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4b92ef8a50464a" /><Relationship Type="http://schemas.openxmlformats.org/officeDocument/2006/relationships/image" Target="/ppt/media/image6.png" Id="R991def22d97e4c3b" /><Relationship Type="http://schemas.openxmlformats.org/officeDocument/2006/relationships/notesSlide" Target="/ppt/notesSlides/notesSlide6.xml" Id="R3b6e1539b99546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a76b6eab4b41a6" /><Relationship Type="http://schemas.openxmlformats.org/officeDocument/2006/relationships/image" Target="/ppt/media/image7.png" Id="Rcd45dcd937ab4047" /><Relationship Type="http://schemas.openxmlformats.org/officeDocument/2006/relationships/notesSlide" Target="/ppt/notesSlides/notesSlide7.xml" Id="Rba4cca9f986345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ad5516b8b14231" /><Relationship Type="http://schemas.openxmlformats.org/officeDocument/2006/relationships/image" Target="/ppt/media/image8.png" Id="Rcd00f8e7a8bc4bfe" /><Relationship Type="http://schemas.openxmlformats.org/officeDocument/2006/relationships/notesSlide" Target="/ppt/notesSlides/notesSlide8.xml" Id="Rad7f6908421d4e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795e1d1d134bbf" /><Relationship Type="http://schemas.openxmlformats.org/officeDocument/2006/relationships/notesSlide" Target="/ppt/notesSlides/notesSlide9.xml" Id="Rbf43c51c2ef54f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780353bea24994" /><Relationship Type="http://schemas.openxmlformats.org/officeDocument/2006/relationships/image" Target="/ppt/media/image9.png" Id="R67a292e01b9647e9" /><Relationship Type="http://schemas.openxmlformats.org/officeDocument/2006/relationships/notesSlide" Target="/ppt/notesSlides/notesSlide10.xml" Id="R2bae4b6669e543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1daa5b84604cec" /><Relationship Type="http://schemas.openxmlformats.org/officeDocument/2006/relationships/image" Target="/ppt/media/image10.png" Id="R3de8eab254cf4f3e" /><Relationship Type="http://schemas.openxmlformats.org/officeDocument/2006/relationships/notesSlide" Target="/ppt/notesSlides/notesSlide11.xml" Id="R7c0359f7c14848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742ee165c04769" /><Relationship Type="http://schemas.openxmlformats.org/officeDocument/2006/relationships/image" Target="/ppt/media/image11.png" Id="Rb6ddd30f27ac43e7" /><Relationship Type="http://schemas.openxmlformats.org/officeDocument/2006/relationships/notesSlide" Target="/ppt/notesSlides/notesSlide12.xml" Id="Rf7bbcf3f0bb848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80ebea7d654ad2" /><Relationship Type="http://schemas.openxmlformats.org/officeDocument/2006/relationships/image" Target="/ppt/media/image12.png" Id="R428a48aa6a9948af" /><Relationship Type="http://schemas.openxmlformats.org/officeDocument/2006/relationships/notesSlide" Target="/ppt/notesSlides/notesSlide13.xml" Id="R11a48c2a5d534e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f526dfa9b774333" /><Relationship Type="http://schemas.openxmlformats.org/officeDocument/2006/relationships/image" Target="/ppt/media/image13.png" Id="Rbd9924a5ab59495f" /><Relationship Type="http://schemas.openxmlformats.org/officeDocument/2006/relationships/notesSlide" Target="/ppt/notesSlides/notesSlide14.xml" Id="R1d38dc1a78fa4b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6d71e5a2dc4bd1" /><Relationship Type="http://schemas.openxmlformats.org/officeDocument/2006/relationships/notesSlide" Target="/ppt/notesSlides/notesSlide15.xml" Id="R600f8fc1691644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c23e76f1b2f42bc" /><Relationship Type="http://schemas.openxmlformats.org/officeDocument/2006/relationships/image" Target="/ppt/media/image14.png" Id="Rc6cea85aa94d4698" /><Relationship Type="http://schemas.openxmlformats.org/officeDocument/2006/relationships/notesSlide" Target="/ppt/notesSlides/notesSlide16.xml" Id="R70690494375346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d4af854b8d4080" /><Relationship Type="http://schemas.openxmlformats.org/officeDocument/2006/relationships/notesSlide" Target="/ppt/notesSlides/notesSlide17.xml" Id="R6605dff8a385459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11bf08fc5834fec" /><Relationship Type="http://schemas.openxmlformats.org/officeDocument/2006/relationships/notesSlide" Target="/ppt/notesSlides/notesSlide18.xml" Id="R8023d48071554c48"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0" name="cover-kicker">
            <a:extLst xmlns:a="http://schemas.openxmlformats.org/drawingml/2006/main">
              <a:ext uri="{FF2B5EF4-FFF2-40B4-BE49-F238E27FC236}">
                <a16:creationId xmlns:a16="http://schemas.microsoft.com/office/drawing/2014/main" id="{05BBDFB0-FC02-4383-930B-E4AC20CA8176}"/>
              </a:ext>
            </a:extLst>
          </p:cNvPr>
          <p:cNvSpPr>
            <a:spLocks xmlns:a="http://schemas.openxmlformats.org/drawingml/2006/main" noGrp="1"/>
          </p:cNvSpPr>
          <p:nvPr/>
        </p:nvSpPr>
        <p:spPr>
          <a:xfrm xmlns:a="http://schemas.openxmlformats.org/drawingml/2006/main">
            <a:off x="685800" y="609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1">
                <a:solidFill>
                  <a:srgbClr val="0F766E"/>
                </a:solidFill>
                <a:latin typeface="Aptos"/>
                <a:ea typeface="Aptos"/>
                <a:cs typeface="Aptos"/>
              </a:defRPr>
            </a:pPr>
            <a:r>
              <a:rPr sz="1125" b="1">
                <a:solidFill>
                  <a:srgbClr val="0F766E"/>
                </a:solidFill>
                <a:latin typeface="Aptos"/>
                <a:ea typeface="Aptos"/>
                <a:cs typeface="Aptos"/>
              </a:rPr>
              <a:t>ADVISOR UPDATE | 18 AUGUST 2026</a:t>
            </a:r>
          </a:p>
        </p:txBody>
      </p:sp>
      <p:sp>
        <p:nvSpPr>
          <p:cNvPr id="2" name="cover-title">
            <a:extLst xmlns:a="http://schemas.openxmlformats.org/drawingml/2006/main">
              <a:ext uri="{FF2B5EF4-FFF2-40B4-BE49-F238E27FC236}">
                <a16:creationId xmlns:a16="http://schemas.microsoft.com/office/drawing/2014/main" id="{0D399C46-E6EC-4DA9-BFC2-3401206BAEB8}"/>
              </a:ext>
            </a:extLst>
          </p:cNvPr>
          <p:cNvSpPr>
            <a:spLocks xmlns:a="http://schemas.openxmlformats.org/drawingml/2006/main" noGrp="1"/>
          </p:cNvSpPr>
          <p:nvPr/>
        </p:nvSpPr>
        <p:spPr>
          <a:xfrm xmlns:a="http://schemas.openxmlformats.org/drawingml/2006/main">
            <a:off x="685800" y="1352550"/>
            <a:ext cx="542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5700" b="1">
                <a:solidFill>
                  <a:srgbClr val="172027"/>
                </a:solidFill>
                <a:latin typeface="Cambria"/>
                <a:ea typeface="Cambria"/>
                <a:cs typeface="Cambria"/>
              </a:defRPr>
            </a:pPr>
            <a:r>
              <a:rPr sz="5700" b="1">
                <a:solidFill>
                  <a:srgbClr val="172027"/>
                </a:solidFill>
                <a:latin typeface="Cambria"/>
                <a:ea typeface="Cambria"/>
                <a:cs typeface="Cambria"/>
              </a:rPr>
              <a:t>ArmIndex</a:t>
            </a:r>
          </a:p>
        </p:txBody>
      </p:sp>
      <p:sp>
        <p:nvSpPr>
          <p:cNvPr id="3" name="cover-subtitle">
            <a:extLst xmlns:a="http://schemas.openxmlformats.org/drawingml/2006/main">
              <a:ext uri="{FF2B5EF4-FFF2-40B4-BE49-F238E27FC236}">
                <a16:creationId xmlns:a16="http://schemas.microsoft.com/office/drawing/2014/main" id="{BE504D47-0425-4433-9432-0EB0BCFE37EB}"/>
              </a:ext>
            </a:extLst>
          </p:cNvPr>
          <p:cNvSpPr>
            <a:spLocks xmlns:a="http://schemas.openxmlformats.org/drawingml/2006/main" noGrp="1"/>
          </p:cNvSpPr>
          <p:nvPr/>
        </p:nvSpPr>
        <p:spPr>
          <a:xfrm xmlns:a="http://schemas.openxmlformats.org/drawingml/2006/main">
            <a:off x="685800" y="2400300"/>
            <a:ext cx="5619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52606D"/>
                </a:solidFill>
                <a:latin typeface="Aptos"/>
                <a:ea typeface="Aptos"/>
                <a:cs typeface="Aptos"/>
              </a:defRPr>
            </a:pPr>
            <a:r>
              <a:rPr sz="2250" b="0">
                <a:solidFill>
                  <a:srgbClr val="52606D"/>
                </a:solidFill>
                <a:latin typeface="Aptos"/>
                <a:ea typeface="Aptos"/>
                <a:cs typeface="Aptos"/>
              </a:rPr>
              <a:t>Retriever-conditioned representation search for cross-domain patent retrieval.</a:t>
            </a:r>
          </a:p>
        </p:txBody>
      </p:sp>
      <p:sp>
        <p:nvSpPr>
          <p:cNvPr id="4" name="rule">
            <a:extLst xmlns:a="http://schemas.openxmlformats.org/drawingml/2006/main">
              <a:ext uri="{FF2B5EF4-FFF2-40B4-BE49-F238E27FC236}">
                <a16:creationId xmlns:a16="http://schemas.microsoft.com/office/drawing/2014/main" id="{EDA04F48-4886-4453-A12A-FB67A466C16D}"/>
              </a:ext>
            </a:extLst>
          </p:cNvPr>
          <p:cNvSpPr>
            <a:spLocks xmlns:a="http://schemas.openxmlformats.org/drawingml/2006/main" noGrp="1"/>
          </p:cNvSpPr>
          <p:nvPr/>
        </p:nvSpPr>
        <p:spPr>
          <a:xfrm xmlns:a="http://schemas.openxmlformats.org/drawingml/2006/main">
            <a:off x="685800" y="3486150"/>
            <a:ext cx="1809750" cy="4762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5" name="cover-claim">
            <a:extLst xmlns:a="http://schemas.openxmlformats.org/drawingml/2006/main">
              <a:ext uri="{FF2B5EF4-FFF2-40B4-BE49-F238E27FC236}">
                <a16:creationId xmlns:a16="http://schemas.microsoft.com/office/drawing/2014/main" id="{6549062D-BEA3-45BF-9D57-2956A5F03F3E}"/>
              </a:ext>
            </a:extLst>
          </p:cNvPr>
          <p:cNvSpPr>
            <a:spLocks xmlns:a="http://schemas.openxmlformats.org/drawingml/2006/main" noGrp="1"/>
          </p:cNvSpPr>
          <p:nvPr/>
        </p:nvSpPr>
        <p:spPr>
          <a:xfrm xmlns:a="http://schemas.openxmlformats.org/drawingml/2006/main">
            <a:off x="685800" y="3733800"/>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172027"/>
                </a:solidFill>
                <a:latin typeface="Aptos"/>
                <a:ea typeface="Aptos"/>
                <a:cs typeface="Aptos"/>
              </a:defRPr>
            </a:pPr>
            <a:r>
              <a:rPr sz="1725" b="0">
                <a:solidFill>
                  <a:srgbClr val="172027"/>
                </a:solidFill>
                <a:latin typeface="Aptos"/>
                <a:ea typeface="Aptos"/>
                <a:cs typeface="Aptos"/>
              </a:rPr>
              <a:t>A controlled sequence: foundation -&gt; common screen -&gt; per-arm search -&gt; transfer and harness design.</a:t>
            </a:r>
          </a:p>
        </p:txBody>
      </p:sp>
      <p:sp>
        <p:nvSpPr>
          <p:cNvPr id="6" name="rule">
            <a:extLst xmlns:a="http://schemas.openxmlformats.org/drawingml/2006/main">
              <a:ext uri="{FF2B5EF4-FFF2-40B4-BE49-F238E27FC236}">
                <a16:creationId xmlns:a16="http://schemas.microsoft.com/office/drawing/2014/main" id="{7057D21A-DC2B-4215-870C-1AA71286206F}"/>
              </a:ext>
            </a:extLst>
          </p:cNvPr>
          <p:cNvSpPr>
            <a:spLocks xmlns:a="http://schemas.openxmlformats.org/drawingml/2006/main" noGrp="1"/>
          </p:cNvSpPr>
          <p:nvPr/>
        </p:nvSpPr>
        <p:spPr>
          <a:xfrm xmlns:a="http://schemas.openxmlformats.org/drawingml/2006/main">
            <a:off x="685800" y="4762500"/>
            <a:ext cx="170180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7" name="phase-code-0">
            <a:extLst xmlns:a="http://schemas.openxmlformats.org/drawingml/2006/main">
              <a:ext uri="{FF2B5EF4-FFF2-40B4-BE49-F238E27FC236}">
                <a16:creationId xmlns:a16="http://schemas.microsoft.com/office/drawing/2014/main" id="{6DAEF40A-A54B-4962-A6B2-AD3D0E66F903}"/>
              </a:ext>
            </a:extLst>
          </p:cNvPr>
          <p:cNvSpPr>
            <a:spLocks xmlns:a="http://schemas.openxmlformats.org/drawingml/2006/main" noGrp="1"/>
          </p:cNvSpPr>
          <p:nvPr/>
        </p:nvSpPr>
        <p:spPr>
          <a:xfrm xmlns:a="http://schemas.openxmlformats.org/drawingml/2006/main">
            <a:off x="685800" y="4933950"/>
            <a:ext cx="170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0F766E"/>
                </a:solidFill>
                <a:latin typeface="Aptos"/>
                <a:ea typeface="Aptos"/>
                <a:cs typeface="Aptos"/>
              </a:defRPr>
            </a:pPr>
            <a:r>
              <a:rPr sz="1875" b="1">
                <a:solidFill>
                  <a:srgbClr val="0F766E"/>
                </a:solidFill>
                <a:latin typeface="Aptos"/>
                <a:ea typeface="Aptos"/>
                <a:cs typeface="Aptos"/>
              </a:rPr>
              <a:t>A0</a:t>
            </a:r>
          </a:p>
        </p:txBody>
      </p:sp>
      <p:sp>
        <p:nvSpPr>
          <p:cNvPr id="8" name="phase-state-0">
            <a:extLst xmlns:a="http://schemas.openxmlformats.org/drawingml/2006/main">
              <a:ext uri="{FF2B5EF4-FFF2-40B4-BE49-F238E27FC236}">
                <a16:creationId xmlns:a16="http://schemas.microsoft.com/office/drawing/2014/main" id="{329444B2-A6E0-421C-86A2-43E196D4E63A}"/>
              </a:ext>
            </a:extLst>
          </p:cNvPr>
          <p:cNvSpPr>
            <a:spLocks xmlns:a="http://schemas.openxmlformats.org/drawingml/2006/main" noGrp="1"/>
          </p:cNvSpPr>
          <p:nvPr/>
        </p:nvSpPr>
        <p:spPr>
          <a:xfrm xmlns:a="http://schemas.openxmlformats.org/drawingml/2006/main">
            <a:off x="685800" y="5276850"/>
            <a:ext cx="170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Complete</a:t>
            </a:r>
          </a:p>
        </p:txBody>
      </p:sp>
      <p:sp>
        <p:nvSpPr>
          <p:cNvPr id="9" name="phase-note-0">
            <a:extLst xmlns:a="http://schemas.openxmlformats.org/drawingml/2006/main">
              <a:ext uri="{FF2B5EF4-FFF2-40B4-BE49-F238E27FC236}">
                <a16:creationId xmlns:a16="http://schemas.microsoft.com/office/drawing/2014/main" id="{BE7A9285-C139-40B7-B1B8-080D4FB586EE}"/>
              </a:ext>
            </a:extLst>
          </p:cNvPr>
          <p:cNvSpPr>
            <a:spLocks xmlns:a="http://schemas.openxmlformats.org/drawingml/2006/main" noGrp="1"/>
          </p:cNvSpPr>
          <p:nvPr/>
        </p:nvSpPr>
        <p:spPr>
          <a:xfrm xmlns:a="http://schemas.openxmlformats.org/drawingml/2006/main">
            <a:off x="685800" y="5657850"/>
            <a:ext cx="1701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2606D"/>
                </a:solidFill>
                <a:latin typeface="Aptos"/>
                <a:ea typeface="Aptos"/>
                <a:cs typeface="Aptos"/>
              </a:defRPr>
            </a:pPr>
            <a:r>
              <a:rPr sz="1350" b="0">
                <a:solidFill>
                  <a:srgbClr val="52606D"/>
                </a:solidFill>
                <a:latin typeface="Aptos"/>
                <a:ea typeface="Aptos"/>
                <a:cs typeface="Aptos"/>
              </a:rPr>
              <a:t>Reproducibility foundation</a:t>
            </a:r>
          </a:p>
        </p:txBody>
      </p:sp>
      <p:sp>
        <p:nvSpPr>
          <p:cNvPr id="10" name="rule">
            <a:extLst xmlns:a="http://schemas.openxmlformats.org/drawingml/2006/main">
              <a:ext uri="{FF2B5EF4-FFF2-40B4-BE49-F238E27FC236}">
                <a16:creationId xmlns:a16="http://schemas.microsoft.com/office/drawing/2014/main" id="{96C24970-D15C-4894-9B4B-0DA197EE3D99}"/>
              </a:ext>
            </a:extLst>
          </p:cNvPr>
          <p:cNvSpPr>
            <a:spLocks xmlns:a="http://schemas.openxmlformats.org/drawingml/2006/main" noGrp="1"/>
          </p:cNvSpPr>
          <p:nvPr/>
        </p:nvSpPr>
        <p:spPr>
          <a:xfrm xmlns:a="http://schemas.openxmlformats.org/drawingml/2006/main">
            <a:off x="2559050" y="4762500"/>
            <a:ext cx="1701800" cy="381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1" name="phase-code-1">
            <a:extLst xmlns:a="http://schemas.openxmlformats.org/drawingml/2006/main">
              <a:ext uri="{FF2B5EF4-FFF2-40B4-BE49-F238E27FC236}">
                <a16:creationId xmlns:a16="http://schemas.microsoft.com/office/drawing/2014/main" id="{9394B9C0-B5D1-4EE8-AA52-A811CB8855FB}"/>
              </a:ext>
            </a:extLst>
          </p:cNvPr>
          <p:cNvSpPr>
            <a:spLocks xmlns:a="http://schemas.openxmlformats.org/drawingml/2006/main" noGrp="1"/>
          </p:cNvSpPr>
          <p:nvPr/>
        </p:nvSpPr>
        <p:spPr>
          <a:xfrm xmlns:a="http://schemas.openxmlformats.org/drawingml/2006/main">
            <a:off x="2559050" y="4933950"/>
            <a:ext cx="170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C18119"/>
                </a:solidFill>
                <a:latin typeface="Aptos"/>
                <a:ea typeface="Aptos"/>
                <a:cs typeface="Aptos"/>
              </a:defRPr>
            </a:pPr>
            <a:r>
              <a:rPr sz="1875" b="1">
                <a:solidFill>
                  <a:srgbClr val="C18119"/>
                </a:solidFill>
                <a:latin typeface="Aptos"/>
                <a:ea typeface="Aptos"/>
                <a:cs typeface="Aptos"/>
              </a:rPr>
              <a:t>A1</a:t>
            </a:r>
          </a:p>
        </p:txBody>
      </p:sp>
      <p:sp>
        <p:nvSpPr>
          <p:cNvPr id="12" name="phase-state-1">
            <a:extLst xmlns:a="http://schemas.openxmlformats.org/drawingml/2006/main">
              <a:ext uri="{FF2B5EF4-FFF2-40B4-BE49-F238E27FC236}">
                <a16:creationId xmlns:a16="http://schemas.microsoft.com/office/drawing/2014/main" id="{BB6AB6E3-6F70-4CA1-9D3C-745975CE3EB0}"/>
              </a:ext>
            </a:extLst>
          </p:cNvPr>
          <p:cNvSpPr>
            <a:spLocks xmlns:a="http://schemas.openxmlformats.org/drawingml/2006/main" noGrp="1"/>
          </p:cNvSpPr>
          <p:nvPr/>
        </p:nvSpPr>
        <p:spPr>
          <a:xfrm xmlns:a="http://schemas.openxmlformats.org/drawingml/2006/main">
            <a:off x="2559050" y="5276850"/>
            <a:ext cx="170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25 / 25</a:t>
            </a:r>
          </a:p>
        </p:txBody>
      </p:sp>
      <p:sp>
        <p:nvSpPr>
          <p:cNvPr id="13" name="phase-note-1">
            <a:extLst xmlns:a="http://schemas.openxmlformats.org/drawingml/2006/main">
              <a:ext uri="{FF2B5EF4-FFF2-40B4-BE49-F238E27FC236}">
                <a16:creationId xmlns:a16="http://schemas.microsoft.com/office/drawing/2014/main" id="{A2DEC7FD-404B-4912-BDEE-0C928B86154E}"/>
              </a:ext>
            </a:extLst>
          </p:cNvPr>
          <p:cNvSpPr>
            <a:spLocks xmlns:a="http://schemas.openxmlformats.org/drawingml/2006/main" noGrp="1"/>
          </p:cNvSpPr>
          <p:nvPr/>
        </p:nvSpPr>
        <p:spPr>
          <a:xfrm xmlns:a="http://schemas.openxmlformats.org/drawingml/2006/main">
            <a:off x="2559050" y="5657850"/>
            <a:ext cx="1701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2606D"/>
                </a:solidFill>
                <a:latin typeface="Aptos"/>
                <a:ea typeface="Aptos"/>
                <a:cs typeface="Aptos"/>
              </a:defRPr>
            </a:pPr>
            <a:r>
              <a:rPr sz="1350" b="0">
                <a:solidFill>
                  <a:srgbClr val="52606D"/>
                </a:solidFill>
                <a:latin typeface="Aptos"/>
                <a:ea typeface="Aptos"/>
                <a:cs typeface="Aptos"/>
              </a:rPr>
              <a:t>Measured REP-DEV screen</a:t>
            </a:r>
          </a:p>
        </p:txBody>
      </p:sp>
      <p:sp>
        <p:nvSpPr>
          <p:cNvPr id="14" name="rule">
            <a:extLst xmlns:a="http://schemas.openxmlformats.org/drawingml/2006/main">
              <a:ext uri="{FF2B5EF4-FFF2-40B4-BE49-F238E27FC236}">
                <a16:creationId xmlns:a16="http://schemas.microsoft.com/office/drawing/2014/main" id="{1BCFE73B-167F-409E-97BE-B37782484AD5}"/>
              </a:ext>
            </a:extLst>
          </p:cNvPr>
          <p:cNvSpPr>
            <a:spLocks xmlns:a="http://schemas.openxmlformats.org/drawingml/2006/main" noGrp="1"/>
          </p:cNvSpPr>
          <p:nvPr/>
        </p:nvSpPr>
        <p:spPr>
          <a:xfrm xmlns:a="http://schemas.openxmlformats.org/drawingml/2006/main">
            <a:off x="4432300" y="4762500"/>
            <a:ext cx="1701800" cy="38100"/>
          </a:xfrm>
          <a:prstGeom xmlns:a="http://schemas.openxmlformats.org/drawingml/2006/main" prst="rect">
            <a:avLst/>
          </a:prstGeom>
          <a:solidFill xmlns:a="http://schemas.openxmlformats.org/drawingml/2006/main">
            <a:srgbClr val="B95059"/>
          </a:solidFill>
          <a:ln xmlns:a="http://schemas.openxmlformats.org/drawingml/2006/main" w="0">
            <a:noFill/>
            <a:prstDash val="solid"/>
          </a:ln>
        </p:spPr>
      </p:sp>
      <p:sp>
        <p:nvSpPr>
          <p:cNvPr id="15" name="phase-code-2">
            <a:extLst xmlns:a="http://schemas.openxmlformats.org/drawingml/2006/main">
              <a:ext uri="{FF2B5EF4-FFF2-40B4-BE49-F238E27FC236}">
                <a16:creationId xmlns:a16="http://schemas.microsoft.com/office/drawing/2014/main" id="{7E796591-0BEB-4D9E-975B-5EB1711B0FD3}"/>
              </a:ext>
            </a:extLst>
          </p:cNvPr>
          <p:cNvSpPr>
            <a:spLocks xmlns:a="http://schemas.openxmlformats.org/drawingml/2006/main" noGrp="1"/>
          </p:cNvSpPr>
          <p:nvPr/>
        </p:nvSpPr>
        <p:spPr>
          <a:xfrm xmlns:a="http://schemas.openxmlformats.org/drawingml/2006/main">
            <a:off x="4432300" y="4933950"/>
            <a:ext cx="170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95059"/>
                </a:solidFill>
                <a:latin typeface="Aptos"/>
                <a:ea typeface="Aptos"/>
                <a:cs typeface="Aptos"/>
              </a:defRPr>
            </a:pPr>
            <a:r>
              <a:rPr sz="1875" b="1">
                <a:solidFill>
                  <a:srgbClr val="B95059"/>
                </a:solidFill>
                <a:latin typeface="Aptos"/>
                <a:ea typeface="Aptos"/>
                <a:cs typeface="Aptos"/>
              </a:rPr>
              <a:t>A2</a:t>
            </a:r>
          </a:p>
        </p:txBody>
      </p:sp>
      <p:sp>
        <p:nvSpPr>
          <p:cNvPr id="16" name="phase-state-2">
            <a:extLst xmlns:a="http://schemas.openxmlformats.org/drawingml/2006/main">
              <a:ext uri="{FF2B5EF4-FFF2-40B4-BE49-F238E27FC236}">
                <a16:creationId xmlns:a16="http://schemas.microsoft.com/office/drawing/2014/main" id="{BEAEAFA0-10B2-4A61-A5E0-DFF46C1C7998}"/>
              </a:ext>
            </a:extLst>
          </p:cNvPr>
          <p:cNvSpPr>
            <a:spLocks xmlns:a="http://schemas.openxmlformats.org/drawingml/2006/main" noGrp="1"/>
          </p:cNvSpPr>
          <p:nvPr/>
        </p:nvSpPr>
        <p:spPr>
          <a:xfrm xmlns:a="http://schemas.openxmlformats.org/drawingml/2006/main">
            <a:off x="4432300" y="5276850"/>
            <a:ext cx="170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Closed</a:t>
            </a:r>
          </a:p>
        </p:txBody>
      </p:sp>
      <p:sp>
        <p:nvSpPr>
          <p:cNvPr id="17" name="phase-note-2">
            <a:extLst xmlns:a="http://schemas.openxmlformats.org/drawingml/2006/main">
              <a:ext uri="{FF2B5EF4-FFF2-40B4-BE49-F238E27FC236}">
                <a16:creationId xmlns:a16="http://schemas.microsoft.com/office/drawing/2014/main" id="{F5A065FC-DAE5-40C9-AC67-C0D5C25C8E8E}"/>
              </a:ext>
            </a:extLst>
          </p:cNvPr>
          <p:cNvSpPr>
            <a:spLocks xmlns:a="http://schemas.openxmlformats.org/drawingml/2006/main" noGrp="1"/>
          </p:cNvSpPr>
          <p:nvPr/>
        </p:nvSpPr>
        <p:spPr>
          <a:xfrm xmlns:a="http://schemas.openxmlformats.org/drawingml/2006/main">
            <a:off x="4432300" y="5657850"/>
            <a:ext cx="1701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2606D"/>
                </a:solidFill>
                <a:latin typeface="Aptos"/>
                <a:ea typeface="Aptos"/>
                <a:cs typeface="Aptos"/>
              </a:defRPr>
            </a:pPr>
            <a:r>
              <a:rPr sz="1350" b="0">
                <a:solidFill>
                  <a:srgbClr val="52606D"/>
                </a:solidFill>
                <a:latin typeface="Aptos"/>
                <a:ea typeface="Aptos"/>
                <a:cs typeface="Aptos"/>
              </a:rPr>
              <a:t>44 measured; 8 dormant</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ba80f70459d440e"/>
          <a:stretch xmlns:a="http://schemas.openxmlformats.org/drawingml/2006/main"/>
        </p:blipFill>
        <p:spPr>
          <a:xfrm xmlns:a="http://schemas.openxmlformats.org/drawingml/2006/main">
            <a:off x="6705600" y="1899047"/>
            <a:ext cx="4762500" cy="2678906"/>
          </a:xfrm>
          <a:prstGeom xmlns:a="http://schemas.openxmlformats.org/drawingml/2006/main" prst="rect">
            <a:avLst/>
          </a:prstGeom>
        </p:spPr>
      </p:pic>
      <p:sp>
        <p:nvSpPr>
          <p:cNvPr id="19" name="cover-boundary">
            <a:extLst xmlns:a="http://schemas.openxmlformats.org/drawingml/2006/main">
              <a:ext uri="{FF2B5EF4-FFF2-40B4-BE49-F238E27FC236}">
                <a16:creationId xmlns:a16="http://schemas.microsoft.com/office/drawing/2014/main" id="{C4270268-446B-473D-AA47-8F1CC96926E5}"/>
              </a:ext>
            </a:extLst>
          </p:cNvPr>
          <p:cNvSpPr>
            <a:spLocks xmlns:a="http://schemas.openxmlformats.org/drawingml/2006/main" noGrp="1"/>
          </p:cNvSpPr>
          <p:nvPr/>
        </p:nvSpPr>
        <p:spPr>
          <a:xfrm xmlns:a="http://schemas.openxmlformats.org/drawingml/2006/main">
            <a:off x="6705600" y="57340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2606D"/>
                </a:solidFill>
                <a:latin typeface="Aptos"/>
                <a:ea typeface="Aptos"/>
                <a:cs typeface="Aptos"/>
              </a:defRPr>
            </a:pPr>
            <a:r>
              <a:rPr sz="1350" b="0">
                <a:solidFill>
                  <a:srgbClr val="52606D"/>
                </a:solidFill>
                <a:latin typeface="Aptos"/>
                <a:ea typeface="Aptos"/>
                <a:cs typeface="Aptos"/>
              </a:rPr>
              <a:t>A2 has receipt-bound aggregate development evidence; A3 awaits a hash-bound Train-250 package.</a:t>
            </a:r>
          </a:p>
        </p:txBody>
      </p:sp>
    </p:spTree>
    <p:extLst>
      <p:ext uri="{BB962C8B-B14F-4D97-AF65-F5344CB8AC3E}">
        <p14:creationId xmlns:p14="http://schemas.microsoft.com/office/powerpoint/2010/main" val="805327180"/>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B9CEE87-C66C-4D15-9B14-6BFA8506DFA3}"/>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CONTEXT | DAPFAM</a:t>
            </a:r>
          </a:p>
        </p:txBody>
      </p:sp>
      <p:sp>
        <p:nvSpPr>
          <p:cNvPr id="2" name="rule">
            <a:extLst xmlns:a="http://schemas.openxmlformats.org/drawingml/2006/main">
              <a:ext uri="{FF2B5EF4-FFF2-40B4-BE49-F238E27FC236}">
                <a16:creationId xmlns:a16="http://schemas.microsoft.com/office/drawing/2014/main" id="{2D842106-8B12-4C5F-983E-8B7BC06A3652}"/>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934192F5-46FE-4597-A726-EF9EC9DBCD3A}"/>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02 / 18</a:t>
            </a:r>
          </a:p>
        </p:txBody>
      </p:sp>
      <p:sp>
        <p:nvSpPr>
          <p:cNvPr id="4" name="slide-title">
            <a:extLst xmlns:a="http://schemas.openxmlformats.org/drawingml/2006/main">
              <a:ext uri="{FF2B5EF4-FFF2-40B4-BE49-F238E27FC236}">
                <a16:creationId xmlns:a16="http://schemas.microsoft.com/office/drawing/2014/main" id="{31BE843E-054C-496D-ACA2-FDFD67120140}"/>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 patent family is the retrieval unit</a:t>
            </a:r>
          </a:p>
        </p:txBody>
      </p:sp>
      <p:sp>
        <p:nvSpPr>
          <p:cNvPr id="5" name="slide-subtitle">
            <a:extLst xmlns:a="http://schemas.openxmlformats.org/drawingml/2006/main">
              <a:ext uri="{FF2B5EF4-FFF2-40B4-BE49-F238E27FC236}">
                <a16:creationId xmlns:a16="http://schemas.microsoft.com/office/drawing/2014/main" id="{092D236E-BE78-426A-916B-63E4B034FD3A}"/>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A family carries heterogeneous technical and legal text across its ordered fields.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f3beb66c2ad4870"/>
          <a:stretch xmlns:a="http://schemas.openxmlformats.org/drawingml/2006/main"/>
        </p:blipFill>
        <p:spPr>
          <a:xfrm xmlns:a="http://schemas.openxmlformats.org/drawingml/2006/main">
            <a:off x="685800" y="2085975"/>
            <a:ext cx="5943600" cy="3343275"/>
          </a:xfrm>
          <a:prstGeom xmlns:a="http://schemas.openxmlformats.org/drawingml/2006/main" prst="rect">
            <a:avLst/>
          </a:prstGeom>
        </p:spPr>
      </p:pic>
      <p:sp>
        <p:nvSpPr>
          <p:cNvPr id="7" name="bullet-dot-0">
            <a:extLst xmlns:a="http://schemas.openxmlformats.org/drawingml/2006/main">
              <a:ext uri="{FF2B5EF4-FFF2-40B4-BE49-F238E27FC236}">
                <a16:creationId xmlns:a16="http://schemas.microsoft.com/office/drawing/2014/main" id="{9EDD3574-38B3-4D25-82BB-9DC7BE310516}"/>
              </a:ext>
            </a:extLst>
          </p:cNvPr>
          <p:cNvSpPr>
            <a:spLocks xmlns:a="http://schemas.openxmlformats.org/drawingml/2006/main" noGrp="1"/>
          </p:cNvSpPr>
          <p:nvPr/>
        </p:nvSpPr>
        <p:spPr>
          <a:xfrm xmlns:a="http://schemas.openxmlformats.org/drawingml/2006/main">
            <a:off x="7143750" y="2286000"/>
            <a:ext cx="762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bullet-0">
            <a:extLst xmlns:a="http://schemas.openxmlformats.org/drawingml/2006/main">
              <a:ext uri="{FF2B5EF4-FFF2-40B4-BE49-F238E27FC236}">
                <a16:creationId xmlns:a16="http://schemas.microsoft.com/office/drawing/2014/main" id="{72C4C39F-6BDB-4A5B-ACF5-185CD29D84A6}"/>
              </a:ext>
            </a:extLst>
          </p:cNvPr>
          <p:cNvSpPr>
            <a:spLocks xmlns:a="http://schemas.openxmlformats.org/drawingml/2006/main" noGrp="1"/>
          </p:cNvSpPr>
          <p:nvPr/>
        </p:nvSpPr>
        <p:spPr>
          <a:xfrm xmlns:a="http://schemas.openxmlformats.org/drawingml/2006/main">
            <a:off x="7353300" y="2190750"/>
            <a:ext cx="4076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72027"/>
                </a:solidFill>
                <a:latin typeface="Aptos"/>
                <a:ea typeface="Aptos"/>
                <a:cs typeface="Aptos"/>
              </a:defRPr>
            </a:pPr>
            <a:r>
              <a:rPr sz="1725" b="0">
                <a:solidFill>
                  <a:srgbClr val="172027"/>
                </a:solidFill>
                <a:latin typeface="Aptos"/>
                <a:ea typeface="Aptos"/>
                <a:cs typeface="Aptos"/>
              </a:rPr>
              <a:t>45,336 target families; 1,247 query families; 49,869 evaluation rows.</a:t>
            </a:r>
          </a:p>
        </p:txBody>
      </p:sp>
      <p:sp>
        <p:nvSpPr>
          <p:cNvPr id="9" name="bullet-dot-1">
            <a:extLst xmlns:a="http://schemas.openxmlformats.org/drawingml/2006/main">
              <a:ext uri="{FF2B5EF4-FFF2-40B4-BE49-F238E27FC236}">
                <a16:creationId xmlns:a16="http://schemas.microsoft.com/office/drawing/2014/main" id="{E4EDC33D-C2B4-464E-A980-932B17951BA2}"/>
              </a:ext>
            </a:extLst>
          </p:cNvPr>
          <p:cNvSpPr>
            <a:spLocks xmlns:a="http://schemas.openxmlformats.org/drawingml/2006/main" noGrp="1"/>
          </p:cNvSpPr>
          <p:nvPr/>
        </p:nvSpPr>
        <p:spPr>
          <a:xfrm xmlns:a="http://schemas.openxmlformats.org/drawingml/2006/main">
            <a:off x="7143750" y="318135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0" name="bullet-1">
            <a:extLst xmlns:a="http://schemas.openxmlformats.org/drawingml/2006/main">
              <a:ext uri="{FF2B5EF4-FFF2-40B4-BE49-F238E27FC236}">
                <a16:creationId xmlns:a16="http://schemas.microsoft.com/office/drawing/2014/main" id="{3D252DB7-AEEE-4CBF-84C8-2DA0EEDDD62F}"/>
              </a:ext>
            </a:extLst>
          </p:cNvPr>
          <p:cNvSpPr>
            <a:spLocks xmlns:a="http://schemas.openxmlformats.org/drawingml/2006/main" noGrp="1"/>
          </p:cNvSpPr>
          <p:nvPr/>
        </p:nvSpPr>
        <p:spPr>
          <a:xfrm xmlns:a="http://schemas.openxmlformats.org/drawingml/2006/main">
            <a:off x="7353300" y="3086100"/>
            <a:ext cx="4076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72027"/>
                </a:solidFill>
                <a:latin typeface="Aptos"/>
                <a:ea typeface="Aptos"/>
                <a:cs typeface="Aptos"/>
              </a:defRPr>
            </a:pPr>
            <a:r>
              <a:rPr sz="1725" b="0">
                <a:solidFill>
                  <a:srgbClr val="172027"/>
                </a:solidFill>
                <a:latin typeface="Aptos"/>
                <a:ea typeface="Aptos"/>
                <a:cs typeface="Aptos"/>
              </a:rPr>
              <a:t>IN shares at least one IPC3; OUT shares none.</a:t>
            </a:r>
          </a:p>
        </p:txBody>
      </p:sp>
      <p:sp>
        <p:nvSpPr>
          <p:cNvPr id="11" name="bullet-dot-2">
            <a:extLst xmlns:a="http://schemas.openxmlformats.org/drawingml/2006/main">
              <a:ext uri="{FF2B5EF4-FFF2-40B4-BE49-F238E27FC236}">
                <a16:creationId xmlns:a16="http://schemas.microsoft.com/office/drawing/2014/main" id="{727A3806-7988-461F-B767-451F7346D1B0}"/>
              </a:ext>
            </a:extLst>
          </p:cNvPr>
          <p:cNvSpPr>
            <a:spLocks xmlns:a="http://schemas.openxmlformats.org/drawingml/2006/main" noGrp="1"/>
          </p:cNvSpPr>
          <p:nvPr/>
        </p:nvSpPr>
        <p:spPr>
          <a:xfrm xmlns:a="http://schemas.openxmlformats.org/drawingml/2006/main">
            <a:off x="7143750" y="40767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2" name="bullet-2">
            <a:extLst xmlns:a="http://schemas.openxmlformats.org/drawingml/2006/main">
              <a:ext uri="{FF2B5EF4-FFF2-40B4-BE49-F238E27FC236}">
                <a16:creationId xmlns:a16="http://schemas.microsoft.com/office/drawing/2014/main" id="{F01E6FF5-46C1-45BE-B697-4EC068C8FDF9}"/>
              </a:ext>
            </a:extLst>
          </p:cNvPr>
          <p:cNvSpPr>
            <a:spLocks xmlns:a="http://schemas.openxmlformats.org/drawingml/2006/main" noGrp="1"/>
          </p:cNvSpPr>
          <p:nvPr/>
        </p:nvSpPr>
        <p:spPr>
          <a:xfrm xmlns:a="http://schemas.openxmlformats.org/drawingml/2006/main">
            <a:off x="7353300" y="3981450"/>
            <a:ext cx="4076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72027"/>
                </a:solidFill>
                <a:latin typeface="Aptos"/>
                <a:ea typeface="Aptos"/>
                <a:cs typeface="Aptos"/>
              </a:defRPr>
            </a:pPr>
            <a:r>
              <a:rPr sz="1725" b="0">
                <a:solidFill>
                  <a:srgbClr val="172027"/>
                </a:solidFill>
                <a:latin typeface="Aptos"/>
                <a:ea typeface="Aptos"/>
                <a:cs typeface="Aptos"/>
              </a:rPr>
              <a:t>Citation relevance is an examiner proxy, not a legal conclusion.</a:t>
            </a:r>
          </a:p>
        </p:txBody>
      </p:sp>
      <p:sp>
        <p:nvSpPr>
          <p:cNvPr id="13" name="safe-data-note">
            <a:extLst xmlns:a="http://schemas.openxmlformats.org/drawingml/2006/main">
              <a:ext uri="{FF2B5EF4-FFF2-40B4-BE49-F238E27FC236}">
                <a16:creationId xmlns:a16="http://schemas.microsoft.com/office/drawing/2014/main" id="{10F32A20-6023-45C7-A356-E49794E74985}"/>
              </a:ext>
            </a:extLst>
          </p:cNvPr>
          <p:cNvSpPr>
            <a:spLocks xmlns:a="http://schemas.openxmlformats.org/drawingml/2006/main" noGrp="1"/>
          </p:cNvSpPr>
          <p:nvPr/>
        </p:nvSpPr>
        <p:spPr>
          <a:xfrm xmlns:a="http://schemas.openxmlformats.org/drawingml/2006/main">
            <a:off x="7143750" y="514350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1">
                <a:solidFill>
                  <a:srgbClr val="B95059"/>
                </a:solidFill>
                <a:latin typeface="Aptos"/>
                <a:ea typeface="Aptos"/>
                <a:cs typeface="Aptos"/>
              </a:defRPr>
            </a:pPr>
            <a:r>
              <a:rPr sz="1425" b="1">
                <a:solidFill>
                  <a:srgbClr val="B95059"/>
                </a:solidFill>
                <a:latin typeface="Aptos"/>
                <a:ea typeface="Aptos"/>
                <a:cs typeface="Aptos"/>
              </a:rPr>
              <a:t>Raw patent text, IDs, qrels, rankings, and per-query outcomes remain Owner-local.</a:t>
            </a:r>
          </a:p>
        </p:txBody>
      </p:sp>
    </p:spTree>
    <p:extLst>
      <p:ext uri="{BB962C8B-B14F-4D97-AF65-F5344CB8AC3E}">
        <p14:creationId xmlns:p14="http://schemas.microsoft.com/office/powerpoint/2010/main" val="1535036343"/>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EA689197-5A9D-4DDD-911D-312B806479C2}"/>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METHODOLOGICAL LINEAGE | GEPA</a:t>
            </a:r>
          </a:p>
        </p:txBody>
      </p:sp>
      <p:sp>
        <p:nvSpPr>
          <p:cNvPr id="2" name="rule">
            <a:extLst xmlns:a="http://schemas.openxmlformats.org/drawingml/2006/main">
              <a:ext uri="{FF2B5EF4-FFF2-40B4-BE49-F238E27FC236}">
                <a16:creationId xmlns:a16="http://schemas.microsoft.com/office/drawing/2014/main" id="{D44462E7-64F7-4549-8F02-958F51FE66E4}"/>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BDECE6EC-A8F4-4CFA-AD60-CDC5FC99BBCF}"/>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03 / 18</a:t>
            </a:r>
          </a:p>
        </p:txBody>
      </p:sp>
      <p:sp>
        <p:nvSpPr>
          <p:cNvPr id="4" name="slide-title">
            <a:extLst xmlns:a="http://schemas.openxmlformats.org/drawingml/2006/main">
              <a:ext uri="{FF2B5EF4-FFF2-40B4-BE49-F238E27FC236}">
                <a16:creationId xmlns:a16="http://schemas.microsoft.com/office/drawing/2014/main" id="{8B31ED9A-D741-4C3A-8041-D07CC8EE5355}"/>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GEPA motivates bounded program search</a:t>
            </a:r>
          </a:p>
        </p:txBody>
      </p:sp>
      <p:sp>
        <p:nvSpPr>
          <p:cNvPr id="5" name="slide-subtitle">
            <a:extLst xmlns:a="http://schemas.openxmlformats.org/drawingml/2006/main">
              <a:ext uri="{FF2B5EF4-FFF2-40B4-BE49-F238E27FC236}">
                <a16:creationId xmlns:a16="http://schemas.microsoft.com/office/drawing/2014/main" id="{CDAFA375-5A58-4EF8-87E8-BE63DDF3241F}"/>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target changes: executable document representations, not free-form answer prompts.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f243edd7ac749b9"/>
          <a:stretch xmlns:a="http://schemas.openxmlformats.org/drawingml/2006/main"/>
        </p:blipFill>
        <p:spPr>
          <a:xfrm xmlns:a="http://schemas.openxmlformats.org/drawingml/2006/main">
            <a:off x="6286500" y="2114550"/>
            <a:ext cx="5181600" cy="2914650"/>
          </a:xfrm>
          <a:prstGeom xmlns:a="http://schemas.openxmlformats.org/drawingml/2006/main" prst="rect">
            <a:avLst/>
          </a:prstGeom>
        </p:spPr>
      </p:pic>
      <p:sp>
        <p:nvSpPr>
          <p:cNvPr id="7" name="rule">
            <a:extLst xmlns:a="http://schemas.openxmlformats.org/drawingml/2006/main">
              <a:ext uri="{FF2B5EF4-FFF2-40B4-BE49-F238E27FC236}">
                <a16:creationId xmlns:a16="http://schemas.microsoft.com/office/drawing/2014/main" id="{FA243AEF-30BF-4293-9DFA-C733724AC9F7}"/>
              </a:ext>
            </a:extLst>
          </p:cNvPr>
          <p:cNvSpPr>
            <a:spLocks xmlns:a="http://schemas.openxmlformats.org/drawingml/2006/main" noGrp="1"/>
          </p:cNvSpPr>
          <p:nvPr/>
        </p:nvSpPr>
        <p:spPr>
          <a:xfrm xmlns:a="http://schemas.openxmlformats.org/drawingml/2006/main">
            <a:off x="685800" y="2095500"/>
            <a:ext cx="4953000" cy="4762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GEPA lineage-label">
            <a:extLst xmlns:a="http://schemas.openxmlformats.org/drawingml/2006/main">
              <a:ext uri="{FF2B5EF4-FFF2-40B4-BE49-F238E27FC236}">
                <a16:creationId xmlns:a16="http://schemas.microsoft.com/office/drawing/2014/main" id="{43DA9E4E-3C37-4186-8D19-4CBF1548A268}"/>
              </a:ext>
            </a:extLst>
          </p:cNvPr>
          <p:cNvSpPr>
            <a:spLocks xmlns:a="http://schemas.openxmlformats.org/drawingml/2006/main" noGrp="1"/>
          </p:cNvSpPr>
          <p:nvPr/>
        </p:nvSpPr>
        <p:spPr>
          <a:xfrm xmlns:a="http://schemas.openxmlformats.org/drawingml/2006/main">
            <a:off x="685800" y="22669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0F766E"/>
                </a:solidFill>
                <a:latin typeface="Cambria"/>
                <a:ea typeface="Cambria"/>
                <a:cs typeface="Cambria"/>
              </a:defRPr>
            </a:pPr>
            <a:r>
              <a:rPr sz="1725" b="1">
                <a:solidFill>
                  <a:srgbClr val="0F766E"/>
                </a:solidFill>
                <a:latin typeface="Cambria"/>
                <a:ea typeface="Cambria"/>
                <a:cs typeface="Cambria"/>
              </a:rPr>
              <a:t>GEPA lineage</a:t>
            </a:r>
          </a:p>
        </p:txBody>
      </p:sp>
      <p:sp>
        <p:nvSpPr>
          <p:cNvPr id="9" name="GEPA lineage-detail">
            <a:extLst xmlns:a="http://schemas.openxmlformats.org/drawingml/2006/main">
              <a:ext uri="{FF2B5EF4-FFF2-40B4-BE49-F238E27FC236}">
                <a16:creationId xmlns:a16="http://schemas.microsoft.com/office/drawing/2014/main" id="{BBD06C3C-8631-43F9-9504-4AF932E19DDD}"/>
              </a:ext>
            </a:extLst>
          </p:cNvPr>
          <p:cNvSpPr>
            <a:spLocks xmlns:a="http://schemas.openxmlformats.org/drawingml/2006/main" noGrp="1"/>
          </p:cNvSpPr>
          <p:nvPr/>
        </p:nvSpPr>
        <p:spPr>
          <a:xfrm xmlns:a="http://schemas.openxmlformats.org/drawingml/2006/main">
            <a:off x="685800" y="2609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575" b="0">
                <a:solidFill>
                  <a:srgbClr val="172027"/>
                </a:solidFill>
                <a:latin typeface="Aptos"/>
                <a:ea typeface="Aptos"/>
                <a:cs typeface="Aptos"/>
              </a:defRPr>
            </a:pPr>
            <a:r>
              <a:rPr sz="1575" b="0">
                <a:solidFill>
                  <a:srgbClr val="172027"/>
                </a:solidFill>
                <a:latin typeface="Aptos"/>
                <a:ea typeface="Aptos"/>
                <a:cs typeface="Aptos"/>
              </a:rPr>
              <a:t>Reflective, evidence-driven optimization within a constrained text space.</a:t>
            </a:r>
          </a:p>
        </p:txBody>
      </p:sp>
      <p:sp>
        <p:nvSpPr>
          <p:cNvPr id="10" name="rule">
            <a:extLst xmlns:a="http://schemas.openxmlformats.org/drawingml/2006/main">
              <a:ext uri="{FF2B5EF4-FFF2-40B4-BE49-F238E27FC236}">
                <a16:creationId xmlns:a16="http://schemas.microsoft.com/office/drawing/2014/main" id="{D4A857ED-C221-4D49-9167-27A0882724D7}"/>
              </a:ext>
            </a:extLst>
          </p:cNvPr>
          <p:cNvSpPr>
            <a:spLocks xmlns:a="http://schemas.openxmlformats.org/drawingml/2006/main" noGrp="1"/>
          </p:cNvSpPr>
          <p:nvPr/>
        </p:nvSpPr>
        <p:spPr>
          <a:xfrm xmlns:a="http://schemas.openxmlformats.org/drawingml/2006/main">
            <a:off x="685800" y="3409950"/>
            <a:ext cx="4953000" cy="47625"/>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1" name="ArmIndex adaptation-label">
            <a:extLst xmlns:a="http://schemas.openxmlformats.org/drawingml/2006/main">
              <a:ext uri="{FF2B5EF4-FFF2-40B4-BE49-F238E27FC236}">
                <a16:creationId xmlns:a16="http://schemas.microsoft.com/office/drawing/2014/main" id="{2BFB97CA-CECC-4B63-B1E7-BA59D137EC88}"/>
              </a:ext>
            </a:extLst>
          </p:cNvPr>
          <p:cNvSpPr>
            <a:spLocks xmlns:a="http://schemas.openxmlformats.org/drawingml/2006/main" noGrp="1"/>
          </p:cNvSpPr>
          <p:nvPr/>
        </p:nvSpPr>
        <p:spPr>
          <a:xfrm xmlns:a="http://schemas.openxmlformats.org/drawingml/2006/main">
            <a:off x="685800" y="3581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C18119"/>
                </a:solidFill>
                <a:latin typeface="Cambria"/>
                <a:ea typeface="Cambria"/>
                <a:cs typeface="Cambria"/>
              </a:defRPr>
            </a:pPr>
            <a:r>
              <a:rPr sz="1725" b="1">
                <a:solidFill>
                  <a:srgbClr val="C18119"/>
                </a:solidFill>
                <a:latin typeface="Cambria"/>
                <a:ea typeface="Cambria"/>
                <a:cs typeface="Cambria"/>
              </a:rPr>
              <a:t>ArmIndex adaptation</a:t>
            </a:r>
          </a:p>
        </p:txBody>
      </p:sp>
      <p:sp>
        <p:nvSpPr>
          <p:cNvPr id="12" name="ArmIndex adaptation-detail">
            <a:extLst xmlns:a="http://schemas.openxmlformats.org/drawingml/2006/main">
              <a:ext uri="{FF2B5EF4-FFF2-40B4-BE49-F238E27FC236}">
                <a16:creationId xmlns:a16="http://schemas.microsoft.com/office/drawing/2014/main" id="{D6F97352-20A1-4A98-87A3-BC6141F427F6}"/>
              </a:ext>
            </a:extLst>
          </p:cNvPr>
          <p:cNvSpPr>
            <a:spLocks xmlns:a="http://schemas.openxmlformats.org/drawingml/2006/main" noGrp="1"/>
          </p:cNvSpPr>
          <p:nvPr/>
        </p:nvSpPr>
        <p:spPr>
          <a:xfrm xmlns:a="http://schemas.openxmlformats.org/drawingml/2006/main">
            <a:off x="685800" y="39243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575" b="0">
                <a:solidFill>
                  <a:srgbClr val="172027"/>
                </a:solidFill>
                <a:latin typeface="Aptos"/>
                <a:ea typeface="Aptos"/>
                <a:cs typeface="Aptos"/>
              </a:defRPr>
            </a:pPr>
            <a:r>
              <a:rPr sz="1575" b="0">
                <a:solidFill>
                  <a:srgbClr val="172027"/>
                </a:solidFill>
                <a:latin typeface="Aptos"/>
                <a:ea typeface="Aptos"/>
                <a:cs typeface="Aptos"/>
              </a:rPr>
              <a:t>A schema-valid representation program is frozen before deterministic retrieval.</a:t>
            </a:r>
          </a:p>
        </p:txBody>
      </p:sp>
      <p:sp>
        <p:nvSpPr>
          <p:cNvPr id="13" name="rule">
            <a:extLst xmlns:a="http://schemas.openxmlformats.org/drawingml/2006/main">
              <a:ext uri="{FF2B5EF4-FFF2-40B4-BE49-F238E27FC236}">
                <a16:creationId xmlns:a16="http://schemas.microsoft.com/office/drawing/2014/main" id="{71CD24E1-2EF5-43E5-BD8C-507A3D0A4DB6}"/>
              </a:ext>
            </a:extLst>
          </p:cNvPr>
          <p:cNvSpPr>
            <a:spLocks xmlns:a="http://schemas.openxmlformats.org/drawingml/2006/main" noGrp="1"/>
          </p:cNvSpPr>
          <p:nvPr/>
        </p:nvSpPr>
        <p:spPr>
          <a:xfrm xmlns:a="http://schemas.openxmlformats.org/drawingml/2006/main">
            <a:off x="685800" y="4724400"/>
            <a:ext cx="4953000" cy="47625"/>
          </a:xfrm>
          <a:prstGeom xmlns:a="http://schemas.openxmlformats.org/drawingml/2006/main" prst="rect">
            <a:avLst/>
          </a:prstGeom>
          <a:solidFill xmlns:a="http://schemas.openxmlformats.org/drawingml/2006/main">
            <a:srgbClr val="B95059"/>
          </a:solidFill>
          <a:ln xmlns:a="http://schemas.openxmlformats.org/drawingml/2006/main" w="0">
            <a:noFill/>
            <a:prstDash val="solid"/>
          </a:ln>
        </p:spPr>
      </p:sp>
      <p:sp>
        <p:nvSpPr>
          <p:cNvPr id="14" name="Scientific boundary-label">
            <a:extLst xmlns:a="http://schemas.openxmlformats.org/drawingml/2006/main">
              <a:ext uri="{FF2B5EF4-FFF2-40B4-BE49-F238E27FC236}">
                <a16:creationId xmlns:a16="http://schemas.microsoft.com/office/drawing/2014/main" id="{9BA7812E-BD1F-49E6-992E-B1D07C74FB7B}"/>
              </a:ext>
            </a:extLst>
          </p:cNvPr>
          <p:cNvSpPr>
            <a:spLocks xmlns:a="http://schemas.openxmlformats.org/drawingml/2006/main" noGrp="1"/>
          </p:cNvSpPr>
          <p:nvPr/>
        </p:nvSpPr>
        <p:spPr>
          <a:xfrm xmlns:a="http://schemas.openxmlformats.org/drawingml/2006/main">
            <a:off x="685800" y="4895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B95059"/>
                </a:solidFill>
                <a:latin typeface="Cambria"/>
                <a:ea typeface="Cambria"/>
                <a:cs typeface="Cambria"/>
              </a:defRPr>
            </a:pPr>
            <a:r>
              <a:rPr sz="1725" b="1">
                <a:solidFill>
                  <a:srgbClr val="B95059"/>
                </a:solidFill>
                <a:latin typeface="Cambria"/>
                <a:ea typeface="Cambria"/>
                <a:cs typeface="Cambria"/>
              </a:rPr>
              <a:t>Scientific boundary</a:t>
            </a:r>
          </a:p>
        </p:txBody>
      </p:sp>
      <p:sp>
        <p:nvSpPr>
          <p:cNvPr id="15" name="Scientific boundary-detail">
            <a:extLst xmlns:a="http://schemas.openxmlformats.org/drawingml/2006/main">
              <a:ext uri="{FF2B5EF4-FFF2-40B4-BE49-F238E27FC236}">
                <a16:creationId xmlns:a16="http://schemas.microsoft.com/office/drawing/2014/main" id="{E4218B32-D46A-48A2-ADA2-1356D64CDB3A}"/>
              </a:ext>
            </a:extLst>
          </p:cNvPr>
          <p:cNvSpPr>
            <a:spLocks xmlns:a="http://schemas.openxmlformats.org/drawingml/2006/main" noGrp="1"/>
          </p:cNvSpPr>
          <p:nvPr/>
        </p:nvSpPr>
        <p:spPr>
          <a:xfrm xmlns:a="http://schemas.openxmlformats.org/drawingml/2006/main">
            <a:off x="685800" y="52387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575" b="0">
                <a:solidFill>
                  <a:srgbClr val="172027"/>
                </a:solidFill>
                <a:latin typeface="Aptos"/>
                <a:ea typeface="Aptos"/>
                <a:cs typeface="Aptos"/>
              </a:defRPr>
            </a:pPr>
            <a:r>
              <a:rPr sz="1575" b="0">
                <a:solidFill>
                  <a:srgbClr val="172027"/>
                </a:solidFill>
                <a:latin typeface="Aptos"/>
                <a:ea typeface="Aptos"/>
                <a:cs typeface="Aptos"/>
              </a:rPr>
              <a:t>The proposer and reviewer do not receive protected evaluation signal or results.</a:t>
            </a:r>
          </a:p>
        </p:txBody>
      </p:sp>
    </p:spTree>
    <p:extLst>
      <p:ext uri="{BB962C8B-B14F-4D97-AF65-F5344CB8AC3E}">
        <p14:creationId xmlns:p14="http://schemas.microsoft.com/office/powerpoint/2010/main" val="1833184779"/>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0272E115-33F1-455A-A32D-104A6F001E07}"/>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RESEARCH PROGRAM</a:t>
            </a:r>
          </a:p>
        </p:txBody>
      </p:sp>
      <p:sp>
        <p:nvSpPr>
          <p:cNvPr id="2" name="rule">
            <a:extLst xmlns:a="http://schemas.openxmlformats.org/drawingml/2006/main">
              <a:ext uri="{FF2B5EF4-FFF2-40B4-BE49-F238E27FC236}">
                <a16:creationId xmlns:a16="http://schemas.microsoft.com/office/drawing/2014/main" id="{CB259CD7-AA62-48DC-AA7B-DB19147F0BDF}"/>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9D5DFB93-959E-40A1-B10E-B9F52C052D31}"/>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04 / 18</a:t>
            </a:r>
          </a:p>
        </p:txBody>
      </p:sp>
      <p:sp>
        <p:nvSpPr>
          <p:cNvPr id="4" name="slide-title">
            <a:extLst xmlns:a="http://schemas.openxmlformats.org/drawingml/2006/main">
              <a:ext uri="{FF2B5EF4-FFF2-40B4-BE49-F238E27FC236}">
                <a16:creationId xmlns:a16="http://schemas.microsoft.com/office/drawing/2014/main" id="{6384CFC2-84A5-4E6D-9AE5-263B7849C8DA}"/>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ArmIndex separates four scientific questions</a:t>
            </a:r>
          </a:p>
        </p:txBody>
      </p:sp>
      <p:sp>
        <p:nvSpPr>
          <p:cNvPr id="5" name="slide-subtitle">
            <a:extLst xmlns:a="http://schemas.openxmlformats.org/drawingml/2006/main">
              <a:ext uri="{FF2B5EF4-FFF2-40B4-BE49-F238E27FC236}">
                <a16:creationId xmlns:a16="http://schemas.microsoft.com/office/drawing/2014/main" id="{763FE2FD-4309-451E-832E-47A0439DCCAE}"/>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phases intentionally turn one broad idea into testable claims.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3f8f778954d4a27"/>
          <a:stretch xmlns:a="http://schemas.openxmlformats.org/drawingml/2006/main"/>
        </p:blipFill>
        <p:spPr>
          <a:xfrm xmlns:a="http://schemas.openxmlformats.org/drawingml/2006/main">
            <a:off x="6191250" y="2097286"/>
            <a:ext cx="5276850" cy="2968228"/>
          </a:xfrm>
          <a:prstGeom xmlns:a="http://schemas.openxmlformats.org/drawingml/2006/main" prst="rect">
            <a:avLst/>
          </a:prstGeom>
        </p:spPr>
      </p:pic>
      <p:sp>
        <p:nvSpPr>
          <p:cNvPr id="7" name="program-num-0">
            <a:extLst xmlns:a="http://schemas.openxmlformats.org/drawingml/2006/main">
              <a:ext uri="{FF2B5EF4-FFF2-40B4-BE49-F238E27FC236}">
                <a16:creationId xmlns:a16="http://schemas.microsoft.com/office/drawing/2014/main" id="{4C6D5945-4DA9-4A0B-A6BF-46681F98A120}"/>
              </a:ext>
            </a:extLst>
          </p:cNvPr>
          <p:cNvSpPr>
            <a:spLocks xmlns:a="http://schemas.openxmlformats.org/drawingml/2006/main" noGrp="1"/>
          </p:cNvSpPr>
          <p:nvPr/>
        </p:nvSpPr>
        <p:spPr>
          <a:xfrm xmlns:a="http://schemas.openxmlformats.org/drawingml/2006/main">
            <a:off x="685800" y="196215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325" b="1">
                <a:solidFill>
                  <a:srgbClr val="0F766E"/>
                </a:solidFill>
                <a:latin typeface="Cambria"/>
                <a:ea typeface="Cambria"/>
                <a:cs typeface="Cambria"/>
              </a:defRPr>
            </a:pPr>
            <a:r>
              <a:rPr sz="2325" b="1">
                <a:solidFill>
                  <a:srgbClr val="0F766E"/>
                </a:solidFill>
                <a:latin typeface="Cambria"/>
                <a:ea typeface="Cambria"/>
                <a:cs typeface="Cambria"/>
              </a:rPr>
              <a:t>1</a:t>
            </a:r>
          </a:p>
        </p:txBody>
      </p:sp>
      <p:sp>
        <p:nvSpPr>
          <p:cNvPr id="8" name="program-label-0">
            <a:extLst xmlns:a="http://schemas.openxmlformats.org/drawingml/2006/main">
              <a:ext uri="{FF2B5EF4-FFF2-40B4-BE49-F238E27FC236}">
                <a16:creationId xmlns:a16="http://schemas.microsoft.com/office/drawing/2014/main" id="{8370D189-2507-4683-A214-106E38944984}"/>
              </a:ext>
            </a:extLst>
          </p:cNvPr>
          <p:cNvSpPr>
            <a:spLocks xmlns:a="http://schemas.openxmlformats.org/drawingml/2006/main" noGrp="1"/>
          </p:cNvSpPr>
          <p:nvPr/>
        </p:nvSpPr>
        <p:spPr>
          <a:xfrm xmlns:a="http://schemas.openxmlformats.org/drawingml/2006/main">
            <a:off x="1295400" y="19621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1">
                <a:solidFill>
                  <a:srgbClr val="172027"/>
                </a:solidFill>
                <a:latin typeface="Aptos"/>
                <a:ea typeface="Aptos"/>
                <a:cs typeface="Aptos"/>
              </a:defRPr>
            </a:pPr>
            <a:r>
              <a:rPr sz="1800" b="1">
                <a:solidFill>
                  <a:srgbClr val="172027"/>
                </a:solidFill>
                <a:latin typeface="Aptos"/>
                <a:ea typeface="Aptos"/>
                <a:cs typeface="Aptos"/>
              </a:rPr>
              <a:t>Search</a:t>
            </a:r>
          </a:p>
        </p:txBody>
      </p:sp>
      <p:sp>
        <p:nvSpPr>
          <p:cNvPr id="9" name="program-detail-0">
            <a:extLst xmlns:a="http://schemas.openxmlformats.org/drawingml/2006/main">
              <a:ext uri="{FF2B5EF4-FFF2-40B4-BE49-F238E27FC236}">
                <a16:creationId xmlns:a16="http://schemas.microsoft.com/office/drawing/2014/main" id="{0BA73468-FF3D-4797-9045-F1895CB75BB8}"/>
              </a:ext>
            </a:extLst>
          </p:cNvPr>
          <p:cNvSpPr>
            <a:spLocks xmlns:a="http://schemas.openxmlformats.org/drawingml/2006/main" noGrp="1"/>
          </p:cNvSpPr>
          <p:nvPr/>
        </p:nvSpPr>
        <p:spPr>
          <a:xfrm xmlns:a="http://schemas.openxmlformats.org/drawingml/2006/main">
            <a:off x="1295400" y="2286000"/>
            <a:ext cx="414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0">
                <a:solidFill>
                  <a:srgbClr val="52606D"/>
                </a:solidFill>
                <a:latin typeface="Aptos"/>
                <a:ea typeface="Aptos"/>
                <a:cs typeface="Aptos"/>
              </a:defRPr>
            </a:pPr>
            <a:r>
              <a:rPr sz="1650" b="0">
                <a:solidFill>
                  <a:srgbClr val="52606D"/>
                </a:solidFill>
                <a:latin typeface="Aptos"/>
                <a:ea typeface="Aptos"/>
                <a:cs typeface="Aptos"/>
              </a:rPr>
              <a:t>Which program fits each frozen arm?</a:t>
            </a:r>
          </a:p>
        </p:txBody>
      </p:sp>
      <p:sp>
        <p:nvSpPr>
          <p:cNvPr id="10" name="program-num-1">
            <a:extLst xmlns:a="http://schemas.openxmlformats.org/drawingml/2006/main">
              <a:ext uri="{FF2B5EF4-FFF2-40B4-BE49-F238E27FC236}">
                <a16:creationId xmlns:a16="http://schemas.microsoft.com/office/drawing/2014/main" id="{BDA5F75A-4739-40E3-9794-E746BF1FC804}"/>
              </a:ext>
            </a:extLst>
          </p:cNvPr>
          <p:cNvSpPr>
            <a:spLocks xmlns:a="http://schemas.openxmlformats.org/drawingml/2006/main" noGrp="1"/>
          </p:cNvSpPr>
          <p:nvPr/>
        </p:nvSpPr>
        <p:spPr>
          <a:xfrm xmlns:a="http://schemas.openxmlformats.org/drawingml/2006/main">
            <a:off x="685800" y="28575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325" b="1">
                <a:solidFill>
                  <a:srgbClr val="0F766E"/>
                </a:solidFill>
                <a:latin typeface="Cambria"/>
                <a:ea typeface="Cambria"/>
                <a:cs typeface="Cambria"/>
              </a:defRPr>
            </a:pPr>
            <a:r>
              <a:rPr sz="2325" b="1">
                <a:solidFill>
                  <a:srgbClr val="0F766E"/>
                </a:solidFill>
                <a:latin typeface="Cambria"/>
                <a:ea typeface="Cambria"/>
                <a:cs typeface="Cambria"/>
              </a:rPr>
              <a:t>2</a:t>
            </a:r>
          </a:p>
        </p:txBody>
      </p:sp>
      <p:sp>
        <p:nvSpPr>
          <p:cNvPr id="11" name="program-label-1">
            <a:extLst xmlns:a="http://schemas.openxmlformats.org/drawingml/2006/main">
              <a:ext uri="{FF2B5EF4-FFF2-40B4-BE49-F238E27FC236}">
                <a16:creationId xmlns:a16="http://schemas.microsoft.com/office/drawing/2014/main" id="{6D18CC2F-175B-49E9-8876-CB9FFA2091BA}"/>
              </a:ext>
            </a:extLst>
          </p:cNvPr>
          <p:cNvSpPr>
            <a:spLocks xmlns:a="http://schemas.openxmlformats.org/drawingml/2006/main" noGrp="1"/>
          </p:cNvSpPr>
          <p:nvPr/>
        </p:nvSpPr>
        <p:spPr>
          <a:xfrm xmlns:a="http://schemas.openxmlformats.org/drawingml/2006/main">
            <a:off x="1295400" y="28575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1">
                <a:solidFill>
                  <a:srgbClr val="172027"/>
                </a:solidFill>
                <a:latin typeface="Aptos"/>
                <a:ea typeface="Aptos"/>
                <a:cs typeface="Aptos"/>
              </a:defRPr>
            </a:pPr>
            <a:r>
              <a:rPr sz="1800" b="1">
                <a:solidFill>
                  <a:srgbClr val="172027"/>
                </a:solidFill>
                <a:latin typeface="Aptos"/>
                <a:ea typeface="Aptos"/>
                <a:cs typeface="Aptos"/>
              </a:rPr>
              <a:t>Transfer</a:t>
            </a:r>
          </a:p>
        </p:txBody>
      </p:sp>
      <p:sp>
        <p:nvSpPr>
          <p:cNvPr id="12" name="program-detail-1">
            <a:extLst xmlns:a="http://schemas.openxmlformats.org/drawingml/2006/main">
              <a:ext uri="{FF2B5EF4-FFF2-40B4-BE49-F238E27FC236}">
                <a16:creationId xmlns:a16="http://schemas.microsoft.com/office/drawing/2014/main" id="{642C4587-EE00-4821-BEDB-B0B63D919B38}"/>
              </a:ext>
            </a:extLst>
          </p:cNvPr>
          <p:cNvSpPr>
            <a:spLocks xmlns:a="http://schemas.openxmlformats.org/drawingml/2006/main" noGrp="1"/>
          </p:cNvSpPr>
          <p:nvPr/>
        </p:nvSpPr>
        <p:spPr>
          <a:xfrm xmlns:a="http://schemas.openxmlformats.org/drawingml/2006/main">
            <a:off x="1295400" y="3181350"/>
            <a:ext cx="414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0">
                <a:solidFill>
                  <a:srgbClr val="52606D"/>
                </a:solidFill>
                <a:latin typeface="Aptos"/>
                <a:ea typeface="Aptos"/>
                <a:cs typeface="Aptos"/>
              </a:defRPr>
            </a:pPr>
            <a:r>
              <a:rPr sz="1650" b="0">
                <a:solidFill>
                  <a:srgbClr val="52606D"/>
                </a:solidFill>
                <a:latin typeface="Aptos"/>
                <a:ea typeface="Aptos"/>
                <a:cs typeface="Aptos"/>
              </a:rPr>
              <a:t>Can one arm's winner help another?</a:t>
            </a:r>
          </a:p>
        </p:txBody>
      </p:sp>
      <p:sp>
        <p:nvSpPr>
          <p:cNvPr id="13" name="program-num-2">
            <a:extLst xmlns:a="http://schemas.openxmlformats.org/drawingml/2006/main">
              <a:ext uri="{FF2B5EF4-FFF2-40B4-BE49-F238E27FC236}">
                <a16:creationId xmlns:a16="http://schemas.microsoft.com/office/drawing/2014/main" id="{FA60BFE7-9F7A-4919-BCD2-11E57E2AA8E3}"/>
              </a:ext>
            </a:extLst>
          </p:cNvPr>
          <p:cNvSpPr>
            <a:spLocks xmlns:a="http://schemas.openxmlformats.org/drawingml/2006/main" noGrp="1"/>
          </p:cNvSpPr>
          <p:nvPr/>
        </p:nvSpPr>
        <p:spPr>
          <a:xfrm xmlns:a="http://schemas.openxmlformats.org/drawingml/2006/main">
            <a:off x="685800" y="375285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325" b="1">
                <a:solidFill>
                  <a:srgbClr val="C18119"/>
                </a:solidFill>
                <a:latin typeface="Cambria"/>
                <a:ea typeface="Cambria"/>
                <a:cs typeface="Cambria"/>
              </a:defRPr>
            </a:pPr>
            <a:r>
              <a:rPr sz="2325" b="1">
                <a:solidFill>
                  <a:srgbClr val="C18119"/>
                </a:solidFill>
                <a:latin typeface="Cambria"/>
                <a:ea typeface="Cambria"/>
                <a:cs typeface="Cambria"/>
              </a:rPr>
              <a:t>3</a:t>
            </a:r>
          </a:p>
        </p:txBody>
      </p:sp>
      <p:sp>
        <p:nvSpPr>
          <p:cNvPr id="14" name="program-label-2">
            <a:extLst xmlns:a="http://schemas.openxmlformats.org/drawingml/2006/main">
              <a:ext uri="{FF2B5EF4-FFF2-40B4-BE49-F238E27FC236}">
                <a16:creationId xmlns:a16="http://schemas.microsoft.com/office/drawing/2014/main" id="{D68EDCA1-11D6-4017-82DA-144BF88DBB27}"/>
              </a:ext>
            </a:extLst>
          </p:cNvPr>
          <p:cNvSpPr>
            <a:spLocks xmlns:a="http://schemas.openxmlformats.org/drawingml/2006/main" noGrp="1"/>
          </p:cNvSpPr>
          <p:nvPr/>
        </p:nvSpPr>
        <p:spPr>
          <a:xfrm xmlns:a="http://schemas.openxmlformats.org/drawingml/2006/main">
            <a:off x="1295400" y="37528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1">
                <a:solidFill>
                  <a:srgbClr val="172027"/>
                </a:solidFill>
                <a:latin typeface="Aptos"/>
                <a:ea typeface="Aptos"/>
                <a:cs typeface="Aptos"/>
              </a:defRPr>
            </a:pPr>
            <a:r>
              <a:rPr sz="1800" b="1">
                <a:solidFill>
                  <a:srgbClr val="172027"/>
                </a:solidFill>
                <a:latin typeface="Aptos"/>
                <a:ea typeface="Aptos"/>
                <a:cs typeface="Aptos"/>
              </a:rPr>
              <a:t>Coverage</a:t>
            </a:r>
          </a:p>
        </p:txBody>
      </p:sp>
      <p:sp>
        <p:nvSpPr>
          <p:cNvPr id="15" name="program-detail-2">
            <a:extLst xmlns:a="http://schemas.openxmlformats.org/drawingml/2006/main">
              <a:ext uri="{FF2B5EF4-FFF2-40B4-BE49-F238E27FC236}">
                <a16:creationId xmlns:a16="http://schemas.microsoft.com/office/drawing/2014/main" id="{194C3061-4065-4406-97D1-7A7CB1CBDBAE}"/>
              </a:ext>
            </a:extLst>
          </p:cNvPr>
          <p:cNvSpPr>
            <a:spLocks xmlns:a="http://schemas.openxmlformats.org/drawingml/2006/main" noGrp="1"/>
          </p:cNvSpPr>
          <p:nvPr/>
        </p:nvSpPr>
        <p:spPr>
          <a:xfrm xmlns:a="http://schemas.openxmlformats.org/drawingml/2006/main">
            <a:off x="1295400" y="4076700"/>
            <a:ext cx="414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0">
                <a:solidFill>
                  <a:srgbClr val="52606D"/>
                </a:solidFill>
                <a:latin typeface="Aptos"/>
                <a:ea typeface="Aptos"/>
                <a:cs typeface="Aptos"/>
              </a:defRPr>
            </a:pPr>
            <a:r>
              <a:rPr sz="1650" b="0">
                <a:solidFill>
                  <a:srgbClr val="52606D"/>
                </a:solidFill>
                <a:latin typeface="Aptos"/>
                <a:ea typeface="Aptos"/>
                <a:cs typeface="Aptos"/>
              </a:rPr>
              <a:t>Do equal-depth unions recover more families?</a:t>
            </a:r>
          </a:p>
        </p:txBody>
      </p:sp>
      <p:sp>
        <p:nvSpPr>
          <p:cNvPr id="16" name="program-num-3">
            <a:extLst xmlns:a="http://schemas.openxmlformats.org/drawingml/2006/main">
              <a:ext uri="{FF2B5EF4-FFF2-40B4-BE49-F238E27FC236}">
                <a16:creationId xmlns:a16="http://schemas.microsoft.com/office/drawing/2014/main" id="{F6C5F047-E14B-4322-896E-DEBC4BEC82AA}"/>
              </a:ext>
            </a:extLst>
          </p:cNvPr>
          <p:cNvSpPr>
            <a:spLocks xmlns:a="http://schemas.openxmlformats.org/drawingml/2006/main" noGrp="1"/>
          </p:cNvSpPr>
          <p:nvPr/>
        </p:nvSpPr>
        <p:spPr>
          <a:xfrm xmlns:a="http://schemas.openxmlformats.org/drawingml/2006/main">
            <a:off x="685800" y="46482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325" b="1">
                <a:solidFill>
                  <a:srgbClr val="C18119"/>
                </a:solidFill>
                <a:latin typeface="Cambria"/>
                <a:ea typeface="Cambria"/>
                <a:cs typeface="Cambria"/>
              </a:defRPr>
            </a:pPr>
            <a:r>
              <a:rPr sz="2325" b="1">
                <a:solidFill>
                  <a:srgbClr val="C18119"/>
                </a:solidFill>
                <a:latin typeface="Cambria"/>
                <a:ea typeface="Cambria"/>
                <a:cs typeface="Cambria"/>
              </a:rPr>
              <a:t>4</a:t>
            </a:r>
          </a:p>
        </p:txBody>
      </p:sp>
      <p:sp>
        <p:nvSpPr>
          <p:cNvPr id="17" name="program-label-3">
            <a:extLst xmlns:a="http://schemas.openxmlformats.org/drawingml/2006/main">
              <a:ext uri="{FF2B5EF4-FFF2-40B4-BE49-F238E27FC236}">
                <a16:creationId xmlns:a16="http://schemas.microsoft.com/office/drawing/2014/main" id="{84A08738-CF12-46C9-AFCE-D1CBF2E236E0}"/>
              </a:ext>
            </a:extLst>
          </p:cNvPr>
          <p:cNvSpPr>
            <a:spLocks xmlns:a="http://schemas.openxmlformats.org/drawingml/2006/main" noGrp="1"/>
          </p:cNvSpPr>
          <p:nvPr/>
        </p:nvSpPr>
        <p:spPr>
          <a:xfrm xmlns:a="http://schemas.openxmlformats.org/drawingml/2006/main">
            <a:off x="1295400" y="46482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1">
                <a:solidFill>
                  <a:srgbClr val="172027"/>
                </a:solidFill>
                <a:latin typeface="Aptos"/>
                <a:ea typeface="Aptos"/>
                <a:cs typeface="Aptos"/>
              </a:defRPr>
            </a:pPr>
            <a:r>
              <a:rPr sz="1800" b="1">
                <a:solidFill>
                  <a:srgbClr val="172027"/>
                </a:solidFill>
                <a:latin typeface="Aptos"/>
                <a:ea typeface="Aptos"/>
                <a:cs typeface="Aptos"/>
              </a:rPr>
              <a:t>Harness</a:t>
            </a:r>
          </a:p>
        </p:txBody>
      </p:sp>
      <p:sp>
        <p:nvSpPr>
          <p:cNvPr id="18" name="program-detail-3">
            <a:extLst xmlns:a="http://schemas.openxmlformats.org/drawingml/2006/main">
              <a:ext uri="{FF2B5EF4-FFF2-40B4-BE49-F238E27FC236}">
                <a16:creationId xmlns:a16="http://schemas.microsoft.com/office/drawing/2014/main" id="{79472D3C-560C-4C8B-8BEF-B4D5446A270A}"/>
              </a:ext>
            </a:extLst>
          </p:cNvPr>
          <p:cNvSpPr>
            <a:spLocks xmlns:a="http://schemas.openxmlformats.org/drawingml/2006/main" noGrp="1"/>
          </p:cNvSpPr>
          <p:nvPr/>
        </p:nvSpPr>
        <p:spPr>
          <a:xfrm xmlns:a="http://schemas.openxmlformats.org/drawingml/2006/main">
            <a:off x="1295400" y="4972050"/>
            <a:ext cx="414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0">
                <a:solidFill>
                  <a:srgbClr val="52606D"/>
                </a:solidFill>
                <a:latin typeface="Aptos"/>
                <a:ea typeface="Aptos"/>
                <a:cs typeface="Aptos"/>
              </a:defRPr>
            </a:pPr>
            <a:r>
              <a:rPr sz="1650" b="0">
                <a:solidFill>
                  <a:srgbClr val="52606D"/>
                </a:solidFill>
                <a:latin typeface="Aptos"/>
                <a:ea typeface="Aptos"/>
                <a:cs typeface="Aptos"/>
              </a:rPr>
              <a:t>Does quality justify cost and latency?</a:t>
            </a:r>
          </a:p>
        </p:txBody>
      </p:sp>
    </p:spTree>
    <p:extLst>
      <p:ext uri="{BB962C8B-B14F-4D97-AF65-F5344CB8AC3E}">
        <p14:creationId xmlns:p14="http://schemas.microsoft.com/office/powerpoint/2010/main" val="1835455925"/>
      </p:ext>
    </p:extLst>
  </p:cSld>
</p:sld>
</file>

<file path=ppt/slides/slide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D086AB70-7F61-4B20-AA93-DBFC77869CE1}"/>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RETRIEVAL FOUNDATIONS</a:t>
            </a:r>
          </a:p>
        </p:txBody>
      </p:sp>
      <p:sp>
        <p:nvSpPr>
          <p:cNvPr id="2" name="rule">
            <a:extLst xmlns:a="http://schemas.openxmlformats.org/drawingml/2006/main">
              <a:ext uri="{FF2B5EF4-FFF2-40B4-BE49-F238E27FC236}">
                <a16:creationId xmlns:a16="http://schemas.microsoft.com/office/drawing/2014/main" id="{7A4E1109-870F-416F-AE62-C9EFB8FA582B}"/>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188725F3-F1DE-4495-8A6F-62D7D7C0DC36}"/>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05 / 18</a:t>
            </a:r>
          </a:p>
        </p:txBody>
      </p:sp>
      <p:sp>
        <p:nvSpPr>
          <p:cNvPr id="4" name="slide-title">
            <a:extLst xmlns:a="http://schemas.openxmlformats.org/drawingml/2006/main">
              <a:ext uri="{FF2B5EF4-FFF2-40B4-BE49-F238E27FC236}">
                <a16:creationId xmlns:a16="http://schemas.microsoft.com/office/drawing/2014/main" id="{8F21D48D-6F01-41B5-8140-C3BD94D8D578}"/>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Retrieval quality is a full-system property</a:t>
            </a:r>
          </a:p>
        </p:txBody>
      </p:sp>
      <p:sp>
        <p:nvSpPr>
          <p:cNvPr id="5" name="slide-subtitle">
            <a:extLst xmlns:a="http://schemas.openxmlformats.org/drawingml/2006/main">
              <a:ext uri="{FF2B5EF4-FFF2-40B4-BE49-F238E27FC236}">
                <a16:creationId xmlns:a16="http://schemas.microsoft.com/office/drawing/2014/main" id="{A181A61A-10A7-44C8-A399-98C1A05AB0C7}"/>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Representation affects what is indexed, aggregated, ranked, and ultimately evaluated.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3586d9f74f44dea"/>
          <a:stretch xmlns:a="http://schemas.openxmlformats.org/drawingml/2006/main"/>
        </p:blipFill>
        <p:spPr>
          <a:xfrm xmlns:a="http://schemas.openxmlformats.org/drawingml/2006/main">
            <a:off x="688975" y="2114550"/>
            <a:ext cx="5994400" cy="3371850"/>
          </a:xfrm>
          <a:prstGeom xmlns:a="http://schemas.openxmlformats.org/drawingml/2006/main" prst="rect">
            <a:avLst/>
          </a:prstGeom>
        </p:spPr>
      </p:pic>
      <p:sp>
        <p:nvSpPr>
          <p:cNvPr id="7" name="rule">
            <a:extLst xmlns:a="http://schemas.openxmlformats.org/drawingml/2006/main">
              <a:ext uri="{FF2B5EF4-FFF2-40B4-BE49-F238E27FC236}">
                <a16:creationId xmlns:a16="http://schemas.microsoft.com/office/drawing/2014/main" id="{AA6B61C9-2ABD-42D3-8DC0-033A70FA9FB6}"/>
              </a:ext>
            </a:extLst>
          </p:cNvPr>
          <p:cNvSpPr>
            <a:spLocks xmlns:a="http://schemas.openxmlformats.org/drawingml/2006/main" noGrp="1"/>
          </p:cNvSpPr>
          <p:nvPr/>
        </p:nvSpPr>
        <p:spPr>
          <a:xfrm xmlns:a="http://schemas.openxmlformats.org/drawingml/2006/main">
            <a:off x="7334250" y="2076450"/>
            <a:ext cx="390525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system-label-0">
            <a:extLst xmlns:a="http://schemas.openxmlformats.org/drawingml/2006/main">
              <a:ext uri="{FF2B5EF4-FFF2-40B4-BE49-F238E27FC236}">
                <a16:creationId xmlns:a16="http://schemas.microsoft.com/office/drawing/2014/main" id="{02F72D86-326E-42BD-AFAA-09AB3536E3D7}"/>
              </a:ext>
            </a:extLst>
          </p:cNvPr>
          <p:cNvSpPr>
            <a:spLocks xmlns:a="http://schemas.openxmlformats.org/drawingml/2006/main" noGrp="1"/>
          </p:cNvSpPr>
          <p:nvPr/>
        </p:nvSpPr>
        <p:spPr>
          <a:xfrm xmlns:a="http://schemas.openxmlformats.org/drawingml/2006/main">
            <a:off x="7334250" y="22098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Chunking / unitization</a:t>
            </a:r>
          </a:p>
        </p:txBody>
      </p:sp>
      <p:sp>
        <p:nvSpPr>
          <p:cNvPr id="9" name="system-detail-0">
            <a:extLst xmlns:a="http://schemas.openxmlformats.org/drawingml/2006/main">
              <a:ext uri="{FF2B5EF4-FFF2-40B4-BE49-F238E27FC236}">
                <a16:creationId xmlns:a16="http://schemas.microsoft.com/office/drawing/2014/main" id="{62417284-A5ED-4680-837F-82E22CC65542}"/>
              </a:ext>
            </a:extLst>
          </p:cNvPr>
          <p:cNvSpPr>
            <a:spLocks xmlns:a="http://schemas.openxmlformats.org/drawingml/2006/main" noGrp="1"/>
          </p:cNvSpPr>
          <p:nvPr/>
        </p:nvSpPr>
        <p:spPr>
          <a:xfrm xmlns:a="http://schemas.openxmlformats.org/drawingml/2006/main">
            <a:off x="7334250" y="253365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2606D"/>
                </a:solidFill>
                <a:latin typeface="Aptos"/>
                <a:ea typeface="Aptos"/>
                <a:cs typeface="Aptos"/>
              </a:defRPr>
            </a:pPr>
            <a:r>
              <a:rPr sz="1575" b="0">
                <a:solidFill>
                  <a:srgbClr val="52606D"/>
                </a:solidFill>
                <a:latin typeface="Aptos"/>
                <a:ea typeface="Aptos"/>
                <a:cs typeface="Aptos"/>
              </a:rPr>
              <a:t>Family, claim, fixed passage, or field view.</a:t>
            </a:r>
          </a:p>
        </p:txBody>
      </p:sp>
      <p:sp>
        <p:nvSpPr>
          <p:cNvPr id="10" name="rule">
            <a:extLst xmlns:a="http://schemas.openxmlformats.org/drawingml/2006/main">
              <a:ext uri="{FF2B5EF4-FFF2-40B4-BE49-F238E27FC236}">
                <a16:creationId xmlns:a16="http://schemas.microsoft.com/office/drawing/2014/main" id="{63B98038-4602-4E5D-9D5D-8728CC3A9CD3}"/>
              </a:ext>
            </a:extLst>
          </p:cNvPr>
          <p:cNvSpPr>
            <a:spLocks xmlns:a="http://schemas.openxmlformats.org/drawingml/2006/main" noGrp="1"/>
          </p:cNvSpPr>
          <p:nvPr/>
        </p:nvSpPr>
        <p:spPr>
          <a:xfrm xmlns:a="http://schemas.openxmlformats.org/drawingml/2006/main">
            <a:off x="7334250" y="2990850"/>
            <a:ext cx="390525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system-label-1">
            <a:extLst xmlns:a="http://schemas.openxmlformats.org/drawingml/2006/main">
              <a:ext uri="{FF2B5EF4-FFF2-40B4-BE49-F238E27FC236}">
                <a16:creationId xmlns:a16="http://schemas.microsoft.com/office/drawing/2014/main" id="{8BF6D708-E8CE-4A4E-8FA7-7EFCEC16906C}"/>
              </a:ext>
            </a:extLst>
          </p:cNvPr>
          <p:cNvSpPr>
            <a:spLocks xmlns:a="http://schemas.openxmlformats.org/drawingml/2006/main" noGrp="1"/>
          </p:cNvSpPr>
          <p:nvPr/>
        </p:nvSpPr>
        <p:spPr>
          <a:xfrm xmlns:a="http://schemas.openxmlformats.org/drawingml/2006/main">
            <a:off x="7334250" y="31242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Embedding / indexing</a:t>
            </a:r>
          </a:p>
        </p:txBody>
      </p:sp>
      <p:sp>
        <p:nvSpPr>
          <p:cNvPr id="12" name="system-detail-1">
            <a:extLst xmlns:a="http://schemas.openxmlformats.org/drawingml/2006/main">
              <a:ext uri="{FF2B5EF4-FFF2-40B4-BE49-F238E27FC236}">
                <a16:creationId xmlns:a16="http://schemas.microsoft.com/office/drawing/2014/main" id="{D150FB37-70BC-47EA-BFE5-4612477CE268}"/>
              </a:ext>
            </a:extLst>
          </p:cNvPr>
          <p:cNvSpPr>
            <a:spLocks xmlns:a="http://schemas.openxmlformats.org/drawingml/2006/main" noGrp="1"/>
          </p:cNvSpPr>
          <p:nvPr/>
        </p:nvSpPr>
        <p:spPr>
          <a:xfrm xmlns:a="http://schemas.openxmlformats.org/drawingml/2006/main">
            <a:off x="7334250" y="344805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2606D"/>
                </a:solidFill>
                <a:latin typeface="Aptos"/>
                <a:ea typeface="Aptos"/>
                <a:cs typeface="Aptos"/>
              </a:defRPr>
            </a:pPr>
            <a:r>
              <a:rPr sz="1575" b="0">
                <a:solidFill>
                  <a:srgbClr val="52606D"/>
                </a:solidFill>
                <a:latin typeface="Aptos"/>
                <a:ea typeface="Aptos"/>
                <a:cs typeface="Aptos"/>
              </a:rPr>
              <a:t>Frozen templates, pooling, and similarity.</a:t>
            </a:r>
          </a:p>
        </p:txBody>
      </p:sp>
      <p:sp>
        <p:nvSpPr>
          <p:cNvPr id="13" name="rule">
            <a:extLst xmlns:a="http://schemas.openxmlformats.org/drawingml/2006/main">
              <a:ext uri="{FF2B5EF4-FFF2-40B4-BE49-F238E27FC236}">
                <a16:creationId xmlns:a16="http://schemas.microsoft.com/office/drawing/2014/main" id="{86B72C7B-AFF9-46F3-9914-3C2913A86AD5}"/>
              </a:ext>
            </a:extLst>
          </p:cNvPr>
          <p:cNvSpPr>
            <a:spLocks xmlns:a="http://schemas.openxmlformats.org/drawingml/2006/main" noGrp="1"/>
          </p:cNvSpPr>
          <p:nvPr/>
        </p:nvSpPr>
        <p:spPr>
          <a:xfrm xmlns:a="http://schemas.openxmlformats.org/drawingml/2006/main">
            <a:off x="7334250" y="3905250"/>
            <a:ext cx="390525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system-label-2">
            <a:extLst xmlns:a="http://schemas.openxmlformats.org/drawingml/2006/main">
              <a:ext uri="{FF2B5EF4-FFF2-40B4-BE49-F238E27FC236}">
                <a16:creationId xmlns:a16="http://schemas.microsoft.com/office/drawing/2014/main" id="{EF4480F9-639F-41BC-894D-EE42629F88C6}"/>
              </a:ext>
            </a:extLst>
          </p:cNvPr>
          <p:cNvSpPr>
            <a:spLocks xmlns:a="http://schemas.openxmlformats.org/drawingml/2006/main" noGrp="1"/>
          </p:cNvSpPr>
          <p:nvPr/>
        </p:nvSpPr>
        <p:spPr>
          <a:xfrm xmlns:a="http://schemas.openxmlformats.org/drawingml/2006/main">
            <a:off x="7334250" y="40386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Aggregation</a:t>
            </a:r>
          </a:p>
        </p:txBody>
      </p:sp>
      <p:sp>
        <p:nvSpPr>
          <p:cNvPr id="15" name="system-detail-2">
            <a:extLst xmlns:a="http://schemas.openxmlformats.org/drawingml/2006/main">
              <a:ext uri="{FF2B5EF4-FFF2-40B4-BE49-F238E27FC236}">
                <a16:creationId xmlns:a16="http://schemas.microsoft.com/office/drawing/2014/main" id="{CB5F8746-040E-45CE-889F-AA68E2EC5DB5}"/>
              </a:ext>
            </a:extLst>
          </p:cNvPr>
          <p:cNvSpPr>
            <a:spLocks xmlns:a="http://schemas.openxmlformats.org/drawingml/2006/main" noGrp="1"/>
          </p:cNvSpPr>
          <p:nvPr/>
        </p:nvSpPr>
        <p:spPr>
          <a:xfrm xmlns:a="http://schemas.openxmlformats.org/drawingml/2006/main">
            <a:off x="7334250" y="436245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2606D"/>
                </a:solidFill>
                <a:latin typeface="Aptos"/>
                <a:ea typeface="Aptos"/>
                <a:cs typeface="Aptos"/>
              </a:defRPr>
            </a:pPr>
            <a:r>
              <a:rPr sz="1575" b="0">
                <a:solidFill>
                  <a:srgbClr val="52606D"/>
                </a:solidFill>
                <a:latin typeface="Aptos"/>
                <a:ea typeface="Aptos"/>
                <a:cs typeface="Aptos"/>
              </a:rPr>
              <a:t>MaxP or multiview RRF to one family ranking.</a:t>
            </a:r>
          </a:p>
        </p:txBody>
      </p:sp>
      <p:sp>
        <p:nvSpPr>
          <p:cNvPr id="16" name="rule">
            <a:extLst xmlns:a="http://schemas.openxmlformats.org/drawingml/2006/main">
              <a:ext uri="{FF2B5EF4-FFF2-40B4-BE49-F238E27FC236}">
                <a16:creationId xmlns:a16="http://schemas.microsoft.com/office/drawing/2014/main" id="{5B19BC88-E005-43C0-844C-8FD2DD8E1F4D}"/>
              </a:ext>
            </a:extLst>
          </p:cNvPr>
          <p:cNvSpPr>
            <a:spLocks xmlns:a="http://schemas.openxmlformats.org/drawingml/2006/main" noGrp="1"/>
          </p:cNvSpPr>
          <p:nvPr/>
        </p:nvSpPr>
        <p:spPr>
          <a:xfrm xmlns:a="http://schemas.openxmlformats.org/drawingml/2006/main">
            <a:off x="7334250" y="4819650"/>
            <a:ext cx="3905250" cy="381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7" name="system-label-3">
            <a:extLst xmlns:a="http://schemas.openxmlformats.org/drawingml/2006/main">
              <a:ext uri="{FF2B5EF4-FFF2-40B4-BE49-F238E27FC236}">
                <a16:creationId xmlns:a16="http://schemas.microsoft.com/office/drawing/2014/main" id="{1CA44B9A-9767-4D55-8153-85000265DCCE}"/>
              </a:ext>
            </a:extLst>
          </p:cNvPr>
          <p:cNvSpPr>
            <a:spLocks xmlns:a="http://schemas.openxmlformats.org/drawingml/2006/main" noGrp="1"/>
          </p:cNvSpPr>
          <p:nvPr/>
        </p:nvSpPr>
        <p:spPr>
          <a:xfrm xmlns:a="http://schemas.openxmlformats.org/drawingml/2006/main">
            <a:off x="7334250" y="49530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Evaluation</a:t>
            </a:r>
          </a:p>
        </p:txBody>
      </p:sp>
      <p:sp>
        <p:nvSpPr>
          <p:cNvPr id="18" name="system-detail-3">
            <a:extLst xmlns:a="http://schemas.openxmlformats.org/drawingml/2006/main">
              <a:ext uri="{FF2B5EF4-FFF2-40B4-BE49-F238E27FC236}">
                <a16:creationId xmlns:a16="http://schemas.microsoft.com/office/drawing/2014/main" id="{46E2675E-F5E3-47B3-AB9D-044639B16D56}"/>
              </a:ext>
            </a:extLst>
          </p:cNvPr>
          <p:cNvSpPr>
            <a:spLocks xmlns:a="http://schemas.openxmlformats.org/drawingml/2006/main" noGrp="1"/>
          </p:cNvSpPr>
          <p:nvPr/>
        </p:nvSpPr>
        <p:spPr>
          <a:xfrm xmlns:a="http://schemas.openxmlformats.org/drawingml/2006/main">
            <a:off x="7334250" y="527685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2606D"/>
                </a:solidFill>
                <a:latin typeface="Aptos"/>
                <a:ea typeface="Aptos"/>
                <a:cs typeface="Aptos"/>
              </a:defRPr>
            </a:pPr>
            <a:r>
              <a:rPr sz="1575" b="0">
                <a:solidFill>
                  <a:srgbClr val="52606D"/>
                </a:solidFill>
                <a:latin typeface="Aptos"/>
                <a:ea typeface="Aptos"/>
                <a:cs typeface="Aptos"/>
              </a:rPr>
              <a:t>OUT Recall@100; retain quality, latency, and cost.</a:t>
            </a:r>
          </a:p>
        </p:txBody>
      </p:sp>
    </p:spTree>
    <p:extLst>
      <p:ext uri="{BB962C8B-B14F-4D97-AF65-F5344CB8AC3E}">
        <p14:creationId xmlns:p14="http://schemas.microsoft.com/office/powerpoint/2010/main" val="886523753"/>
      </p:ext>
    </p:extLst>
  </p:cSld>
</p:sld>
</file>

<file path=ppt/slides/slide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B3530994-E8F0-4A66-AFB7-D1A243892C02}"/>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A0 | SCIENTIFIC CONTROL</a:t>
            </a:r>
          </a:p>
        </p:txBody>
      </p:sp>
      <p:sp>
        <p:nvSpPr>
          <p:cNvPr id="2" name="rule">
            <a:extLst xmlns:a="http://schemas.openxmlformats.org/drawingml/2006/main">
              <a:ext uri="{FF2B5EF4-FFF2-40B4-BE49-F238E27FC236}">
                <a16:creationId xmlns:a16="http://schemas.microsoft.com/office/drawing/2014/main" id="{8CB00C84-A890-4F33-9F10-D69FAA7CE843}"/>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09A478DB-83F2-4D32-A6AD-75D1CB4F0C5C}"/>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06 / 18</a:t>
            </a:r>
          </a:p>
        </p:txBody>
      </p:sp>
      <p:sp>
        <p:nvSpPr>
          <p:cNvPr id="4" name="slide-title">
            <a:extLst xmlns:a="http://schemas.openxmlformats.org/drawingml/2006/main">
              <a:ext uri="{FF2B5EF4-FFF2-40B4-BE49-F238E27FC236}">
                <a16:creationId xmlns:a16="http://schemas.microsoft.com/office/drawing/2014/main" id="{FCF80515-7B1E-4D41-9D01-2D16CA3530FD}"/>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A0 separates evidence roles</a:t>
            </a:r>
          </a:p>
        </p:txBody>
      </p:sp>
      <p:sp>
        <p:nvSpPr>
          <p:cNvPr id="5" name="slide-subtitle">
            <a:extLst xmlns:a="http://schemas.openxmlformats.org/drawingml/2006/main">
              <a:ext uri="{FF2B5EF4-FFF2-40B4-BE49-F238E27FC236}">
                <a16:creationId xmlns:a16="http://schemas.microsoft.com/office/drawing/2014/main" id="{E9C277C0-BB68-4723-A224-C32608A45155}"/>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Development can adapt; later evidence remains reserved for later decisions.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91def22d97e4c3b"/>
          <a:stretch xmlns:a="http://schemas.openxmlformats.org/drawingml/2006/main"/>
        </p:blipFill>
        <p:spPr>
          <a:xfrm xmlns:a="http://schemas.openxmlformats.org/drawingml/2006/main">
            <a:off x="685800" y="2027039"/>
            <a:ext cx="6000750" cy="3375422"/>
          </a:xfrm>
          <a:prstGeom xmlns:a="http://schemas.openxmlformats.org/drawingml/2006/main" prst="rect">
            <a:avLst/>
          </a:prstGeom>
        </p:spPr>
      </p:pic>
      <p:sp>
        <p:nvSpPr>
          <p:cNvPr id="7" name="callout-REP-DEV">
            <a:extLst xmlns:a="http://schemas.openxmlformats.org/drawingml/2006/main">
              <a:ext uri="{FF2B5EF4-FFF2-40B4-BE49-F238E27FC236}">
                <a16:creationId xmlns:a16="http://schemas.microsoft.com/office/drawing/2014/main" id="{12B6E1E5-C9AC-44C1-9239-B1DBA631A51E}"/>
              </a:ext>
            </a:extLst>
          </p:cNvPr>
          <p:cNvSpPr>
            <a:spLocks xmlns:a="http://schemas.openxmlformats.org/drawingml/2006/main" noGrp="1"/>
          </p:cNvSpPr>
          <p:nvPr/>
        </p:nvSpPr>
        <p:spPr>
          <a:xfrm xmlns:a="http://schemas.openxmlformats.org/drawingml/2006/main">
            <a:off x="7219950" y="2190750"/>
            <a:ext cx="18097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CE5E2"/>
            </a:solidFill>
            <a:prstDash val="solid"/>
          </a:ln>
        </p:spPr>
      </p:sp>
      <p:sp>
        <p:nvSpPr>
          <p:cNvPr id="8" name="rule">
            <a:extLst xmlns:a="http://schemas.openxmlformats.org/drawingml/2006/main">
              <a:ext uri="{FF2B5EF4-FFF2-40B4-BE49-F238E27FC236}">
                <a16:creationId xmlns:a16="http://schemas.microsoft.com/office/drawing/2014/main" id="{657F9A72-A664-43CD-AB34-B6DC686E66E3}"/>
              </a:ext>
            </a:extLst>
          </p:cNvPr>
          <p:cNvSpPr>
            <a:spLocks xmlns:a="http://schemas.openxmlformats.org/drawingml/2006/main" noGrp="1"/>
          </p:cNvSpPr>
          <p:nvPr/>
        </p:nvSpPr>
        <p:spPr>
          <a:xfrm xmlns:a="http://schemas.openxmlformats.org/drawingml/2006/main">
            <a:off x="7219950" y="2190750"/>
            <a:ext cx="66675" cy="1047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REP-DEV-value">
            <a:extLst xmlns:a="http://schemas.openxmlformats.org/drawingml/2006/main">
              <a:ext uri="{FF2B5EF4-FFF2-40B4-BE49-F238E27FC236}">
                <a16:creationId xmlns:a16="http://schemas.microsoft.com/office/drawing/2014/main" id="{D062A827-CD12-41DD-A3C5-F816337C7333}"/>
              </a:ext>
            </a:extLst>
          </p:cNvPr>
          <p:cNvSpPr>
            <a:spLocks xmlns:a="http://schemas.openxmlformats.org/drawingml/2006/main" noGrp="1"/>
          </p:cNvSpPr>
          <p:nvPr/>
        </p:nvSpPr>
        <p:spPr>
          <a:xfrm xmlns:a="http://schemas.openxmlformats.org/drawingml/2006/main">
            <a:off x="7467600" y="23622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F766E"/>
                </a:solidFill>
                <a:latin typeface="Cambria"/>
                <a:ea typeface="Cambria"/>
                <a:cs typeface="Cambria"/>
              </a:defRPr>
            </a:pPr>
            <a:r>
              <a:rPr sz="2400" b="1">
                <a:solidFill>
                  <a:srgbClr val="0F766E"/>
                </a:solidFill>
                <a:latin typeface="Cambria"/>
                <a:ea typeface="Cambria"/>
                <a:cs typeface="Cambria"/>
              </a:rPr>
              <a:t>150</a:t>
            </a:r>
          </a:p>
        </p:txBody>
      </p:sp>
      <p:sp>
        <p:nvSpPr>
          <p:cNvPr id="10" name="REP-DEV-label">
            <a:extLst xmlns:a="http://schemas.openxmlformats.org/drawingml/2006/main">
              <a:ext uri="{FF2B5EF4-FFF2-40B4-BE49-F238E27FC236}">
                <a16:creationId xmlns:a16="http://schemas.microsoft.com/office/drawing/2014/main" id="{F070BA16-2FD2-4065-A733-9136715DF158}"/>
              </a:ext>
            </a:extLst>
          </p:cNvPr>
          <p:cNvSpPr>
            <a:spLocks xmlns:a="http://schemas.openxmlformats.org/drawingml/2006/main" noGrp="1"/>
          </p:cNvSpPr>
          <p:nvPr/>
        </p:nvSpPr>
        <p:spPr>
          <a:xfrm xmlns:a="http://schemas.openxmlformats.org/drawingml/2006/main">
            <a:off x="7467600" y="28194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1">
                <a:solidFill>
                  <a:srgbClr val="52606D"/>
                </a:solidFill>
                <a:latin typeface="Aptos"/>
                <a:ea typeface="Aptos"/>
                <a:cs typeface="Aptos"/>
              </a:defRPr>
            </a:pPr>
            <a:r>
              <a:rPr sz="1350" b="1">
                <a:solidFill>
                  <a:srgbClr val="52606D"/>
                </a:solidFill>
                <a:latin typeface="Aptos"/>
                <a:ea typeface="Aptos"/>
                <a:cs typeface="Aptos"/>
              </a:rPr>
              <a:t>REP-DEV</a:t>
            </a:r>
          </a:p>
        </p:txBody>
      </p:sp>
      <p:sp>
        <p:nvSpPr>
          <p:cNvPr id="11" name="callout-HARNESS-DEV">
            <a:extLst xmlns:a="http://schemas.openxmlformats.org/drawingml/2006/main">
              <a:ext uri="{FF2B5EF4-FFF2-40B4-BE49-F238E27FC236}">
                <a16:creationId xmlns:a16="http://schemas.microsoft.com/office/drawing/2014/main" id="{B77A12EA-7511-4463-B2EB-C626CF5272B2}"/>
              </a:ext>
            </a:extLst>
          </p:cNvPr>
          <p:cNvSpPr>
            <a:spLocks xmlns:a="http://schemas.openxmlformats.org/drawingml/2006/main" noGrp="1"/>
          </p:cNvSpPr>
          <p:nvPr/>
        </p:nvSpPr>
        <p:spPr>
          <a:xfrm xmlns:a="http://schemas.openxmlformats.org/drawingml/2006/main">
            <a:off x="9353550" y="2190750"/>
            <a:ext cx="21145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CE5E2"/>
            </a:solidFill>
            <a:prstDash val="solid"/>
          </a:ln>
        </p:spPr>
      </p:sp>
      <p:sp>
        <p:nvSpPr>
          <p:cNvPr id="12" name="rule">
            <a:extLst xmlns:a="http://schemas.openxmlformats.org/drawingml/2006/main">
              <a:ext uri="{FF2B5EF4-FFF2-40B4-BE49-F238E27FC236}">
                <a16:creationId xmlns:a16="http://schemas.microsoft.com/office/drawing/2014/main" id="{6F844ABF-6900-4661-BDE5-8510B31432AB}"/>
              </a:ext>
            </a:extLst>
          </p:cNvPr>
          <p:cNvSpPr>
            <a:spLocks xmlns:a="http://schemas.openxmlformats.org/drawingml/2006/main" noGrp="1"/>
          </p:cNvSpPr>
          <p:nvPr/>
        </p:nvSpPr>
        <p:spPr>
          <a:xfrm xmlns:a="http://schemas.openxmlformats.org/drawingml/2006/main">
            <a:off x="9353550" y="2190750"/>
            <a:ext cx="66675" cy="104775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3" name="HARNESS-DEV-value">
            <a:extLst xmlns:a="http://schemas.openxmlformats.org/drawingml/2006/main">
              <a:ext uri="{FF2B5EF4-FFF2-40B4-BE49-F238E27FC236}">
                <a16:creationId xmlns:a16="http://schemas.microsoft.com/office/drawing/2014/main" id="{7E2FD696-B173-4624-BA06-C229098F8334}"/>
              </a:ext>
            </a:extLst>
          </p:cNvPr>
          <p:cNvSpPr>
            <a:spLocks xmlns:a="http://schemas.openxmlformats.org/drawingml/2006/main" noGrp="1"/>
          </p:cNvSpPr>
          <p:nvPr/>
        </p:nvSpPr>
        <p:spPr>
          <a:xfrm xmlns:a="http://schemas.openxmlformats.org/drawingml/2006/main">
            <a:off x="9601200" y="236220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C18119"/>
                </a:solidFill>
                <a:latin typeface="Cambria"/>
                <a:ea typeface="Cambria"/>
                <a:cs typeface="Cambria"/>
              </a:defRPr>
            </a:pPr>
            <a:r>
              <a:rPr sz="2400" b="1">
                <a:solidFill>
                  <a:srgbClr val="C18119"/>
                </a:solidFill>
                <a:latin typeface="Cambria"/>
                <a:ea typeface="Cambria"/>
                <a:cs typeface="Cambria"/>
              </a:rPr>
              <a:t>100</a:t>
            </a:r>
          </a:p>
        </p:txBody>
      </p:sp>
      <p:sp>
        <p:nvSpPr>
          <p:cNvPr id="14" name="HARNESS-DEV-label">
            <a:extLst xmlns:a="http://schemas.openxmlformats.org/drawingml/2006/main">
              <a:ext uri="{FF2B5EF4-FFF2-40B4-BE49-F238E27FC236}">
                <a16:creationId xmlns:a16="http://schemas.microsoft.com/office/drawing/2014/main" id="{11CF567A-91A9-4AA2-95A2-D363475476D5}"/>
              </a:ext>
            </a:extLst>
          </p:cNvPr>
          <p:cNvSpPr>
            <a:spLocks xmlns:a="http://schemas.openxmlformats.org/drawingml/2006/main" noGrp="1"/>
          </p:cNvSpPr>
          <p:nvPr/>
        </p:nvSpPr>
        <p:spPr>
          <a:xfrm xmlns:a="http://schemas.openxmlformats.org/drawingml/2006/main">
            <a:off x="9601200" y="28194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1">
                <a:solidFill>
                  <a:srgbClr val="52606D"/>
                </a:solidFill>
                <a:latin typeface="Aptos"/>
                <a:ea typeface="Aptos"/>
                <a:cs typeface="Aptos"/>
              </a:defRPr>
            </a:pPr>
            <a:r>
              <a:rPr sz="1350" b="1">
                <a:solidFill>
                  <a:srgbClr val="52606D"/>
                </a:solidFill>
                <a:latin typeface="Aptos"/>
                <a:ea typeface="Aptos"/>
                <a:cs typeface="Aptos"/>
              </a:rPr>
              <a:t>HARNESS-DEV</a:t>
            </a:r>
          </a:p>
        </p:txBody>
      </p:sp>
      <p:sp>
        <p:nvSpPr>
          <p:cNvPr id="15" name="a0-policy">
            <a:extLst xmlns:a="http://schemas.openxmlformats.org/drawingml/2006/main">
              <a:ext uri="{FF2B5EF4-FFF2-40B4-BE49-F238E27FC236}">
                <a16:creationId xmlns:a16="http://schemas.microsoft.com/office/drawing/2014/main" id="{0E64B240-902D-4051-AAB7-93E8DAF91976}"/>
              </a:ext>
            </a:extLst>
          </p:cNvPr>
          <p:cNvSpPr>
            <a:spLocks xmlns:a="http://schemas.openxmlformats.org/drawingml/2006/main" noGrp="1"/>
          </p:cNvSpPr>
          <p:nvPr/>
        </p:nvSpPr>
        <p:spPr>
          <a:xfrm xmlns:a="http://schemas.openxmlformats.org/drawingml/2006/main">
            <a:off x="7219950" y="3733800"/>
            <a:ext cx="4095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Selection-125 is an atomic finalist exposure. Final-872 is the sole confirmation set and remains closed.</a:t>
            </a:r>
          </a:p>
        </p:txBody>
      </p:sp>
      <p:sp>
        <p:nvSpPr>
          <p:cNvPr id="16" name="a0-protect">
            <a:extLst xmlns:a="http://schemas.openxmlformats.org/drawingml/2006/main">
              <a:ext uri="{FF2B5EF4-FFF2-40B4-BE49-F238E27FC236}">
                <a16:creationId xmlns:a16="http://schemas.microsoft.com/office/drawing/2014/main" id="{BFF680FA-7E53-488A-A551-14F2C87F4ACA}"/>
              </a:ext>
            </a:extLst>
          </p:cNvPr>
          <p:cNvSpPr>
            <a:spLocks xmlns:a="http://schemas.openxmlformats.org/drawingml/2006/main" noGrp="1"/>
          </p:cNvSpPr>
          <p:nvPr/>
        </p:nvSpPr>
        <p:spPr>
          <a:xfrm xmlns:a="http://schemas.openxmlformats.org/drawingml/2006/main">
            <a:off x="7219950" y="478155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b="0">
                <a:solidFill>
                  <a:srgbClr val="52606D"/>
                </a:solidFill>
                <a:latin typeface="Aptos"/>
                <a:ea typeface="Aptos"/>
                <a:cs typeface="Aptos"/>
              </a:defRPr>
            </a:pPr>
            <a:r>
              <a:rPr sz="1500" b="0">
                <a:solidFill>
                  <a:srgbClr val="52606D"/>
                </a:solidFill>
                <a:latin typeface="Aptos"/>
                <a:ea typeface="Aptos"/>
                <a:cs typeface="Aptos"/>
              </a:rPr>
              <a:t>The protocol releases only aggregate-safe counts and hashes; protected membership and qrels never leave Owner-local storage.</a:t>
            </a:r>
          </a:p>
        </p:txBody>
      </p:sp>
    </p:spTree>
    <p:extLst>
      <p:ext uri="{BB962C8B-B14F-4D97-AF65-F5344CB8AC3E}">
        <p14:creationId xmlns:p14="http://schemas.microsoft.com/office/powerpoint/2010/main" val="327951252"/>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B8F84F5-5D52-4C4C-AAFC-2831CDEACED7}"/>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A0 | FOUNDATION</a:t>
            </a:r>
          </a:p>
        </p:txBody>
      </p:sp>
      <p:sp>
        <p:nvSpPr>
          <p:cNvPr id="2" name="rule">
            <a:extLst xmlns:a="http://schemas.openxmlformats.org/drawingml/2006/main">
              <a:ext uri="{FF2B5EF4-FFF2-40B4-BE49-F238E27FC236}">
                <a16:creationId xmlns:a16="http://schemas.microsoft.com/office/drawing/2014/main" id="{D4C92F01-B54C-4A65-BFCF-AF70B488ACC4}"/>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40DFED17-5990-4DC4-BE35-62830DA75A00}"/>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07 / 18</a:t>
            </a:r>
          </a:p>
        </p:txBody>
      </p:sp>
      <p:sp>
        <p:nvSpPr>
          <p:cNvPr id="4" name="slide-title">
            <a:extLst xmlns:a="http://schemas.openxmlformats.org/drawingml/2006/main">
              <a:ext uri="{FF2B5EF4-FFF2-40B4-BE49-F238E27FC236}">
                <a16:creationId xmlns:a16="http://schemas.microsoft.com/office/drawing/2014/main" id="{EB7115AE-EFB4-4A12-AB17-475CE9843CF8}"/>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A0 delivered infrastructure, not a score</a:t>
            </a:r>
          </a:p>
        </p:txBody>
      </p:sp>
      <p:sp>
        <p:nvSpPr>
          <p:cNvPr id="5" name="slide-subtitle">
            <a:extLst xmlns:a="http://schemas.openxmlformats.org/drawingml/2006/main">
              <a:ext uri="{FF2B5EF4-FFF2-40B4-BE49-F238E27FC236}">
                <a16:creationId xmlns:a16="http://schemas.microsoft.com/office/drawing/2014/main" id="{1CE22955-5461-4C00-A15E-F2A785F8C955}"/>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first phase makes later evidence reproducible, auditable, and protected.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d45dcd937ab4047"/>
          <a:stretch xmlns:a="http://schemas.openxmlformats.org/drawingml/2006/main"/>
        </p:blipFill>
        <p:spPr>
          <a:xfrm xmlns:a="http://schemas.openxmlformats.org/drawingml/2006/main">
            <a:off x="6515100" y="2155031"/>
            <a:ext cx="4953000" cy="2786063"/>
          </a:xfrm>
          <a:prstGeom xmlns:a="http://schemas.openxmlformats.org/drawingml/2006/main" prst="rect">
            <a:avLst/>
          </a:prstGeom>
        </p:spPr>
      </p:pic>
      <p:sp>
        <p:nvSpPr>
          <p:cNvPr id="7" name="bullet-dot-0">
            <a:extLst xmlns:a="http://schemas.openxmlformats.org/drawingml/2006/main">
              <a:ext uri="{FF2B5EF4-FFF2-40B4-BE49-F238E27FC236}">
                <a16:creationId xmlns:a16="http://schemas.microsoft.com/office/drawing/2014/main" id="{4CA2C2B3-5E08-4B89-8B14-68BDCEE4B45D}"/>
              </a:ext>
            </a:extLst>
          </p:cNvPr>
          <p:cNvSpPr>
            <a:spLocks xmlns:a="http://schemas.openxmlformats.org/drawingml/2006/main" noGrp="1"/>
          </p:cNvSpPr>
          <p:nvPr/>
        </p:nvSpPr>
        <p:spPr>
          <a:xfrm xmlns:a="http://schemas.openxmlformats.org/drawingml/2006/main">
            <a:off x="685800" y="2228850"/>
            <a:ext cx="762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bullet-0">
            <a:extLst xmlns:a="http://schemas.openxmlformats.org/drawingml/2006/main">
              <a:ext uri="{FF2B5EF4-FFF2-40B4-BE49-F238E27FC236}">
                <a16:creationId xmlns:a16="http://schemas.microsoft.com/office/drawing/2014/main" id="{1A46A54A-8263-4EA5-AFB9-F026675E5C07}"/>
              </a:ext>
            </a:extLst>
          </p:cNvPr>
          <p:cNvSpPr>
            <a:spLocks xmlns:a="http://schemas.openxmlformats.org/drawingml/2006/main" noGrp="1"/>
          </p:cNvSpPr>
          <p:nvPr/>
        </p:nvSpPr>
        <p:spPr>
          <a:xfrm xmlns:a="http://schemas.openxmlformats.org/drawingml/2006/main">
            <a:off x="895350" y="2133600"/>
            <a:ext cx="56007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172027"/>
                </a:solidFill>
                <a:latin typeface="Aptos"/>
                <a:ea typeface="Aptos"/>
                <a:cs typeface="Aptos"/>
              </a:defRPr>
            </a:pPr>
            <a:r>
              <a:rPr sz="1800" b="0">
                <a:solidFill>
                  <a:srgbClr val="172027"/>
                </a:solidFill>
                <a:latin typeface="Aptos"/>
                <a:ea typeface="Aptos"/>
                <a:cs typeface="Aptos"/>
              </a:rPr>
              <a:t>Canonical controls, schemas, five-arm registry, source locks, and safe evidence paths.</a:t>
            </a:r>
          </a:p>
        </p:txBody>
      </p:sp>
      <p:sp>
        <p:nvSpPr>
          <p:cNvPr id="9" name="bullet-dot-1">
            <a:extLst xmlns:a="http://schemas.openxmlformats.org/drawingml/2006/main">
              <a:ext uri="{FF2B5EF4-FFF2-40B4-BE49-F238E27FC236}">
                <a16:creationId xmlns:a16="http://schemas.microsoft.com/office/drawing/2014/main" id="{3A8AA4B0-18D9-4F33-A5A3-1CC0E6952539}"/>
              </a:ext>
            </a:extLst>
          </p:cNvPr>
          <p:cNvSpPr>
            <a:spLocks xmlns:a="http://schemas.openxmlformats.org/drawingml/2006/main" noGrp="1"/>
          </p:cNvSpPr>
          <p:nvPr/>
        </p:nvSpPr>
        <p:spPr>
          <a:xfrm xmlns:a="http://schemas.openxmlformats.org/drawingml/2006/main">
            <a:off x="685800" y="3228975"/>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0" name="bullet-1">
            <a:extLst xmlns:a="http://schemas.openxmlformats.org/drawingml/2006/main">
              <a:ext uri="{FF2B5EF4-FFF2-40B4-BE49-F238E27FC236}">
                <a16:creationId xmlns:a16="http://schemas.microsoft.com/office/drawing/2014/main" id="{393C4395-625E-44A5-9208-2041F63E4892}"/>
              </a:ext>
            </a:extLst>
          </p:cNvPr>
          <p:cNvSpPr>
            <a:spLocks xmlns:a="http://schemas.openxmlformats.org/drawingml/2006/main" noGrp="1"/>
          </p:cNvSpPr>
          <p:nvPr/>
        </p:nvSpPr>
        <p:spPr>
          <a:xfrm xmlns:a="http://schemas.openxmlformats.org/drawingml/2006/main">
            <a:off x="895350" y="3133725"/>
            <a:ext cx="56007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172027"/>
                </a:solidFill>
                <a:latin typeface="Aptos"/>
                <a:ea typeface="Aptos"/>
                <a:cs typeface="Aptos"/>
              </a:defRPr>
            </a:pPr>
            <a:r>
              <a:rPr sz="1800" b="0">
                <a:solidFill>
                  <a:srgbClr val="172027"/>
                </a:solidFill>
                <a:latin typeface="Aptos"/>
                <a:ea typeface="Aptos"/>
                <a:cs typeface="Aptos"/>
              </a:rPr>
              <a:t>CPU adapter and contract fixtures validated before measured retrieval.</a:t>
            </a:r>
          </a:p>
        </p:txBody>
      </p:sp>
      <p:sp>
        <p:nvSpPr>
          <p:cNvPr id="11" name="bullet-dot-2">
            <a:extLst xmlns:a="http://schemas.openxmlformats.org/drawingml/2006/main">
              <a:ext uri="{FF2B5EF4-FFF2-40B4-BE49-F238E27FC236}">
                <a16:creationId xmlns:a16="http://schemas.microsoft.com/office/drawing/2014/main" id="{8E3D0204-F6E4-4CB0-807B-9B067175AE7F}"/>
              </a:ext>
            </a:extLst>
          </p:cNvPr>
          <p:cNvSpPr>
            <a:spLocks xmlns:a="http://schemas.openxmlformats.org/drawingml/2006/main" noGrp="1"/>
          </p:cNvSpPr>
          <p:nvPr/>
        </p:nvSpPr>
        <p:spPr>
          <a:xfrm xmlns:a="http://schemas.openxmlformats.org/drawingml/2006/main">
            <a:off x="685800" y="42291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2" name="bullet-2">
            <a:extLst xmlns:a="http://schemas.openxmlformats.org/drawingml/2006/main">
              <a:ext uri="{FF2B5EF4-FFF2-40B4-BE49-F238E27FC236}">
                <a16:creationId xmlns:a16="http://schemas.microsoft.com/office/drawing/2014/main" id="{10026070-7257-4A14-8A37-C55660CF70A2}"/>
              </a:ext>
            </a:extLst>
          </p:cNvPr>
          <p:cNvSpPr>
            <a:spLocks xmlns:a="http://schemas.openxmlformats.org/drawingml/2006/main" noGrp="1"/>
          </p:cNvSpPr>
          <p:nvPr/>
        </p:nvSpPr>
        <p:spPr>
          <a:xfrm xmlns:a="http://schemas.openxmlformats.org/drawingml/2006/main">
            <a:off x="895350" y="4133850"/>
            <a:ext cx="56007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172027"/>
                </a:solidFill>
                <a:latin typeface="Aptos"/>
                <a:ea typeface="Aptos"/>
                <a:cs typeface="Aptos"/>
              </a:defRPr>
            </a:pPr>
            <a:r>
              <a:rPr sz="1800" b="0">
                <a:solidFill>
                  <a:srgbClr val="172027"/>
                </a:solidFill>
                <a:latin typeface="Aptos"/>
                <a:ea typeface="Aptos"/>
                <a:cs typeface="Aptos"/>
              </a:rPr>
              <a:t>No measured retrieval run, GPU scientific run, protected payload, Selection access, or Final access in A0.</a:t>
            </a:r>
          </a:p>
        </p:txBody>
      </p:sp>
      <p:sp>
        <p:nvSpPr>
          <p:cNvPr id="13" name="a0-contribution">
            <a:extLst xmlns:a="http://schemas.openxmlformats.org/drawingml/2006/main">
              <a:ext uri="{FF2B5EF4-FFF2-40B4-BE49-F238E27FC236}">
                <a16:creationId xmlns:a16="http://schemas.microsoft.com/office/drawing/2014/main" id="{0E447457-50F9-4601-AD71-1E763C6C5805}"/>
              </a:ext>
            </a:extLst>
          </p:cNvPr>
          <p:cNvSpPr>
            <a:spLocks xmlns:a="http://schemas.openxmlformats.org/drawingml/2006/main" noGrp="1"/>
          </p:cNvSpPr>
          <p:nvPr/>
        </p:nvSpPr>
        <p:spPr>
          <a:xfrm xmlns:a="http://schemas.openxmlformats.org/drawingml/2006/main">
            <a:off x="685800" y="5353050"/>
            <a:ext cx="581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1">
                <a:solidFill>
                  <a:srgbClr val="B95059"/>
                </a:solidFill>
                <a:latin typeface="Aptos"/>
                <a:ea typeface="Aptos"/>
                <a:cs typeface="Aptos"/>
              </a:defRPr>
            </a:pPr>
            <a:r>
              <a:rPr sz="1575" b="1">
                <a:solidFill>
                  <a:srgbClr val="B95059"/>
                </a:solidFill>
                <a:latin typeface="Aptos"/>
                <a:ea typeface="Aptos"/>
                <a:cs typeface="Aptos"/>
              </a:rPr>
              <a:t>A0 establishes a trustworthy substrate; it makes no retrieval-quality claim.</a:t>
            </a:r>
          </a:p>
        </p:txBody>
      </p:sp>
    </p:spTree>
    <p:extLst>
      <p:ext uri="{BB962C8B-B14F-4D97-AF65-F5344CB8AC3E}">
        <p14:creationId xmlns:p14="http://schemas.microsoft.com/office/powerpoint/2010/main" val="243590995"/>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D73AD125-69A2-4601-8CFE-BE9A186A95B3}"/>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A1 | COMMON SCREENING</a:t>
            </a:r>
          </a:p>
        </p:txBody>
      </p:sp>
      <p:sp>
        <p:nvSpPr>
          <p:cNvPr id="2" name="rule">
            <a:extLst xmlns:a="http://schemas.openxmlformats.org/drawingml/2006/main">
              <a:ext uri="{FF2B5EF4-FFF2-40B4-BE49-F238E27FC236}">
                <a16:creationId xmlns:a16="http://schemas.microsoft.com/office/drawing/2014/main" id="{76461F8E-1A0D-4237-8DF3-1AC245E76AA0}"/>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455131FC-B032-4A38-85D2-D21BF6F15560}"/>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08 / 18</a:t>
            </a:r>
          </a:p>
        </p:txBody>
      </p:sp>
      <p:sp>
        <p:nvSpPr>
          <p:cNvPr id="4" name="slide-title">
            <a:extLst xmlns:a="http://schemas.openxmlformats.org/drawingml/2006/main">
              <a:ext uri="{FF2B5EF4-FFF2-40B4-BE49-F238E27FC236}">
                <a16:creationId xmlns:a16="http://schemas.microsoft.com/office/drawing/2014/main" id="{5019A0FF-9041-45C1-859C-FFC288133AD2}"/>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A1 is a controlled 5 x 5 screen</a:t>
            </a:r>
          </a:p>
        </p:txBody>
      </p:sp>
      <p:sp>
        <p:nvSpPr>
          <p:cNvPr id="5" name="slide-subtitle">
            <a:extLst xmlns:a="http://schemas.openxmlformats.org/drawingml/2006/main">
              <a:ext uri="{FF2B5EF4-FFF2-40B4-BE49-F238E27FC236}">
                <a16:creationId xmlns:a16="http://schemas.microsoft.com/office/drawing/2014/main" id="{34C28CC6-7EFC-4D32-913C-0741CE2BAD84}"/>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Five common representations are measured against five frozen retrieval arms.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d00f8e7a8bc4bfe"/>
          <a:stretch xmlns:a="http://schemas.openxmlformats.org/drawingml/2006/main"/>
        </p:blipFill>
        <p:spPr>
          <a:xfrm xmlns:a="http://schemas.openxmlformats.org/drawingml/2006/main">
            <a:off x="685800" y="2187476"/>
            <a:ext cx="5667375" cy="3187898"/>
          </a:xfrm>
          <a:prstGeom xmlns:a="http://schemas.openxmlformats.org/drawingml/2006/main" prst="rect">
            <a:avLst/>
          </a:prstGeom>
        </p:spPr>
      </p:pic>
      <p:sp>
        <p:nvSpPr>
          <p:cNvPr id="7" name="a1-method-title">
            <a:extLst xmlns:a="http://schemas.openxmlformats.org/drawingml/2006/main">
              <a:ext uri="{FF2B5EF4-FFF2-40B4-BE49-F238E27FC236}">
                <a16:creationId xmlns:a16="http://schemas.microsoft.com/office/drawing/2014/main" id="{4CD167C2-161B-4B14-AB9D-5B4DD6C90461}"/>
              </a:ext>
            </a:extLst>
          </p:cNvPr>
          <p:cNvSpPr>
            <a:spLocks xmlns:a="http://schemas.openxmlformats.org/drawingml/2006/main" noGrp="1"/>
          </p:cNvSpPr>
          <p:nvPr/>
        </p:nvSpPr>
        <p:spPr>
          <a:xfrm xmlns:a="http://schemas.openxmlformats.org/drawingml/2006/main">
            <a:off x="7029450" y="2152650"/>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72027"/>
                </a:solidFill>
                <a:latin typeface="Cambria"/>
                <a:ea typeface="Cambria"/>
                <a:cs typeface="Cambria"/>
              </a:defRPr>
            </a:pPr>
            <a:r>
              <a:rPr sz="2025" b="1">
                <a:solidFill>
                  <a:srgbClr val="172027"/>
                </a:solidFill>
                <a:latin typeface="Cambria"/>
                <a:ea typeface="Cambria"/>
                <a:cs typeface="Cambria"/>
              </a:rPr>
              <a:t>The comparison changes one factor</a:t>
            </a:r>
          </a:p>
        </p:txBody>
      </p:sp>
      <p:sp>
        <p:nvSpPr>
          <p:cNvPr id="8" name="bullet-dot-0">
            <a:extLst xmlns:a="http://schemas.openxmlformats.org/drawingml/2006/main">
              <a:ext uri="{FF2B5EF4-FFF2-40B4-BE49-F238E27FC236}">
                <a16:creationId xmlns:a16="http://schemas.microsoft.com/office/drawing/2014/main" id="{95E26286-CFA4-417A-BD45-4B46531E2E90}"/>
              </a:ext>
            </a:extLst>
          </p:cNvPr>
          <p:cNvSpPr>
            <a:spLocks xmlns:a="http://schemas.openxmlformats.org/drawingml/2006/main" noGrp="1"/>
          </p:cNvSpPr>
          <p:nvPr/>
        </p:nvSpPr>
        <p:spPr>
          <a:xfrm xmlns:a="http://schemas.openxmlformats.org/drawingml/2006/main">
            <a:off x="7029450" y="2781300"/>
            <a:ext cx="762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bullet-0">
            <a:extLst xmlns:a="http://schemas.openxmlformats.org/drawingml/2006/main">
              <a:ext uri="{FF2B5EF4-FFF2-40B4-BE49-F238E27FC236}">
                <a16:creationId xmlns:a16="http://schemas.microsoft.com/office/drawing/2014/main" id="{7F2D5197-3C1D-4DA8-82AF-4FD55F0F116F}"/>
              </a:ext>
            </a:extLst>
          </p:cNvPr>
          <p:cNvSpPr>
            <a:spLocks xmlns:a="http://schemas.openxmlformats.org/drawingml/2006/main" noGrp="1"/>
          </p:cNvSpPr>
          <p:nvPr/>
        </p:nvSpPr>
        <p:spPr>
          <a:xfrm xmlns:a="http://schemas.openxmlformats.org/drawingml/2006/main">
            <a:off x="7239000" y="2686050"/>
            <a:ext cx="3790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P00 full TAC document</a:t>
            </a:r>
          </a:p>
        </p:txBody>
      </p:sp>
      <p:sp>
        <p:nvSpPr>
          <p:cNvPr id="10" name="bullet-dot-1">
            <a:extLst xmlns:a="http://schemas.openxmlformats.org/drawingml/2006/main">
              <a:ext uri="{FF2B5EF4-FFF2-40B4-BE49-F238E27FC236}">
                <a16:creationId xmlns:a16="http://schemas.microsoft.com/office/drawing/2014/main" id="{4DF7358D-E988-435F-83AC-20F51227D8A9}"/>
              </a:ext>
            </a:extLst>
          </p:cNvPr>
          <p:cNvSpPr>
            <a:spLocks xmlns:a="http://schemas.openxmlformats.org/drawingml/2006/main" noGrp="1"/>
          </p:cNvSpPr>
          <p:nvPr/>
        </p:nvSpPr>
        <p:spPr>
          <a:xfrm xmlns:a="http://schemas.openxmlformats.org/drawingml/2006/main">
            <a:off x="7029450" y="32766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1" name="bullet-1">
            <a:extLst xmlns:a="http://schemas.openxmlformats.org/drawingml/2006/main">
              <a:ext uri="{FF2B5EF4-FFF2-40B4-BE49-F238E27FC236}">
                <a16:creationId xmlns:a16="http://schemas.microsoft.com/office/drawing/2014/main" id="{100E0CC3-FF56-4D94-8A3C-B05C24C9500A}"/>
              </a:ext>
            </a:extLst>
          </p:cNvPr>
          <p:cNvSpPr>
            <a:spLocks xmlns:a="http://schemas.openxmlformats.org/drawingml/2006/main" noGrp="1"/>
          </p:cNvSpPr>
          <p:nvPr/>
        </p:nvSpPr>
        <p:spPr>
          <a:xfrm xmlns:a="http://schemas.openxmlformats.org/drawingml/2006/main">
            <a:off x="7239000" y="3181350"/>
            <a:ext cx="3790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P01 title + abstract</a:t>
            </a:r>
          </a:p>
        </p:txBody>
      </p:sp>
      <p:sp>
        <p:nvSpPr>
          <p:cNvPr id="12" name="bullet-dot-2">
            <a:extLst xmlns:a="http://schemas.openxmlformats.org/drawingml/2006/main">
              <a:ext uri="{FF2B5EF4-FFF2-40B4-BE49-F238E27FC236}">
                <a16:creationId xmlns:a16="http://schemas.microsoft.com/office/drawing/2014/main" id="{BB26EAEF-6BF3-43B8-A894-24DB9AA2BBA8}"/>
              </a:ext>
            </a:extLst>
          </p:cNvPr>
          <p:cNvSpPr>
            <a:spLocks xmlns:a="http://schemas.openxmlformats.org/drawingml/2006/main" noGrp="1"/>
          </p:cNvSpPr>
          <p:nvPr/>
        </p:nvSpPr>
        <p:spPr>
          <a:xfrm xmlns:a="http://schemas.openxmlformats.org/drawingml/2006/main">
            <a:off x="7029450" y="37719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3" name="bullet-2">
            <a:extLst xmlns:a="http://schemas.openxmlformats.org/drawingml/2006/main">
              <a:ext uri="{FF2B5EF4-FFF2-40B4-BE49-F238E27FC236}">
                <a16:creationId xmlns:a16="http://schemas.microsoft.com/office/drawing/2014/main" id="{5D64C8C4-A691-4C62-9911-4F221D7B4FDA}"/>
              </a:ext>
            </a:extLst>
          </p:cNvPr>
          <p:cNvSpPr>
            <a:spLocks xmlns:a="http://schemas.openxmlformats.org/drawingml/2006/main" noGrp="1"/>
          </p:cNvSpPr>
          <p:nvPr/>
        </p:nvSpPr>
        <p:spPr>
          <a:xfrm xmlns:a="http://schemas.openxmlformats.org/drawingml/2006/main">
            <a:off x="7239000" y="3676650"/>
            <a:ext cx="3790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P02 first independent claim</a:t>
            </a:r>
          </a:p>
        </p:txBody>
      </p:sp>
      <p:sp>
        <p:nvSpPr>
          <p:cNvPr id="14" name="bullet-dot-3">
            <a:extLst xmlns:a="http://schemas.openxmlformats.org/drawingml/2006/main">
              <a:ext uri="{FF2B5EF4-FFF2-40B4-BE49-F238E27FC236}">
                <a16:creationId xmlns:a16="http://schemas.microsoft.com/office/drawing/2014/main" id="{6D23037C-4FB6-4A36-807A-A4C963092502}"/>
              </a:ext>
            </a:extLst>
          </p:cNvPr>
          <p:cNvSpPr>
            <a:spLocks xmlns:a="http://schemas.openxmlformats.org/drawingml/2006/main" noGrp="1"/>
          </p:cNvSpPr>
          <p:nvPr/>
        </p:nvSpPr>
        <p:spPr>
          <a:xfrm xmlns:a="http://schemas.openxmlformats.org/drawingml/2006/main">
            <a:off x="7029450" y="42672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5" name="bullet-3">
            <a:extLst xmlns:a="http://schemas.openxmlformats.org/drawingml/2006/main">
              <a:ext uri="{FF2B5EF4-FFF2-40B4-BE49-F238E27FC236}">
                <a16:creationId xmlns:a16="http://schemas.microsoft.com/office/drawing/2014/main" id="{570F2D3D-C932-4EE4-BADC-DC6E0FA15E61}"/>
              </a:ext>
            </a:extLst>
          </p:cNvPr>
          <p:cNvSpPr>
            <a:spLocks xmlns:a="http://schemas.openxmlformats.org/drawingml/2006/main" noGrp="1"/>
          </p:cNvSpPr>
          <p:nvPr/>
        </p:nvSpPr>
        <p:spPr>
          <a:xfrm xmlns:a="http://schemas.openxmlformats.org/drawingml/2006/main">
            <a:off x="7239000" y="4171950"/>
            <a:ext cx="3790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P03 fixed passages</a:t>
            </a:r>
          </a:p>
        </p:txBody>
      </p:sp>
      <p:sp>
        <p:nvSpPr>
          <p:cNvPr id="16" name="bullet-dot-4">
            <a:extLst xmlns:a="http://schemas.openxmlformats.org/drawingml/2006/main">
              <a:ext uri="{FF2B5EF4-FFF2-40B4-BE49-F238E27FC236}">
                <a16:creationId xmlns:a16="http://schemas.microsoft.com/office/drawing/2014/main" id="{45A325F1-5F46-49D2-B287-229CA813B19B}"/>
              </a:ext>
            </a:extLst>
          </p:cNvPr>
          <p:cNvSpPr>
            <a:spLocks xmlns:a="http://schemas.openxmlformats.org/drawingml/2006/main" noGrp="1"/>
          </p:cNvSpPr>
          <p:nvPr/>
        </p:nvSpPr>
        <p:spPr>
          <a:xfrm xmlns:a="http://schemas.openxmlformats.org/drawingml/2006/main">
            <a:off x="7029450" y="47625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7" name="bullet-4">
            <a:extLst xmlns:a="http://schemas.openxmlformats.org/drawingml/2006/main">
              <a:ext uri="{FF2B5EF4-FFF2-40B4-BE49-F238E27FC236}">
                <a16:creationId xmlns:a16="http://schemas.microsoft.com/office/drawing/2014/main" id="{7C62D7C5-17CB-4D22-9DA7-D523C78B3227}"/>
              </a:ext>
            </a:extLst>
          </p:cNvPr>
          <p:cNvSpPr>
            <a:spLocks xmlns:a="http://schemas.openxmlformats.org/drawingml/2006/main" noGrp="1"/>
          </p:cNvSpPr>
          <p:nvPr/>
        </p:nvSpPr>
        <p:spPr>
          <a:xfrm xmlns:a="http://schemas.openxmlformats.org/drawingml/2006/main">
            <a:off x="7239000" y="4667250"/>
            <a:ext cx="3790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P04 field-specific multiview</a:t>
            </a:r>
          </a:p>
        </p:txBody>
      </p:sp>
      <p:sp>
        <p:nvSpPr>
          <p:cNvPr id="18" name="a1-complete">
            <a:extLst xmlns:a="http://schemas.openxmlformats.org/drawingml/2006/main">
              <a:ext uri="{FF2B5EF4-FFF2-40B4-BE49-F238E27FC236}">
                <a16:creationId xmlns:a16="http://schemas.microsoft.com/office/drawing/2014/main" id="{C379BF5E-3B24-4C4C-B936-2526F5CE1605}"/>
              </a:ext>
            </a:extLst>
          </p:cNvPr>
          <p:cNvSpPr>
            <a:spLocks xmlns:a="http://schemas.openxmlformats.org/drawingml/2006/main" noGrp="1"/>
          </p:cNvSpPr>
          <p:nvPr/>
        </p:nvSpPr>
        <p:spPr>
          <a:xfrm xmlns:a="http://schemas.openxmlformats.org/drawingml/2006/main">
            <a:off x="7029450" y="53721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1">
                <a:solidFill>
                  <a:srgbClr val="C18119"/>
                </a:solidFill>
                <a:latin typeface="Aptos"/>
                <a:ea typeface="Aptos"/>
                <a:cs typeface="Aptos"/>
              </a:defRPr>
            </a:pPr>
            <a:r>
              <a:rPr sz="1500" b="1">
                <a:solidFill>
                  <a:srgbClr val="C18119"/>
                </a:solidFill>
                <a:latin typeface="Aptos"/>
                <a:ea typeface="Aptos"/>
                <a:cs typeface="Aptos"/>
              </a:rPr>
              <a:t>25 / 25 valid logical cells on REP-DEV | USD 11.161632</a:t>
            </a:r>
          </a:p>
        </p:txBody>
      </p:sp>
    </p:spTree>
    <p:extLst>
      <p:ext uri="{BB962C8B-B14F-4D97-AF65-F5344CB8AC3E}">
        <p14:creationId xmlns:p14="http://schemas.microsoft.com/office/powerpoint/2010/main" val="82438963"/>
      </p:ext>
    </p:extLst>
  </p:cSld>
</p:sld>
</file>

<file path=ppt/slides/slide9.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7" name="section-label">
            <a:extLst xmlns:a="http://schemas.openxmlformats.org/drawingml/2006/main">
              <a:ext uri="{FF2B5EF4-FFF2-40B4-BE49-F238E27FC236}">
                <a16:creationId xmlns:a16="http://schemas.microsoft.com/office/drawing/2014/main" id="{5C1D0415-1A2E-4B26-86B7-AAC60A90DF41}"/>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A1 | FROZEN RETRIEVERS</a:t>
            </a:r>
          </a:p>
        </p:txBody>
      </p:sp>
      <p:sp>
        <p:nvSpPr>
          <p:cNvPr id="2" name="rule">
            <a:extLst xmlns:a="http://schemas.openxmlformats.org/drawingml/2006/main">
              <a:ext uri="{FF2B5EF4-FFF2-40B4-BE49-F238E27FC236}">
                <a16:creationId xmlns:a16="http://schemas.microsoft.com/office/drawing/2014/main" id="{D96C7574-13A4-4956-831F-D78520131C85}"/>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E2838CEA-5F6D-45A9-A6AD-AFE7AA1FC160}"/>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09 / 18</a:t>
            </a:r>
          </a:p>
        </p:txBody>
      </p:sp>
      <p:sp>
        <p:nvSpPr>
          <p:cNvPr id="4" name="slide-title">
            <a:extLst xmlns:a="http://schemas.openxmlformats.org/drawingml/2006/main">
              <a:ext uri="{FF2B5EF4-FFF2-40B4-BE49-F238E27FC236}">
                <a16:creationId xmlns:a16="http://schemas.microsoft.com/office/drawing/2014/main" id="{E3B6499D-EC61-4A0C-95CA-F6DDB038A4FE}"/>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Five diverse arms expose the interaction</a:t>
            </a:r>
          </a:p>
        </p:txBody>
      </p:sp>
      <p:sp>
        <p:nvSpPr>
          <p:cNvPr id="5" name="slide-subtitle">
            <a:extLst xmlns:a="http://schemas.openxmlformats.org/drawingml/2006/main">
              <a:ext uri="{FF2B5EF4-FFF2-40B4-BE49-F238E27FC236}">
                <a16:creationId xmlns:a16="http://schemas.microsoft.com/office/drawing/2014/main" id="{C1ADBD80-F06C-4F53-947A-6195B395A6ED}"/>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arms differ in lexical/dense behavior, domain training, context envelope, and template semantics.</a:t>
            </a:r>
          </a:p>
        </p:txBody>
      </p:sp>
      <p:sp>
        <p:nvSpPr>
          <p:cNvPr id="6" name="table-cell-210-0">
            <a:extLst xmlns:a="http://schemas.openxmlformats.org/drawingml/2006/main">
              <a:ext uri="{FF2B5EF4-FFF2-40B4-BE49-F238E27FC236}">
                <a16:creationId xmlns:a16="http://schemas.microsoft.com/office/drawing/2014/main" id="{33D31A3E-32DB-4ECA-86DA-80B6B8AFBDC2}"/>
              </a:ext>
            </a:extLst>
          </p:cNvPr>
          <p:cNvSpPr>
            <a:spLocks xmlns:a="http://schemas.openxmlformats.org/drawingml/2006/main" noGrp="1"/>
          </p:cNvSpPr>
          <p:nvPr/>
        </p:nvSpPr>
        <p:spPr>
          <a:xfrm xmlns:a="http://schemas.openxmlformats.org/drawingml/2006/main">
            <a:off x="685800" y="2000250"/>
            <a:ext cx="186690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7" name="table-text-210-0">
            <a:extLst xmlns:a="http://schemas.openxmlformats.org/drawingml/2006/main">
              <a:ext uri="{FF2B5EF4-FFF2-40B4-BE49-F238E27FC236}">
                <a16:creationId xmlns:a16="http://schemas.microsoft.com/office/drawing/2014/main" id="{1BE19872-1861-4327-801D-6F08CDB108A6}"/>
              </a:ext>
            </a:extLst>
          </p:cNvPr>
          <p:cNvSpPr>
            <a:spLocks xmlns:a="http://schemas.openxmlformats.org/drawingml/2006/main" noGrp="1"/>
          </p:cNvSpPr>
          <p:nvPr/>
        </p:nvSpPr>
        <p:spPr>
          <a:xfrm xmlns:a="http://schemas.openxmlformats.org/drawingml/2006/main">
            <a:off x="800100" y="20955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Arm</a:t>
            </a:r>
          </a:p>
        </p:txBody>
      </p:sp>
      <p:sp>
        <p:nvSpPr>
          <p:cNvPr id="8" name="table-cell-210-1">
            <a:extLst xmlns:a="http://schemas.openxmlformats.org/drawingml/2006/main">
              <a:ext uri="{FF2B5EF4-FFF2-40B4-BE49-F238E27FC236}">
                <a16:creationId xmlns:a16="http://schemas.microsoft.com/office/drawing/2014/main" id="{BB4B9698-D49F-4377-9E76-533F7A5DDAC3}"/>
              </a:ext>
            </a:extLst>
          </p:cNvPr>
          <p:cNvSpPr>
            <a:spLocks xmlns:a="http://schemas.openxmlformats.org/drawingml/2006/main" noGrp="1"/>
          </p:cNvSpPr>
          <p:nvPr/>
        </p:nvSpPr>
        <p:spPr>
          <a:xfrm xmlns:a="http://schemas.openxmlformats.org/drawingml/2006/main">
            <a:off x="2552700" y="2000250"/>
            <a:ext cx="325755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9" name="table-text-210-1">
            <a:extLst xmlns:a="http://schemas.openxmlformats.org/drawingml/2006/main">
              <a:ext uri="{FF2B5EF4-FFF2-40B4-BE49-F238E27FC236}">
                <a16:creationId xmlns:a16="http://schemas.microsoft.com/office/drawing/2014/main" id="{D5C608AB-A1BC-45FA-965A-45716FBE2C2A}"/>
              </a:ext>
            </a:extLst>
          </p:cNvPr>
          <p:cNvSpPr>
            <a:spLocks xmlns:a="http://schemas.openxmlformats.org/drawingml/2006/main" noGrp="1"/>
          </p:cNvSpPr>
          <p:nvPr/>
        </p:nvSpPr>
        <p:spPr>
          <a:xfrm xmlns:a="http://schemas.openxmlformats.org/drawingml/2006/main">
            <a:off x="2667000" y="20955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Frozen source</a:t>
            </a:r>
          </a:p>
        </p:txBody>
      </p:sp>
      <p:sp>
        <p:nvSpPr>
          <p:cNvPr id="10" name="table-cell-210-2">
            <a:extLst xmlns:a="http://schemas.openxmlformats.org/drawingml/2006/main">
              <a:ext uri="{FF2B5EF4-FFF2-40B4-BE49-F238E27FC236}">
                <a16:creationId xmlns:a16="http://schemas.microsoft.com/office/drawing/2014/main" id="{E9B41CA4-E3A5-4DF2-8257-6D8AB71F8249}"/>
              </a:ext>
            </a:extLst>
          </p:cNvPr>
          <p:cNvSpPr>
            <a:spLocks xmlns:a="http://schemas.openxmlformats.org/drawingml/2006/main" noGrp="1"/>
          </p:cNvSpPr>
          <p:nvPr/>
        </p:nvSpPr>
        <p:spPr>
          <a:xfrm xmlns:a="http://schemas.openxmlformats.org/drawingml/2006/main">
            <a:off x="5810250" y="2000250"/>
            <a:ext cx="215265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11" name="table-text-210-2">
            <a:extLst xmlns:a="http://schemas.openxmlformats.org/drawingml/2006/main">
              <a:ext uri="{FF2B5EF4-FFF2-40B4-BE49-F238E27FC236}">
                <a16:creationId xmlns:a16="http://schemas.microsoft.com/office/drawing/2014/main" id="{15D07483-BD3C-466C-8E1C-CB89BF488ADB}"/>
              </a:ext>
            </a:extLst>
          </p:cNvPr>
          <p:cNvSpPr>
            <a:spLocks xmlns:a="http://schemas.openxmlformats.org/drawingml/2006/main" noGrp="1"/>
          </p:cNvSpPr>
          <p:nvPr/>
        </p:nvSpPr>
        <p:spPr>
          <a:xfrm xmlns:a="http://schemas.openxmlformats.org/drawingml/2006/main">
            <a:off x="5924550" y="209550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Retrieval role</a:t>
            </a:r>
          </a:p>
        </p:txBody>
      </p:sp>
      <p:sp>
        <p:nvSpPr>
          <p:cNvPr id="12" name="table-cell-210-3">
            <a:extLst xmlns:a="http://schemas.openxmlformats.org/drawingml/2006/main">
              <a:ext uri="{FF2B5EF4-FFF2-40B4-BE49-F238E27FC236}">
                <a16:creationId xmlns:a16="http://schemas.microsoft.com/office/drawing/2014/main" id="{F344DA8E-866C-44A1-B1CD-DE31E406F6C1}"/>
              </a:ext>
            </a:extLst>
          </p:cNvPr>
          <p:cNvSpPr>
            <a:spLocks xmlns:a="http://schemas.openxmlformats.org/drawingml/2006/main" noGrp="1"/>
          </p:cNvSpPr>
          <p:nvPr/>
        </p:nvSpPr>
        <p:spPr>
          <a:xfrm xmlns:a="http://schemas.openxmlformats.org/drawingml/2006/main">
            <a:off x="7962900" y="2000250"/>
            <a:ext cx="213360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13" name="table-text-210-3">
            <a:extLst xmlns:a="http://schemas.openxmlformats.org/drawingml/2006/main">
              <a:ext uri="{FF2B5EF4-FFF2-40B4-BE49-F238E27FC236}">
                <a16:creationId xmlns:a16="http://schemas.microsoft.com/office/drawing/2014/main" id="{7AF7CFA5-DD53-4D30-B0DC-F3C763EB29FE}"/>
              </a:ext>
            </a:extLst>
          </p:cNvPr>
          <p:cNvSpPr>
            <a:spLocks xmlns:a="http://schemas.openxmlformats.org/drawingml/2006/main" noGrp="1"/>
          </p:cNvSpPr>
          <p:nvPr/>
        </p:nvSpPr>
        <p:spPr>
          <a:xfrm xmlns:a="http://schemas.openxmlformats.org/drawingml/2006/main">
            <a:off x="8077200" y="2095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Envelope</a:t>
            </a:r>
          </a:p>
        </p:txBody>
      </p:sp>
      <p:sp>
        <p:nvSpPr>
          <p:cNvPr id="14" name="table-cell-210-4">
            <a:extLst xmlns:a="http://schemas.openxmlformats.org/drawingml/2006/main">
              <a:ext uri="{FF2B5EF4-FFF2-40B4-BE49-F238E27FC236}">
                <a16:creationId xmlns:a16="http://schemas.microsoft.com/office/drawing/2014/main" id="{0C1DDBD2-69F2-45EC-A173-BAB041C334D5}"/>
              </a:ext>
            </a:extLst>
          </p:cNvPr>
          <p:cNvSpPr>
            <a:spLocks xmlns:a="http://schemas.openxmlformats.org/drawingml/2006/main" noGrp="1"/>
          </p:cNvSpPr>
          <p:nvPr/>
        </p:nvSpPr>
        <p:spPr>
          <a:xfrm xmlns:a="http://schemas.openxmlformats.org/drawingml/2006/main">
            <a:off x="10096500" y="2000250"/>
            <a:ext cx="140970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15" name="table-text-210-4">
            <a:extLst xmlns:a="http://schemas.openxmlformats.org/drawingml/2006/main">
              <a:ext uri="{FF2B5EF4-FFF2-40B4-BE49-F238E27FC236}">
                <a16:creationId xmlns:a16="http://schemas.microsoft.com/office/drawing/2014/main" id="{AA3A14CB-2C8E-45B1-B392-F01805E3978A}"/>
              </a:ext>
            </a:extLst>
          </p:cNvPr>
          <p:cNvSpPr>
            <a:spLocks xmlns:a="http://schemas.openxmlformats.org/drawingml/2006/main" noGrp="1"/>
          </p:cNvSpPr>
          <p:nvPr/>
        </p:nvSpPr>
        <p:spPr>
          <a:xfrm xmlns:a="http://schemas.openxmlformats.org/drawingml/2006/main">
            <a:off x="10210800" y="20955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License</a:t>
            </a:r>
          </a:p>
        </p:txBody>
      </p:sp>
      <p:sp>
        <p:nvSpPr>
          <p:cNvPr id="16" name="table-cell-256-0">
            <a:extLst xmlns:a="http://schemas.openxmlformats.org/drawingml/2006/main">
              <a:ext uri="{FF2B5EF4-FFF2-40B4-BE49-F238E27FC236}">
                <a16:creationId xmlns:a16="http://schemas.microsoft.com/office/drawing/2014/main" id="{B8DBCD7F-57A4-4F24-A6A3-91B616715481}"/>
              </a:ext>
            </a:extLst>
          </p:cNvPr>
          <p:cNvSpPr>
            <a:spLocks xmlns:a="http://schemas.openxmlformats.org/drawingml/2006/main" noGrp="1"/>
          </p:cNvSpPr>
          <p:nvPr/>
        </p:nvSpPr>
        <p:spPr>
          <a:xfrm xmlns:a="http://schemas.openxmlformats.org/drawingml/2006/main">
            <a:off x="685800" y="2438400"/>
            <a:ext cx="18669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17" name="table-text-256-0">
            <a:extLst xmlns:a="http://schemas.openxmlformats.org/drawingml/2006/main">
              <a:ext uri="{FF2B5EF4-FFF2-40B4-BE49-F238E27FC236}">
                <a16:creationId xmlns:a16="http://schemas.microsoft.com/office/drawing/2014/main" id="{18261281-8420-4E60-A64F-D6AD68E1F584}"/>
              </a:ext>
            </a:extLst>
          </p:cNvPr>
          <p:cNvSpPr>
            <a:spLocks xmlns:a="http://schemas.openxmlformats.org/drawingml/2006/main" noGrp="1"/>
          </p:cNvSpPr>
          <p:nvPr/>
        </p:nvSpPr>
        <p:spPr>
          <a:xfrm xmlns:a="http://schemas.openxmlformats.org/drawingml/2006/main">
            <a:off x="800100" y="2533650"/>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ARM-01</a:t>
            </a:r>
          </a:p>
        </p:txBody>
      </p:sp>
      <p:sp>
        <p:nvSpPr>
          <p:cNvPr id="18" name="table-cell-256-1">
            <a:extLst xmlns:a="http://schemas.openxmlformats.org/drawingml/2006/main">
              <a:ext uri="{FF2B5EF4-FFF2-40B4-BE49-F238E27FC236}">
                <a16:creationId xmlns:a16="http://schemas.microsoft.com/office/drawing/2014/main" id="{1A058774-F5A5-4BB7-96C3-90DCD145343D}"/>
              </a:ext>
            </a:extLst>
          </p:cNvPr>
          <p:cNvSpPr>
            <a:spLocks xmlns:a="http://schemas.openxmlformats.org/drawingml/2006/main" noGrp="1"/>
          </p:cNvSpPr>
          <p:nvPr/>
        </p:nvSpPr>
        <p:spPr>
          <a:xfrm xmlns:a="http://schemas.openxmlformats.org/drawingml/2006/main">
            <a:off x="2552700" y="2438400"/>
            <a:ext cx="32575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19" name="table-text-256-1">
            <a:extLst xmlns:a="http://schemas.openxmlformats.org/drawingml/2006/main">
              <a:ext uri="{FF2B5EF4-FFF2-40B4-BE49-F238E27FC236}">
                <a16:creationId xmlns:a16="http://schemas.microsoft.com/office/drawing/2014/main" id="{7B9EF47B-D2BB-4B1C-8705-5B8157985BCC}"/>
              </a:ext>
            </a:extLst>
          </p:cNvPr>
          <p:cNvSpPr>
            <a:spLocks xmlns:a="http://schemas.openxmlformats.org/drawingml/2006/main" noGrp="1"/>
          </p:cNvSpPr>
          <p:nvPr/>
        </p:nvSpPr>
        <p:spPr>
          <a:xfrm xmlns:a="http://schemas.openxmlformats.org/drawingml/2006/main">
            <a:off x="2667000" y="253365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bm25s==0.3.10</a:t>
            </a:r>
          </a:p>
        </p:txBody>
      </p:sp>
      <p:sp>
        <p:nvSpPr>
          <p:cNvPr id="20" name="table-cell-256-2">
            <a:extLst xmlns:a="http://schemas.openxmlformats.org/drawingml/2006/main">
              <a:ext uri="{FF2B5EF4-FFF2-40B4-BE49-F238E27FC236}">
                <a16:creationId xmlns:a16="http://schemas.microsoft.com/office/drawing/2014/main" id="{CBF57BEB-1700-43F9-A2B3-062851FA2827}"/>
              </a:ext>
            </a:extLst>
          </p:cNvPr>
          <p:cNvSpPr>
            <a:spLocks xmlns:a="http://schemas.openxmlformats.org/drawingml/2006/main" noGrp="1"/>
          </p:cNvSpPr>
          <p:nvPr/>
        </p:nvSpPr>
        <p:spPr>
          <a:xfrm xmlns:a="http://schemas.openxmlformats.org/drawingml/2006/main">
            <a:off x="5810250" y="2438400"/>
            <a:ext cx="21526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21" name="table-text-256-2">
            <a:extLst xmlns:a="http://schemas.openxmlformats.org/drawingml/2006/main">
              <a:ext uri="{FF2B5EF4-FFF2-40B4-BE49-F238E27FC236}">
                <a16:creationId xmlns:a16="http://schemas.microsoft.com/office/drawing/2014/main" id="{5FC960E1-4396-4E21-B5C8-26848C980EEC}"/>
              </a:ext>
            </a:extLst>
          </p:cNvPr>
          <p:cNvSpPr>
            <a:spLocks xmlns:a="http://schemas.openxmlformats.org/drawingml/2006/main" noGrp="1"/>
          </p:cNvSpPr>
          <p:nvPr/>
        </p:nvSpPr>
        <p:spPr>
          <a:xfrm xmlns:a="http://schemas.openxmlformats.org/drawingml/2006/main">
            <a:off x="5924550" y="25336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Lexical CPU anchor</a:t>
            </a:r>
          </a:p>
        </p:txBody>
      </p:sp>
      <p:sp>
        <p:nvSpPr>
          <p:cNvPr id="22" name="table-cell-256-3">
            <a:extLst xmlns:a="http://schemas.openxmlformats.org/drawingml/2006/main">
              <a:ext uri="{FF2B5EF4-FFF2-40B4-BE49-F238E27FC236}">
                <a16:creationId xmlns:a16="http://schemas.microsoft.com/office/drawing/2014/main" id="{DC199299-94AB-4BB9-86A3-9E359ECD47ED}"/>
              </a:ext>
            </a:extLst>
          </p:cNvPr>
          <p:cNvSpPr>
            <a:spLocks xmlns:a="http://schemas.openxmlformats.org/drawingml/2006/main" noGrp="1"/>
          </p:cNvSpPr>
          <p:nvPr/>
        </p:nvSpPr>
        <p:spPr>
          <a:xfrm xmlns:a="http://schemas.openxmlformats.org/drawingml/2006/main">
            <a:off x="7962900" y="2438400"/>
            <a:ext cx="2133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23" name="table-text-256-3">
            <a:extLst xmlns:a="http://schemas.openxmlformats.org/drawingml/2006/main">
              <a:ext uri="{FF2B5EF4-FFF2-40B4-BE49-F238E27FC236}">
                <a16:creationId xmlns:a16="http://schemas.microsoft.com/office/drawing/2014/main" id="{4E9520DE-5924-4B7B-9530-C01B253B8408}"/>
              </a:ext>
            </a:extLst>
          </p:cNvPr>
          <p:cNvSpPr>
            <a:spLocks xmlns:a="http://schemas.openxmlformats.org/drawingml/2006/main" noGrp="1"/>
          </p:cNvSpPr>
          <p:nvPr/>
        </p:nvSpPr>
        <p:spPr>
          <a:xfrm xmlns:a="http://schemas.openxmlformats.org/drawingml/2006/main">
            <a:off x="8077200" y="25336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k1=1.2; b=0.75</a:t>
            </a:r>
          </a:p>
        </p:txBody>
      </p:sp>
      <p:sp>
        <p:nvSpPr>
          <p:cNvPr id="24" name="table-cell-256-4">
            <a:extLst xmlns:a="http://schemas.openxmlformats.org/drawingml/2006/main">
              <a:ext uri="{FF2B5EF4-FFF2-40B4-BE49-F238E27FC236}">
                <a16:creationId xmlns:a16="http://schemas.microsoft.com/office/drawing/2014/main" id="{84FFC679-59C3-40F7-87E2-FBD7B56C6F16}"/>
              </a:ext>
            </a:extLst>
          </p:cNvPr>
          <p:cNvSpPr>
            <a:spLocks xmlns:a="http://schemas.openxmlformats.org/drawingml/2006/main" noGrp="1"/>
          </p:cNvSpPr>
          <p:nvPr/>
        </p:nvSpPr>
        <p:spPr>
          <a:xfrm xmlns:a="http://schemas.openxmlformats.org/drawingml/2006/main">
            <a:off x="10096500" y="2438400"/>
            <a:ext cx="14097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25" name="table-text-256-4">
            <a:extLst xmlns:a="http://schemas.openxmlformats.org/drawingml/2006/main">
              <a:ext uri="{FF2B5EF4-FFF2-40B4-BE49-F238E27FC236}">
                <a16:creationId xmlns:a16="http://schemas.microsoft.com/office/drawing/2014/main" id="{018D20A8-537A-4D2B-9772-B0127636C585}"/>
              </a:ext>
            </a:extLst>
          </p:cNvPr>
          <p:cNvSpPr>
            <a:spLocks xmlns:a="http://schemas.openxmlformats.org/drawingml/2006/main" noGrp="1"/>
          </p:cNvSpPr>
          <p:nvPr/>
        </p:nvSpPr>
        <p:spPr>
          <a:xfrm xmlns:a="http://schemas.openxmlformats.org/drawingml/2006/main">
            <a:off x="10210800" y="2533650"/>
            <a:ext cx="118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MIT</a:t>
            </a:r>
          </a:p>
        </p:txBody>
      </p:sp>
      <p:sp>
        <p:nvSpPr>
          <p:cNvPr id="26" name="table-cell-312-0">
            <a:extLst xmlns:a="http://schemas.openxmlformats.org/drawingml/2006/main">
              <a:ext uri="{FF2B5EF4-FFF2-40B4-BE49-F238E27FC236}">
                <a16:creationId xmlns:a16="http://schemas.microsoft.com/office/drawing/2014/main" id="{33073C51-650D-4939-8F10-7B5631177F3F}"/>
              </a:ext>
            </a:extLst>
          </p:cNvPr>
          <p:cNvSpPr>
            <a:spLocks xmlns:a="http://schemas.openxmlformats.org/drawingml/2006/main" noGrp="1"/>
          </p:cNvSpPr>
          <p:nvPr/>
        </p:nvSpPr>
        <p:spPr>
          <a:xfrm xmlns:a="http://schemas.openxmlformats.org/drawingml/2006/main">
            <a:off x="685800" y="2971800"/>
            <a:ext cx="186690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27" name="table-text-312-0">
            <a:extLst xmlns:a="http://schemas.openxmlformats.org/drawingml/2006/main">
              <a:ext uri="{FF2B5EF4-FFF2-40B4-BE49-F238E27FC236}">
                <a16:creationId xmlns:a16="http://schemas.microsoft.com/office/drawing/2014/main" id="{2B1259D3-A6A4-4529-BAE9-D42E7235D8D5}"/>
              </a:ext>
            </a:extLst>
          </p:cNvPr>
          <p:cNvSpPr>
            <a:spLocks xmlns:a="http://schemas.openxmlformats.org/drawingml/2006/main" noGrp="1"/>
          </p:cNvSpPr>
          <p:nvPr/>
        </p:nvSpPr>
        <p:spPr>
          <a:xfrm xmlns:a="http://schemas.openxmlformats.org/drawingml/2006/main">
            <a:off x="800100" y="3067050"/>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ARM-02</a:t>
            </a:r>
          </a:p>
        </p:txBody>
      </p:sp>
      <p:sp>
        <p:nvSpPr>
          <p:cNvPr id="28" name="table-cell-312-1">
            <a:extLst xmlns:a="http://schemas.openxmlformats.org/drawingml/2006/main">
              <a:ext uri="{FF2B5EF4-FFF2-40B4-BE49-F238E27FC236}">
                <a16:creationId xmlns:a16="http://schemas.microsoft.com/office/drawing/2014/main" id="{94DF18E4-441A-440E-9F53-0532D96F9F0C}"/>
              </a:ext>
            </a:extLst>
          </p:cNvPr>
          <p:cNvSpPr>
            <a:spLocks xmlns:a="http://schemas.openxmlformats.org/drawingml/2006/main" noGrp="1"/>
          </p:cNvSpPr>
          <p:nvPr/>
        </p:nvSpPr>
        <p:spPr>
          <a:xfrm xmlns:a="http://schemas.openxmlformats.org/drawingml/2006/main">
            <a:off x="2552700" y="2971800"/>
            <a:ext cx="325755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29" name="table-text-312-1">
            <a:extLst xmlns:a="http://schemas.openxmlformats.org/drawingml/2006/main">
              <a:ext uri="{FF2B5EF4-FFF2-40B4-BE49-F238E27FC236}">
                <a16:creationId xmlns:a16="http://schemas.microsoft.com/office/drawing/2014/main" id="{71926284-A0FD-4437-ADF9-7784BEB10123}"/>
              </a:ext>
            </a:extLst>
          </p:cNvPr>
          <p:cNvSpPr>
            <a:spLocks xmlns:a="http://schemas.openxmlformats.org/drawingml/2006/main" noGrp="1"/>
          </p:cNvSpPr>
          <p:nvPr/>
        </p:nvSpPr>
        <p:spPr>
          <a:xfrm xmlns:a="http://schemas.openxmlformats.org/drawingml/2006/main">
            <a:off x="2667000" y="306705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BAAI/bge-m3</a:t>
            </a:r>
          </a:p>
        </p:txBody>
      </p:sp>
      <p:sp>
        <p:nvSpPr>
          <p:cNvPr id="30" name="table-cell-312-2">
            <a:extLst xmlns:a="http://schemas.openxmlformats.org/drawingml/2006/main">
              <a:ext uri="{FF2B5EF4-FFF2-40B4-BE49-F238E27FC236}">
                <a16:creationId xmlns:a16="http://schemas.microsoft.com/office/drawing/2014/main" id="{9665CBF1-51C0-461A-9C18-478C75BDFFAD}"/>
              </a:ext>
            </a:extLst>
          </p:cNvPr>
          <p:cNvSpPr>
            <a:spLocks xmlns:a="http://schemas.openxmlformats.org/drawingml/2006/main" noGrp="1"/>
          </p:cNvSpPr>
          <p:nvPr/>
        </p:nvSpPr>
        <p:spPr>
          <a:xfrm xmlns:a="http://schemas.openxmlformats.org/drawingml/2006/main">
            <a:off x="5810250" y="2971800"/>
            <a:ext cx="215265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31" name="table-text-312-2">
            <a:extLst xmlns:a="http://schemas.openxmlformats.org/drawingml/2006/main">
              <a:ext uri="{FF2B5EF4-FFF2-40B4-BE49-F238E27FC236}">
                <a16:creationId xmlns:a16="http://schemas.microsoft.com/office/drawing/2014/main" id="{9A2B7252-95E7-4076-921C-36F650A59FDD}"/>
              </a:ext>
            </a:extLst>
          </p:cNvPr>
          <p:cNvSpPr>
            <a:spLocks xmlns:a="http://schemas.openxmlformats.org/drawingml/2006/main" noGrp="1"/>
          </p:cNvSpPr>
          <p:nvPr/>
        </p:nvSpPr>
        <p:spPr>
          <a:xfrm xmlns:a="http://schemas.openxmlformats.org/drawingml/2006/main">
            <a:off x="5924550" y="30670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Generic dense</a:t>
            </a:r>
          </a:p>
        </p:txBody>
      </p:sp>
      <p:sp>
        <p:nvSpPr>
          <p:cNvPr id="32" name="table-cell-312-3">
            <a:extLst xmlns:a="http://schemas.openxmlformats.org/drawingml/2006/main">
              <a:ext uri="{FF2B5EF4-FFF2-40B4-BE49-F238E27FC236}">
                <a16:creationId xmlns:a16="http://schemas.microsoft.com/office/drawing/2014/main" id="{B71EE2ED-1BAC-483A-83F7-5906E6EFE0AA}"/>
              </a:ext>
            </a:extLst>
          </p:cNvPr>
          <p:cNvSpPr>
            <a:spLocks xmlns:a="http://schemas.openxmlformats.org/drawingml/2006/main" noGrp="1"/>
          </p:cNvSpPr>
          <p:nvPr/>
        </p:nvSpPr>
        <p:spPr>
          <a:xfrm xmlns:a="http://schemas.openxmlformats.org/drawingml/2006/main">
            <a:off x="7962900" y="2971800"/>
            <a:ext cx="213360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33" name="table-text-312-3">
            <a:extLst xmlns:a="http://schemas.openxmlformats.org/drawingml/2006/main">
              <a:ext uri="{FF2B5EF4-FFF2-40B4-BE49-F238E27FC236}">
                <a16:creationId xmlns:a16="http://schemas.microsoft.com/office/drawing/2014/main" id="{FD95F37A-56E0-473E-85C5-FED6EB25FF09}"/>
              </a:ext>
            </a:extLst>
          </p:cNvPr>
          <p:cNvSpPr>
            <a:spLocks xmlns:a="http://schemas.openxmlformats.org/drawingml/2006/main" noGrp="1"/>
          </p:cNvSpPr>
          <p:nvPr/>
        </p:nvSpPr>
        <p:spPr>
          <a:xfrm xmlns:a="http://schemas.openxmlformats.org/drawingml/2006/main">
            <a:off x="8077200" y="30670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1,024d; 8,192 tokens</a:t>
            </a:r>
          </a:p>
        </p:txBody>
      </p:sp>
      <p:sp>
        <p:nvSpPr>
          <p:cNvPr id="34" name="table-cell-312-4">
            <a:extLst xmlns:a="http://schemas.openxmlformats.org/drawingml/2006/main">
              <a:ext uri="{FF2B5EF4-FFF2-40B4-BE49-F238E27FC236}">
                <a16:creationId xmlns:a16="http://schemas.microsoft.com/office/drawing/2014/main" id="{86C5505F-B33E-4BEF-99BE-69C0CA784841}"/>
              </a:ext>
            </a:extLst>
          </p:cNvPr>
          <p:cNvSpPr>
            <a:spLocks xmlns:a="http://schemas.openxmlformats.org/drawingml/2006/main" noGrp="1"/>
          </p:cNvSpPr>
          <p:nvPr/>
        </p:nvSpPr>
        <p:spPr>
          <a:xfrm xmlns:a="http://schemas.openxmlformats.org/drawingml/2006/main">
            <a:off x="10096500" y="2971800"/>
            <a:ext cx="140970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35" name="table-text-312-4">
            <a:extLst xmlns:a="http://schemas.openxmlformats.org/drawingml/2006/main">
              <a:ext uri="{FF2B5EF4-FFF2-40B4-BE49-F238E27FC236}">
                <a16:creationId xmlns:a16="http://schemas.microsoft.com/office/drawing/2014/main" id="{B324201D-0994-4E0A-B02B-E344CBA2339E}"/>
              </a:ext>
            </a:extLst>
          </p:cNvPr>
          <p:cNvSpPr>
            <a:spLocks xmlns:a="http://schemas.openxmlformats.org/drawingml/2006/main" noGrp="1"/>
          </p:cNvSpPr>
          <p:nvPr/>
        </p:nvSpPr>
        <p:spPr>
          <a:xfrm xmlns:a="http://schemas.openxmlformats.org/drawingml/2006/main">
            <a:off x="10210800" y="3067050"/>
            <a:ext cx="118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MIT</a:t>
            </a:r>
          </a:p>
        </p:txBody>
      </p:sp>
      <p:sp>
        <p:nvSpPr>
          <p:cNvPr id="36" name="table-cell-368-0">
            <a:extLst xmlns:a="http://schemas.openxmlformats.org/drawingml/2006/main">
              <a:ext uri="{FF2B5EF4-FFF2-40B4-BE49-F238E27FC236}">
                <a16:creationId xmlns:a16="http://schemas.microsoft.com/office/drawing/2014/main" id="{E8342EB4-A4C7-46FF-B017-B4AEFFA464AF}"/>
              </a:ext>
            </a:extLst>
          </p:cNvPr>
          <p:cNvSpPr>
            <a:spLocks xmlns:a="http://schemas.openxmlformats.org/drawingml/2006/main" noGrp="1"/>
          </p:cNvSpPr>
          <p:nvPr/>
        </p:nvSpPr>
        <p:spPr>
          <a:xfrm xmlns:a="http://schemas.openxmlformats.org/drawingml/2006/main">
            <a:off x="685800" y="3505200"/>
            <a:ext cx="18669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37" name="table-text-368-0">
            <a:extLst xmlns:a="http://schemas.openxmlformats.org/drawingml/2006/main">
              <a:ext uri="{FF2B5EF4-FFF2-40B4-BE49-F238E27FC236}">
                <a16:creationId xmlns:a16="http://schemas.microsoft.com/office/drawing/2014/main" id="{AC7EDF60-2266-4E87-9D18-880C03062DD1}"/>
              </a:ext>
            </a:extLst>
          </p:cNvPr>
          <p:cNvSpPr>
            <a:spLocks xmlns:a="http://schemas.openxmlformats.org/drawingml/2006/main" noGrp="1"/>
          </p:cNvSpPr>
          <p:nvPr/>
        </p:nvSpPr>
        <p:spPr>
          <a:xfrm xmlns:a="http://schemas.openxmlformats.org/drawingml/2006/main">
            <a:off x="800100" y="3600450"/>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ARM-03</a:t>
            </a:r>
          </a:p>
        </p:txBody>
      </p:sp>
      <p:sp>
        <p:nvSpPr>
          <p:cNvPr id="38" name="table-cell-368-1">
            <a:extLst xmlns:a="http://schemas.openxmlformats.org/drawingml/2006/main">
              <a:ext uri="{FF2B5EF4-FFF2-40B4-BE49-F238E27FC236}">
                <a16:creationId xmlns:a16="http://schemas.microsoft.com/office/drawing/2014/main" id="{58BA74F3-70C7-4729-8A08-4A7FB0DCCF68}"/>
              </a:ext>
            </a:extLst>
          </p:cNvPr>
          <p:cNvSpPr>
            <a:spLocks xmlns:a="http://schemas.openxmlformats.org/drawingml/2006/main" noGrp="1"/>
          </p:cNvSpPr>
          <p:nvPr/>
        </p:nvSpPr>
        <p:spPr>
          <a:xfrm xmlns:a="http://schemas.openxmlformats.org/drawingml/2006/main">
            <a:off x="2552700" y="3505200"/>
            <a:ext cx="32575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39" name="table-text-368-1">
            <a:extLst xmlns:a="http://schemas.openxmlformats.org/drawingml/2006/main">
              <a:ext uri="{FF2B5EF4-FFF2-40B4-BE49-F238E27FC236}">
                <a16:creationId xmlns:a16="http://schemas.microsoft.com/office/drawing/2014/main" id="{A14380A4-34E1-4C07-8E79-C4A3DE353463}"/>
              </a:ext>
            </a:extLst>
          </p:cNvPr>
          <p:cNvSpPr>
            <a:spLocks xmlns:a="http://schemas.openxmlformats.org/drawingml/2006/main" noGrp="1"/>
          </p:cNvSpPr>
          <p:nvPr/>
        </p:nvSpPr>
        <p:spPr>
          <a:xfrm xmlns:a="http://schemas.openxmlformats.org/drawingml/2006/main">
            <a:off x="2667000" y="360045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datalyes/patembed-large</a:t>
            </a:r>
          </a:p>
        </p:txBody>
      </p:sp>
      <p:sp>
        <p:nvSpPr>
          <p:cNvPr id="40" name="table-cell-368-2">
            <a:extLst xmlns:a="http://schemas.openxmlformats.org/drawingml/2006/main">
              <a:ext uri="{FF2B5EF4-FFF2-40B4-BE49-F238E27FC236}">
                <a16:creationId xmlns:a16="http://schemas.microsoft.com/office/drawing/2014/main" id="{EC24B798-28EA-4795-B013-EB18DA4507A2}"/>
              </a:ext>
            </a:extLst>
          </p:cNvPr>
          <p:cNvSpPr>
            <a:spLocks xmlns:a="http://schemas.openxmlformats.org/drawingml/2006/main" noGrp="1"/>
          </p:cNvSpPr>
          <p:nvPr/>
        </p:nvSpPr>
        <p:spPr>
          <a:xfrm xmlns:a="http://schemas.openxmlformats.org/drawingml/2006/main">
            <a:off x="5810250" y="3505200"/>
            <a:ext cx="21526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41" name="table-text-368-2">
            <a:extLst xmlns:a="http://schemas.openxmlformats.org/drawingml/2006/main">
              <a:ext uri="{FF2B5EF4-FFF2-40B4-BE49-F238E27FC236}">
                <a16:creationId xmlns:a16="http://schemas.microsoft.com/office/drawing/2014/main" id="{0BBDA8C1-FC04-48A0-842C-ED316A38F302}"/>
              </a:ext>
            </a:extLst>
          </p:cNvPr>
          <p:cNvSpPr>
            <a:spLocks xmlns:a="http://schemas.openxmlformats.org/drawingml/2006/main" noGrp="1"/>
          </p:cNvSpPr>
          <p:nvPr/>
        </p:nvSpPr>
        <p:spPr>
          <a:xfrm xmlns:a="http://schemas.openxmlformats.org/drawingml/2006/main">
            <a:off x="5924550" y="36004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Patent-domain dense</a:t>
            </a:r>
          </a:p>
        </p:txBody>
      </p:sp>
      <p:sp>
        <p:nvSpPr>
          <p:cNvPr id="42" name="table-cell-368-3">
            <a:extLst xmlns:a="http://schemas.openxmlformats.org/drawingml/2006/main">
              <a:ext uri="{FF2B5EF4-FFF2-40B4-BE49-F238E27FC236}">
                <a16:creationId xmlns:a16="http://schemas.microsoft.com/office/drawing/2014/main" id="{00CB09D6-655E-4ABB-BBCA-553D95452936}"/>
              </a:ext>
            </a:extLst>
          </p:cNvPr>
          <p:cNvSpPr>
            <a:spLocks xmlns:a="http://schemas.openxmlformats.org/drawingml/2006/main" noGrp="1"/>
          </p:cNvSpPr>
          <p:nvPr/>
        </p:nvSpPr>
        <p:spPr>
          <a:xfrm xmlns:a="http://schemas.openxmlformats.org/drawingml/2006/main">
            <a:off x="7962900" y="3505200"/>
            <a:ext cx="2133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43" name="table-text-368-3">
            <a:extLst xmlns:a="http://schemas.openxmlformats.org/drawingml/2006/main">
              <a:ext uri="{FF2B5EF4-FFF2-40B4-BE49-F238E27FC236}">
                <a16:creationId xmlns:a16="http://schemas.microsoft.com/office/drawing/2014/main" id="{B24E9A75-A01A-46C1-9F34-E0D2D5A3D44B}"/>
              </a:ext>
            </a:extLst>
          </p:cNvPr>
          <p:cNvSpPr>
            <a:spLocks xmlns:a="http://schemas.openxmlformats.org/drawingml/2006/main" noGrp="1"/>
          </p:cNvSpPr>
          <p:nvPr/>
        </p:nvSpPr>
        <p:spPr>
          <a:xfrm xmlns:a="http://schemas.openxmlformats.org/drawingml/2006/main">
            <a:off x="8077200" y="36004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1,024d; 512 tokens</a:t>
            </a:r>
          </a:p>
        </p:txBody>
      </p:sp>
      <p:sp>
        <p:nvSpPr>
          <p:cNvPr id="44" name="table-cell-368-4">
            <a:extLst xmlns:a="http://schemas.openxmlformats.org/drawingml/2006/main">
              <a:ext uri="{FF2B5EF4-FFF2-40B4-BE49-F238E27FC236}">
                <a16:creationId xmlns:a16="http://schemas.microsoft.com/office/drawing/2014/main" id="{8D0D2F92-E8BD-4FC5-934A-B9234789DA49}"/>
              </a:ext>
            </a:extLst>
          </p:cNvPr>
          <p:cNvSpPr>
            <a:spLocks xmlns:a="http://schemas.openxmlformats.org/drawingml/2006/main" noGrp="1"/>
          </p:cNvSpPr>
          <p:nvPr/>
        </p:nvSpPr>
        <p:spPr>
          <a:xfrm xmlns:a="http://schemas.openxmlformats.org/drawingml/2006/main">
            <a:off x="10096500" y="3505200"/>
            <a:ext cx="14097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45" name="table-text-368-4">
            <a:extLst xmlns:a="http://schemas.openxmlformats.org/drawingml/2006/main">
              <a:ext uri="{FF2B5EF4-FFF2-40B4-BE49-F238E27FC236}">
                <a16:creationId xmlns:a16="http://schemas.microsoft.com/office/drawing/2014/main" id="{9CF7414C-0BC5-42EB-9D25-6EB00E42DFD1}"/>
              </a:ext>
            </a:extLst>
          </p:cNvPr>
          <p:cNvSpPr>
            <a:spLocks xmlns:a="http://schemas.openxmlformats.org/drawingml/2006/main" noGrp="1"/>
          </p:cNvSpPr>
          <p:nvPr/>
        </p:nvSpPr>
        <p:spPr>
          <a:xfrm xmlns:a="http://schemas.openxmlformats.org/drawingml/2006/main">
            <a:off x="10210800" y="3600450"/>
            <a:ext cx="118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CC-BY-NC-SA</a:t>
            </a:r>
          </a:p>
        </p:txBody>
      </p:sp>
      <p:sp>
        <p:nvSpPr>
          <p:cNvPr id="46" name="table-cell-424-0">
            <a:extLst xmlns:a="http://schemas.openxmlformats.org/drawingml/2006/main">
              <a:ext uri="{FF2B5EF4-FFF2-40B4-BE49-F238E27FC236}">
                <a16:creationId xmlns:a16="http://schemas.microsoft.com/office/drawing/2014/main" id="{092EA72D-B447-43CF-A3ED-ED3CADCEFCA5}"/>
              </a:ext>
            </a:extLst>
          </p:cNvPr>
          <p:cNvSpPr>
            <a:spLocks xmlns:a="http://schemas.openxmlformats.org/drawingml/2006/main" noGrp="1"/>
          </p:cNvSpPr>
          <p:nvPr/>
        </p:nvSpPr>
        <p:spPr>
          <a:xfrm xmlns:a="http://schemas.openxmlformats.org/drawingml/2006/main">
            <a:off x="685800" y="4038600"/>
            <a:ext cx="186690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47" name="table-text-424-0">
            <a:extLst xmlns:a="http://schemas.openxmlformats.org/drawingml/2006/main">
              <a:ext uri="{FF2B5EF4-FFF2-40B4-BE49-F238E27FC236}">
                <a16:creationId xmlns:a16="http://schemas.microsoft.com/office/drawing/2014/main" id="{751BD2B9-A847-4824-84EA-BA898BC8DFB5}"/>
              </a:ext>
            </a:extLst>
          </p:cNvPr>
          <p:cNvSpPr>
            <a:spLocks xmlns:a="http://schemas.openxmlformats.org/drawingml/2006/main" noGrp="1"/>
          </p:cNvSpPr>
          <p:nvPr/>
        </p:nvSpPr>
        <p:spPr>
          <a:xfrm xmlns:a="http://schemas.openxmlformats.org/drawingml/2006/main">
            <a:off x="800100" y="4133850"/>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ARM-04</a:t>
            </a:r>
          </a:p>
        </p:txBody>
      </p:sp>
      <p:sp>
        <p:nvSpPr>
          <p:cNvPr id="48" name="table-cell-424-1">
            <a:extLst xmlns:a="http://schemas.openxmlformats.org/drawingml/2006/main">
              <a:ext uri="{FF2B5EF4-FFF2-40B4-BE49-F238E27FC236}">
                <a16:creationId xmlns:a16="http://schemas.microsoft.com/office/drawing/2014/main" id="{A21706FF-DC7D-4EE9-87E7-7A2B7006571B}"/>
              </a:ext>
            </a:extLst>
          </p:cNvPr>
          <p:cNvSpPr>
            <a:spLocks xmlns:a="http://schemas.openxmlformats.org/drawingml/2006/main" noGrp="1"/>
          </p:cNvSpPr>
          <p:nvPr/>
        </p:nvSpPr>
        <p:spPr>
          <a:xfrm xmlns:a="http://schemas.openxmlformats.org/drawingml/2006/main">
            <a:off x="2552700" y="4038600"/>
            <a:ext cx="325755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49" name="table-text-424-1">
            <a:extLst xmlns:a="http://schemas.openxmlformats.org/drawingml/2006/main">
              <a:ext uri="{FF2B5EF4-FFF2-40B4-BE49-F238E27FC236}">
                <a16:creationId xmlns:a16="http://schemas.microsoft.com/office/drawing/2014/main" id="{A77569C6-F0FC-4F6D-917E-46F2727384CA}"/>
              </a:ext>
            </a:extLst>
          </p:cNvPr>
          <p:cNvSpPr>
            <a:spLocks xmlns:a="http://schemas.openxmlformats.org/drawingml/2006/main" noGrp="1"/>
          </p:cNvSpPr>
          <p:nvPr/>
        </p:nvSpPr>
        <p:spPr>
          <a:xfrm xmlns:a="http://schemas.openxmlformats.org/drawingml/2006/main">
            <a:off x="2667000" y="413385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Snowflake Arctic Embed M v2.0</a:t>
            </a:r>
          </a:p>
        </p:txBody>
      </p:sp>
      <p:sp>
        <p:nvSpPr>
          <p:cNvPr id="50" name="table-cell-424-2">
            <a:extLst xmlns:a="http://schemas.openxmlformats.org/drawingml/2006/main">
              <a:ext uri="{FF2B5EF4-FFF2-40B4-BE49-F238E27FC236}">
                <a16:creationId xmlns:a16="http://schemas.microsoft.com/office/drawing/2014/main" id="{59204A03-768E-45D6-BE3A-CFBF5D49A80B}"/>
              </a:ext>
            </a:extLst>
          </p:cNvPr>
          <p:cNvSpPr>
            <a:spLocks xmlns:a="http://schemas.openxmlformats.org/drawingml/2006/main" noGrp="1"/>
          </p:cNvSpPr>
          <p:nvPr/>
        </p:nvSpPr>
        <p:spPr>
          <a:xfrm xmlns:a="http://schemas.openxmlformats.org/drawingml/2006/main">
            <a:off x="5810250" y="4038600"/>
            <a:ext cx="215265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51" name="table-text-424-2">
            <a:extLst xmlns:a="http://schemas.openxmlformats.org/drawingml/2006/main">
              <a:ext uri="{FF2B5EF4-FFF2-40B4-BE49-F238E27FC236}">
                <a16:creationId xmlns:a16="http://schemas.microsoft.com/office/drawing/2014/main" id="{858A0F99-98A1-400D-9B21-337B5124D115}"/>
              </a:ext>
            </a:extLst>
          </p:cNvPr>
          <p:cNvSpPr>
            <a:spLocks xmlns:a="http://schemas.openxmlformats.org/drawingml/2006/main" noGrp="1"/>
          </p:cNvSpPr>
          <p:nvPr/>
        </p:nvSpPr>
        <p:spPr>
          <a:xfrm xmlns:a="http://schemas.openxmlformats.org/drawingml/2006/main">
            <a:off x="5924550" y="41338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Long-context dense</a:t>
            </a:r>
          </a:p>
        </p:txBody>
      </p:sp>
      <p:sp>
        <p:nvSpPr>
          <p:cNvPr id="52" name="table-cell-424-3">
            <a:extLst xmlns:a="http://schemas.openxmlformats.org/drawingml/2006/main">
              <a:ext uri="{FF2B5EF4-FFF2-40B4-BE49-F238E27FC236}">
                <a16:creationId xmlns:a16="http://schemas.microsoft.com/office/drawing/2014/main" id="{D5C53BCB-837D-4539-828B-72BCD09D262D}"/>
              </a:ext>
            </a:extLst>
          </p:cNvPr>
          <p:cNvSpPr>
            <a:spLocks xmlns:a="http://schemas.openxmlformats.org/drawingml/2006/main" noGrp="1"/>
          </p:cNvSpPr>
          <p:nvPr/>
        </p:nvSpPr>
        <p:spPr>
          <a:xfrm xmlns:a="http://schemas.openxmlformats.org/drawingml/2006/main">
            <a:off x="7962900" y="4038600"/>
            <a:ext cx="213360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53" name="table-text-424-3">
            <a:extLst xmlns:a="http://schemas.openxmlformats.org/drawingml/2006/main">
              <a:ext uri="{FF2B5EF4-FFF2-40B4-BE49-F238E27FC236}">
                <a16:creationId xmlns:a16="http://schemas.microsoft.com/office/drawing/2014/main" id="{17800CC2-1AFE-4D28-B81C-3CB198C5F5DE}"/>
              </a:ext>
            </a:extLst>
          </p:cNvPr>
          <p:cNvSpPr>
            <a:spLocks xmlns:a="http://schemas.openxmlformats.org/drawingml/2006/main" noGrp="1"/>
          </p:cNvSpPr>
          <p:nvPr/>
        </p:nvSpPr>
        <p:spPr>
          <a:xfrm xmlns:a="http://schemas.openxmlformats.org/drawingml/2006/main">
            <a:off x="8077200" y="41338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768d; 8,192 tokens</a:t>
            </a:r>
          </a:p>
        </p:txBody>
      </p:sp>
      <p:sp>
        <p:nvSpPr>
          <p:cNvPr id="54" name="table-cell-424-4">
            <a:extLst xmlns:a="http://schemas.openxmlformats.org/drawingml/2006/main">
              <a:ext uri="{FF2B5EF4-FFF2-40B4-BE49-F238E27FC236}">
                <a16:creationId xmlns:a16="http://schemas.microsoft.com/office/drawing/2014/main" id="{F6286825-4D76-4E47-B008-318815FFC024}"/>
              </a:ext>
            </a:extLst>
          </p:cNvPr>
          <p:cNvSpPr>
            <a:spLocks xmlns:a="http://schemas.openxmlformats.org/drawingml/2006/main" noGrp="1"/>
          </p:cNvSpPr>
          <p:nvPr/>
        </p:nvSpPr>
        <p:spPr>
          <a:xfrm xmlns:a="http://schemas.openxmlformats.org/drawingml/2006/main">
            <a:off x="10096500" y="4038600"/>
            <a:ext cx="1409700" cy="53340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55" name="table-text-424-4">
            <a:extLst xmlns:a="http://schemas.openxmlformats.org/drawingml/2006/main">
              <a:ext uri="{FF2B5EF4-FFF2-40B4-BE49-F238E27FC236}">
                <a16:creationId xmlns:a16="http://schemas.microsoft.com/office/drawing/2014/main" id="{F8727949-C0C6-4A4E-8770-699482EA9CE5}"/>
              </a:ext>
            </a:extLst>
          </p:cNvPr>
          <p:cNvSpPr>
            <a:spLocks xmlns:a="http://schemas.openxmlformats.org/drawingml/2006/main" noGrp="1"/>
          </p:cNvSpPr>
          <p:nvPr/>
        </p:nvSpPr>
        <p:spPr>
          <a:xfrm xmlns:a="http://schemas.openxmlformats.org/drawingml/2006/main">
            <a:off x="10210800" y="4133850"/>
            <a:ext cx="118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Apache-2.0</a:t>
            </a:r>
          </a:p>
        </p:txBody>
      </p:sp>
      <p:sp>
        <p:nvSpPr>
          <p:cNvPr id="56" name="table-cell-480-0">
            <a:extLst xmlns:a="http://schemas.openxmlformats.org/drawingml/2006/main">
              <a:ext uri="{FF2B5EF4-FFF2-40B4-BE49-F238E27FC236}">
                <a16:creationId xmlns:a16="http://schemas.microsoft.com/office/drawing/2014/main" id="{090C194B-45ED-42BD-A27E-9F5297562E4A}"/>
              </a:ext>
            </a:extLst>
          </p:cNvPr>
          <p:cNvSpPr>
            <a:spLocks xmlns:a="http://schemas.openxmlformats.org/drawingml/2006/main" noGrp="1"/>
          </p:cNvSpPr>
          <p:nvPr/>
        </p:nvSpPr>
        <p:spPr>
          <a:xfrm xmlns:a="http://schemas.openxmlformats.org/drawingml/2006/main">
            <a:off x="685800" y="4572000"/>
            <a:ext cx="18669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57" name="table-text-480-0">
            <a:extLst xmlns:a="http://schemas.openxmlformats.org/drawingml/2006/main">
              <a:ext uri="{FF2B5EF4-FFF2-40B4-BE49-F238E27FC236}">
                <a16:creationId xmlns:a16="http://schemas.microsoft.com/office/drawing/2014/main" id="{C7EC62C7-552C-448F-9F69-EC8AAD7D3CE6}"/>
              </a:ext>
            </a:extLst>
          </p:cNvPr>
          <p:cNvSpPr>
            <a:spLocks xmlns:a="http://schemas.openxmlformats.org/drawingml/2006/main" noGrp="1"/>
          </p:cNvSpPr>
          <p:nvPr/>
        </p:nvSpPr>
        <p:spPr>
          <a:xfrm xmlns:a="http://schemas.openxmlformats.org/drawingml/2006/main">
            <a:off x="800100" y="4667250"/>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ARM-05</a:t>
            </a:r>
          </a:p>
        </p:txBody>
      </p:sp>
      <p:sp>
        <p:nvSpPr>
          <p:cNvPr id="58" name="table-cell-480-1">
            <a:extLst xmlns:a="http://schemas.openxmlformats.org/drawingml/2006/main">
              <a:ext uri="{FF2B5EF4-FFF2-40B4-BE49-F238E27FC236}">
                <a16:creationId xmlns:a16="http://schemas.microsoft.com/office/drawing/2014/main" id="{78BA6B01-F0AD-4547-B93D-8DB86629CFDF}"/>
              </a:ext>
            </a:extLst>
          </p:cNvPr>
          <p:cNvSpPr>
            <a:spLocks xmlns:a="http://schemas.openxmlformats.org/drawingml/2006/main" noGrp="1"/>
          </p:cNvSpPr>
          <p:nvPr/>
        </p:nvSpPr>
        <p:spPr>
          <a:xfrm xmlns:a="http://schemas.openxmlformats.org/drawingml/2006/main">
            <a:off x="2552700" y="4572000"/>
            <a:ext cx="32575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59" name="table-text-480-1">
            <a:extLst xmlns:a="http://schemas.openxmlformats.org/drawingml/2006/main">
              <a:ext uri="{FF2B5EF4-FFF2-40B4-BE49-F238E27FC236}">
                <a16:creationId xmlns:a16="http://schemas.microsoft.com/office/drawing/2014/main" id="{BF42845A-DCC7-4483-B2E6-003734E25F6A}"/>
              </a:ext>
            </a:extLst>
          </p:cNvPr>
          <p:cNvSpPr>
            <a:spLocks xmlns:a="http://schemas.openxmlformats.org/drawingml/2006/main" noGrp="1"/>
          </p:cNvSpPr>
          <p:nvPr/>
        </p:nvSpPr>
        <p:spPr>
          <a:xfrm xmlns:a="http://schemas.openxmlformats.org/drawingml/2006/main">
            <a:off x="2667000" y="466725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Qwen3-Embedding-0.6B</a:t>
            </a:r>
          </a:p>
        </p:txBody>
      </p:sp>
      <p:sp>
        <p:nvSpPr>
          <p:cNvPr id="60" name="table-cell-480-2">
            <a:extLst xmlns:a="http://schemas.openxmlformats.org/drawingml/2006/main">
              <a:ext uri="{FF2B5EF4-FFF2-40B4-BE49-F238E27FC236}">
                <a16:creationId xmlns:a16="http://schemas.microsoft.com/office/drawing/2014/main" id="{040FCF8B-6A09-4FE8-A9A4-CC984D68AA63}"/>
              </a:ext>
            </a:extLst>
          </p:cNvPr>
          <p:cNvSpPr>
            <a:spLocks xmlns:a="http://schemas.openxmlformats.org/drawingml/2006/main" noGrp="1"/>
          </p:cNvSpPr>
          <p:nvPr/>
        </p:nvSpPr>
        <p:spPr>
          <a:xfrm xmlns:a="http://schemas.openxmlformats.org/drawingml/2006/main">
            <a:off x="5810250" y="4572000"/>
            <a:ext cx="21526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61" name="table-text-480-2">
            <a:extLst xmlns:a="http://schemas.openxmlformats.org/drawingml/2006/main">
              <a:ext uri="{FF2B5EF4-FFF2-40B4-BE49-F238E27FC236}">
                <a16:creationId xmlns:a16="http://schemas.microsoft.com/office/drawing/2014/main" id="{D1D58D43-89B9-4406-BF1C-D601A9C9D28B}"/>
              </a:ext>
            </a:extLst>
          </p:cNvPr>
          <p:cNvSpPr>
            <a:spLocks xmlns:a="http://schemas.openxmlformats.org/drawingml/2006/main" noGrp="1"/>
          </p:cNvSpPr>
          <p:nvPr/>
        </p:nvSpPr>
        <p:spPr>
          <a:xfrm xmlns:a="http://schemas.openxmlformats.org/drawingml/2006/main">
            <a:off x="5924550" y="46672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Instruction-aware dense</a:t>
            </a:r>
          </a:p>
        </p:txBody>
      </p:sp>
      <p:sp>
        <p:nvSpPr>
          <p:cNvPr id="62" name="table-cell-480-3">
            <a:extLst xmlns:a="http://schemas.openxmlformats.org/drawingml/2006/main">
              <a:ext uri="{FF2B5EF4-FFF2-40B4-BE49-F238E27FC236}">
                <a16:creationId xmlns:a16="http://schemas.microsoft.com/office/drawing/2014/main" id="{408BCD50-C37C-491C-89C6-4F37E891ACF2}"/>
              </a:ext>
            </a:extLst>
          </p:cNvPr>
          <p:cNvSpPr>
            <a:spLocks xmlns:a="http://schemas.openxmlformats.org/drawingml/2006/main" noGrp="1"/>
          </p:cNvSpPr>
          <p:nvPr/>
        </p:nvSpPr>
        <p:spPr>
          <a:xfrm xmlns:a="http://schemas.openxmlformats.org/drawingml/2006/main">
            <a:off x="7962900" y="4572000"/>
            <a:ext cx="2133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63" name="table-text-480-3">
            <a:extLst xmlns:a="http://schemas.openxmlformats.org/drawingml/2006/main">
              <a:ext uri="{FF2B5EF4-FFF2-40B4-BE49-F238E27FC236}">
                <a16:creationId xmlns:a16="http://schemas.microsoft.com/office/drawing/2014/main" id="{97F4AA5C-0272-4BB8-8E84-F869EAC6A76C}"/>
              </a:ext>
            </a:extLst>
          </p:cNvPr>
          <p:cNvSpPr>
            <a:spLocks xmlns:a="http://schemas.openxmlformats.org/drawingml/2006/main" noGrp="1"/>
          </p:cNvSpPr>
          <p:nvPr/>
        </p:nvSpPr>
        <p:spPr>
          <a:xfrm xmlns:a="http://schemas.openxmlformats.org/drawingml/2006/main">
            <a:off x="8077200" y="46672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1,024d; 32,768 tokens</a:t>
            </a:r>
          </a:p>
        </p:txBody>
      </p:sp>
      <p:sp>
        <p:nvSpPr>
          <p:cNvPr id="64" name="table-cell-480-4">
            <a:extLst xmlns:a="http://schemas.openxmlformats.org/drawingml/2006/main">
              <a:ext uri="{FF2B5EF4-FFF2-40B4-BE49-F238E27FC236}">
                <a16:creationId xmlns:a16="http://schemas.microsoft.com/office/drawing/2014/main" id="{1FA40C5E-A917-48D7-BD87-D595AA3FDE0E}"/>
              </a:ext>
            </a:extLst>
          </p:cNvPr>
          <p:cNvSpPr>
            <a:spLocks xmlns:a="http://schemas.openxmlformats.org/drawingml/2006/main" noGrp="1"/>
          </p:cNvSpPr>
          <p:nvPr/>
        </p:nvSpPr>
        <p:spPr>
          <a:xfrm xmlns:a="http://schemas.openxmlformats.org/drawingml/2006/main">
            <a:off x="10096500" y="4572000"/>
            <a:ext cx="14097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65" name="table-text-480-4">
            <a:extLst xmlns:a="http://schemas.openxmlformats.org/drawingml/2006/main">
              <a:ext uri="{FF2B5EF4-FFF2-40B4-BE49-F238E27FC236}">
                <a16:creationId xmlns:a16="http://schemas.microsoft.com/office/drawing/2014/main" id="{97299382-5FEF-4AF4-9B5A-491820BD5C09}"/>
              </a:ext>
            </a:extLst>
          </p:cNvPr>
          <p:cNvSpPr>
            <a:spLocks xmlns:a="http://schemas.openxmlformats.org/drawingml/2006/main" noGrp="1"/>
          </p:cNvSpPr>
          <p:nvPr/>
        </p:nvSpPr>
        <p:spPr>
          <a:xfrm xmlns:a="http://schemas.openxmlformats.org/drawingml/2006/main">
            <a:off x="10210800" y="4667250"/>
            <a:ext cx="118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Apache-2.0</a:t>
            </a:r>
          </a:p>
        </p:txBody>
      </p:sp>
      <p:sp>
        <p:nvSpPr>
          <p:cNvPr id="66" name="model-note">
            <a:extLst xmlns:a="http://schemas.openxmlformats.org/drawingml/2006/main">
              <a:ext uri="{FF2B5EF4-FFF2-40B4-BE49-F238E27FC236}">
                <a16:creationId xmlns:a16="http://schemas.microsoft.com/office/drawing/2014/main" id="{D2DE9B7E-F712-493D-838A-66CC57A34FC0}"/>
              </a:ext>
            </a:extLst>
          </p:cNvPr>
          <p:cNvSpPr>
            <a:spLocks xmlns:a="http://schemas.openxmlformats.org/drawingml/2006/main" noGrp="1"/>
          </p:cNvSpPr>
          <p:nvPr/>
        </p:nvSpPr>
        <p:spPr>
          <a:xfrm xmlns:a="http://schemas.openxmlformats.org/drawingml/2006/main">
            <a:off x="685800" y="537210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52606D"/>
                </a:solidFill>
                <a:latin typeface="Aptos"/>
                <a:ea typeface="Aptos"/>
                <a:cs typeface="Aptos"/>
              </a:defRPr>
            </a:pPr>
            <a:r>
              <a:rPr sz="1500" b="0">
                <a:solidFill>
                  <a:srgbClr val="52606D"/>
                </a:solidFill>
                <a:latin typeface="Aptos"/>
                <a:ea typeface="Aptos"/>
                <a:cs typeface="Aptos"/>
              </a:rPr>
              <a:t>Exact public revisions, pooling, query/document templates, and non-commercial qualification for ARM-03 are frozen in the speaker notes and backup material.</a:t>
            </a:r>
          </a:p>
        </p:txBody>
      </p:sp>
    </p:spTree>
    <p:extLst>
      <p:ext uri="{BB962C8B-B14F-4D97-AF65-F5344CB8AC3E}">
        <p14:creationId xmlns:p14="http://schemas.microsoft.com/office/powerpoint/2010/main" val="1352421557"/>
      </p:ext>
    </p:extLst>
  </p:cSld>
</p:sld>
</file>

<file path=ppt/slides/slide10.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DDEE4E2C-B885-40FB-BB92-800CC8F7B4CD}"/>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A1 | REP-DEV RESULT</a:t>
            </a:r>
          </a:p>
        </p:txBody>
      </p:sp>
      <p:sp>
        <p:nvSpPr>
          <p:cNvPr id="2" name="rule">
            <a:extLst xmlns:a="http://schemas.openxmlformats.org/drawingml/2006/main">
              <a:ext uri="{FF2B5EF4-FFF2-40B4-BE49-F238E27FC236}">
                <a16:creationId xmlns:a16="http://schemas.microsoft.com/office/drawing/2014/main" id="{116FA86F-A64D-40D5-8769-EACA2A4878D9}"/>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3FBAA9E4-3780-4B2D-B4D2-08DDF70B9738}"/>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10 / 18</a:t>
            </a:r>
          </a:p>
        </p:txBody>
      </p:sp>
      <p:sp>
        <p:nvSpPr>
          <p:cNvPr id="4" name="slide-title">
            <a:extLst xmlns:a="http://schemas.openxmlformats.org/drawingml/2006/main">
              <a:ext uri="{FF2B5EF4-FFF2-40B4-BE49-F238E27FC236}">
                <a16:creationId xmlns:a16="http://schemas.microsoft.com/office/drawing/2014/main" id="{6E8B0293-F520-4052-8412-9C872DD4BE27}"/>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A1 reveals a broad quality range</a:t>
            </a:r>
          </a:p>
        </p:txBody>
      </p:sp>
      <p:sp>
        <p:nvSpPr>
          <p:cNvPr id="5" name="slide-subtitle">
            <a:extLst xmlns:a="http://schemas.openxmlformats.org/drawingml/2006/main">
              <a:ext uri="{FF2B5EF4-FFF2-40B4-BE49-F238E27FC236}">
                <a16:creationId xmlns:a16="http://schemas.microsoft.com/office/drawing/2014/main" id="{598E4C29-4A68-4DBA-B71C-57F006FA874A}"/>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representation surface differs across frozen retriever arms.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7a292e01b9647e9"/>
          <a:stretch xmlns:a="http://schemas.openxmlformats.org/drawingml/2006/main"/>
        </p:blipFill>
        <p:spPr>
          <a:xfrm xmlns:a="http://schemas.openxmlformats.org/drawingml/2006/main">
            <a:off x="1130300" y="2000250"/>
            <a:ext cx="5588000" cy="3143250"/>
          </a:xfrm>
          <a:prstGeom xmlns:a="http://schemas.openxmlformats.org/drawingml/2006/main" prst="rect">
            <a:avLst/>
          </a:prstGeom>
        </p:spPr>
      </p:pic>
      <p:sp>
        <p:nvSpPr>
          <p:cNvPr id="7" name="callout-Highest common cell">
            <a:extLst xmlns:a="http://schemas.openxmlformats.org/drawingml/2006/main">
              <a:ext uri="{FF2B5EF4-FFF2-40B4-BE49-F238E27FC236}">
                <a16:creationId xmlns:a16="http://schemas.microsoft.com/office/drawing/2014/main" id="{E13090E6-BA9C-468C-AB06-C9398DF8B040}"/>
              </a:ext>
            </a:extLst>
          </p:cNvPr>
          <p:cNvSpPr>
            <a:spLocks xmlns:a="http://schemas.openxmlformats.org/drawingml/2006/main" noGrp="1"/>
          </p:cNvSpPr>
          <p:nvPr/>
        </p:nvSpPr>
        <p:spPr>
          <a:xfrm xmlns:a="http://schemas.openxmlformats.org/drawingml/2006/main">
            <a:off x="7772400" y="2133600"/>
            <a:ext cx="31432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CE5E2"/>
            </a:solidFill>
            <a:prstDash val="solid"/>
          </a:ln>
        </p:spPr>
      </p:sp>
      <p:sp>
        <p:nvSpPr>
          <p:cNvPr id="8" name="rule">
            <a:extLst xmlns:a="http://schemas.openxmlformats.org/drawingml/2006/main">
              <a:ext uri="{FF2B5EF4-FFF2-40B4-BE49-F238E27FC236}">
                <a16:creationId xmlns:a16="http://schemas.microsoft.com/office/drawing/2014/main" id="{DB5CB473-6456-455D-9825-F52EBE1703E1}"/>
              </a:ext>
            </a:extLst>
          </p:cNvPr>
          <p:cNvSpPr>
            <a:spLocks xmlns:a="http://schemas.openxmlformats.org/drawingml/2006/main" noGrp="1"/>
          </p:cNvSpPr>
          <p:nvPr/>
        </p:nvSpPr>
        <p:spPr>
          <a:xfrm xmlns:a="http://schemas.openxmlformats.org/drawingml/2006/main">
            <a:off x="7772400" y="2133600"/>
            <a:ext cx="66675" cy="1047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Highest common cell-value">
            <a:extLst xmlns:a="http://schemas.openxmlformats.org/drawingml/2006/main">
              <a:ext uri="{FF2B5EF4-FFF2-40B4-BE49-F238E27FC236}">
                <a16:creationId xmlns:a16="http://schemas.microsoft.com/office/drawing/2014/main" id="{BF0841A0-C1A1-4618-9D3E-2439962482FB}"/>
              </a:ext>
            </a:extLst>
          </p:cNvPr>
          <p:cNvSpPr>
            <a:spLocks xmlns:a="http://schemas.openxmlformats.org/drawingml/2006/main" noGrp="1"/>
          </p:cNvSpPr>
          <p:nvPr/>
        </p:nvSpPr>
        <p:spPr>
          <a:xfrm xmlns:a="http://schemas.openxmlformats.org/drawingml/2006/main">
            <a:off x="8020050" y="23050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F766E"/>
                </a:solidFill>
                <a:latin typeface="Cambria"/>
                <a:ea typeface="Cambria"/>
                <a:cs typeface="Cambria"/>
              </a:defRPr>
            </a:pPr>
            <a:r>
              <a:rPr sz="2400" b="1">
                <a:solidFill>
                  <a:srgbClr val="0F766E"/>
                </a:solidFill>
                <a:latin typeface="Cambria"/>
                <a:ea typeface="Cambria"/>
                <a:cs typeface="Cambria"/>
              </a:rPr>
              <a:t>P03</a:t>
            </a:r>
          </a:p>
        </p:txBody>
      </p:sp>
      <p:sp>
        <p:nvSpPr>
          <p:cNvPr id="10" name="Highest common cell-label">
            <a:extLst xmlns:a="http://schemas.openxmlformats.org/drawingml/2006/main">
              <a:ext uri="{FF2B5EF4-FFF2-40B4-BE49-F238E27FC236}">
                <a16:creationId xmlns:a16="http://schemas.microsoft.com/office/drawing/2014/main" id="{F93F4A4A-9B1C-4A4B-87A0-C78A5032F6D6}"/>
              </a:ext>
            </a:extLst>
          </p:cNvPr>
          <p:cNvSpPr>
            <a:spLocks xmlns:a="http://schemas.openxmlformats.org/drawingml/2006/main" noGrp="1"/>
          </p:cNvSpPr>
          <p:nvPr/>
        </p:nvSpPr>
        <p:spPr>
          <a:xfrm xmlns:a="http://schemas.openxmlformats.org/drawingml/2006/main">
            <a:off x="8020050" y="27622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1">
                <a:solidFill>
                  <a:srgbClr val="52606D"/>
                </a:solidFill>
                <a:latin typeface="Aptos"/>
                <a:ea typeface="Aptos"/>
                <a:cs typeface="Aptos"/>
              </a:defRPr>
            </a:pPr>
            <a:r>
              <a:rPr sz="1350" b="1">
                <a:solidFill>
                  <a:srgbClr val="52606D"/>
                </a:solidFill>
                <a:latin typeface="Aptos"/>
                <a:ea typeface="Aptos"/>
                <a:cs typeface="Aptos"/>
              </a:rPr>
              <a:t>Highest common cell</a:t>
            </a:r>
          </a:p>
        </p:txBody>
      </p:sp>
      <p:sp>
        <p:nvSpPr>
          <p:cNvPr id="11" name="a1-quality-copy">
            <a:extLst xmlns:a="http://schemas.openxmlformats.org/drawingml/2006/main">
              <a:ext uri="{FF2B5EF4-FFF2-40B4-BE49-F238E27FC236}">
                <a16:creationId xmlns:a16="http://schemas.microsoft.com/office/drawing/2014/main" id="{4F5F34EC-A7C1-42BF-9B20-02EADEB722EC}"/>
              </a:ext>
            </a:extLst>
          </p:cNvPr>
          <p:cNvSpPr>
            <a:spLocks xmlns:a="http://schemas.openxmlformats.org/drawingml/2006/main" noGrp="1"/>
          </p:cNvSpPr>
          <p:nvPr/>
        </p:nvSpPr>
        <p:spPr>
          <a:xfrm xmlns:a="http://schemas.openxmlformats.org/drawingml/2006/main">
            <a:off x="7772400" y="35623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1">
                <a:solidFill>
                  <a:srgbClr val="172027"/>
                </a:solidFill>
                <a:latin typeface="Cambria"/>
                <a:ea typeface="Cambria"/>
                <a:cs typeface="Cambria"/>
              </a:defRPr>
            </a:pPr>
            <a:r>
              <a:rPr sz="1800" b="1">
                <a:solidFill>
                  <a:srgbClr val="172027"/>
                </a:solidFill>
                <a:latin typeface="Cambria"/>
                <a:ea typeface="Cambria"/>
                <a:cs typeface="Cambria"/>
              </a:rPr>
              <a:t>Fixed passages obtain the highest individual Recall@100 cell in all five arms.</a:t>
            </a:r>
          </a:p>
        </p:txBody>
      </p:sp>
      <p:sp>
        <p:nvSpPr>
          <p:cNvPr id="12" name="a1-promotion">
            <a:extLst xmlns:a="http://schemas.openxmlformats.org/drawingml/2006/main">
              <a:ext uri="{FF2B5EF4-FFF2-40B4-BE49-F238E27FC236}">
                <a16:creationId xmlns:a16="http://schemas.microsoft.com/office/drawing/2014/main" id="{E2BAC642-8EB8-4A78-AD35-9A0D0BB84754}"/>
              </a:ext>
            </a:extLst>
          </p:cNvPr>
          <p:cNvSpPr>
            <a:spLocks xmlns:a="http://schemas.openxmlformats.org/drawingml/2006/main" noGrp="1"/>
          </p:cNvSpPr>
          <p:nvPr/>
        </p:nvSpPr>
        <p:spPr>
          <a:xfrm xmlns:a="http://schemas.openxmlformats.org/drawingml/2006/main">
            <a:off x="7772400" y="451485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b="0">
                <a:solidFill>
                  <a:srgbClr val="52606D"/>
                </a:solidFill>
                <a:latin typeface="Aptos"/>
                <a:ea typeface="Aptos"/>
                <a:cs typeface="Aptos"/>
              </a:defRPr>
            </a:pPr>
            <a:r>
              <a:rPr sz="1500" b="0">
                <a:solidFill>
                  <a:srgbClr val="52606D"/>
                </a:solidFill>
                <a:latin typeface="Aptos"/>
                <a:ea typeface="Aptos"/>
                <a:cs typeface="Aptos"/>
              </a:rPr>
              <a:t>ARM-03, ARM-04, and ARM-05 pass the frozen promotion rule; ARM-01 and ARM-02 remain diagnostic/non-advancing in A2.</a:t>
            </a:r>
          </a:p>
        </p:txBody>
      </p:sp>
      <p:sp>
        <p:nvSpPr>
          <p:cNvPr id="13" name="a1-boundary">
            <a:extLst xmlns:a="http://schemas.openxmlformats.org/drawingml/2006/main">
              <a:ext uri="{FF2B5EF4-FFF2-40B4-BE49-F238E27FC236}">
                <a16:creationId xmlns:a16="http://schemas.microsoft.com/office/drawing/2014/main" id="{946CE1E8-9263-4D98-93F5-BF0878FA33E3}"/>
              </a:ext>
            </a:extLst>
          </p:cNvPr>
          <p:cNvSpPr>
            <a:spLocks xmlns:a="http://schemas.openxmlformats.org/drawingml/2006/main" noGrp="1"/>
          </p:cNvSpPr>
          <p:nvPr/>
        </p:nvSpPr>
        <p:spPr>
          <a:xfrm xmlns:a="http://schemas.openxmlformats.org/drawingml/2006/main">
            <a:off x="685800" y="548640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1">
                <a:solidFill>
                  <a:srgbClr val="B95059"/>
                </a:solidFill>
                <a:latin typeface="Aptos"/>
                <a:ea typeface="Aptos"/>
                <a:cs typeface="Aptos"/>
              </a:defRPr>
            </a:pPr>
            <a:r>
              <a:rPr sz="1425" b="1">
                <a:solidFill>
                  <a:srgbClr val="B95059"/>
                </a:solidFill>
                <a:latin typeface="Aptos"/>
                <a:ea typeface="Aptos"/>
                <a:cs typeface="Aptos"/>
              </a:rPr>
              <a:t>REP-DEV descriptive evidence only; not Selection or Final confirmation.</a:t>
            </a:r>
          </a:p>
        </p:txBody>
      </p:sp>
    </p:spTree>
    <p:extLst>
      <p:ext uri="{BB962C8B-B14F-4D97-AF65-F5344CB8AC3E}">
        <p14:creationId xmlns:p14="http://schemas.microsoft.com/office/powerpoint/2010/main" val="1515956507"/>
      </p:ext>
    </p:extLst>
  </p:cSld>
</p:sld>
</file>

<file path=ppt/slides/slide1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CE2D0073-CA28-4116-8A35-BA76D0C6F6A8}"/>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A1 | OPERATIONAL EVIDENCE</a:t>
            </a:r>
          </a:p>
        </p:txBody>
      </p:sp>
      <p:sp>
        <p:nvSpPr>
          <p:cNvPr id="2" name="rule">
            <a:extLst xmlns:a="http://schemas.openxmlformats.org/drawingml/2006/main">
              <a:ext uri="{FF2B5EF4-FFF2-40B4-BE49-F238E27FC236}">
                <a16:creationId xmlns:a16="http://schemas.microsoft.com/office/drawing/2014/main" id="{A06B9577-1D2F-4237-BA1A-6DB7C74BEE4E}"/>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6B1A2487-1FC9-414B-B183-42160F960F0A}"/>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11 / 18</a:t>
            </a:r>
          </a:p>
        </p:txBody>
      </p:sp>
      <p:sp>
        <p:nvSpPr>
          <p:cNvPr id="4" name="slide-title">
            <a:extLst xmlns:a="http://schemas.openxmlformats.org/drawingml/2006/main">
              <a:ext uri="{FF2B5EF4-FFF2-40B4-BE49-F238E27FC236}">
                <a16:creationId xmlns:a16="http://schemas.microsoft.com/office/drawing/2014/main" id="{E93C9082-7840-4117-BCF0-67DF678B5F22}"/>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Quality gains bring physical work</a:t>
            </a:r>
          </a:p>
        </p:txBody>
      </p:sp>
      <p:sp>
        <p:nvSpPr>
          <p:cNvPr id="5" name="slide-subtitle">
            <a:extLst xmlns:a="http://schemas.openxmlformats.org/drawingml/2006/main">
              <a:ext uri="{FF2B5EF4-FFF2-40B4-BE49-F238E27FC236}">
                <a16:creationId xmlns:a16="http://schemas.microsoft.com/office/drawing/2014/main" id="{6C55494E-0B9E-4AA7-B499-7803C643CCD9}"/>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quality-latency-cost frontier is a result, not an afterthought.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de8eab254cf4f3e"/>
          <a:stretch xmlns:a="http://schemas.openxmlformats.org/drawingml/2006/main"/>
        </p:blipFill>
        <p:spPr>
          <a:xfrm xmlns:a="http://schemas.openxmlformats.org/drawingml/2006/main">
            <a:off x="686630" y="2076450"/>
            <a:ext cx="10818741" cy="3686175"/>
          </a:xfrm>
          <a:prstGeom xmlns:a="http://schemas.openxmlformats.org/drawingml/2006/main" prst="rect">
            <a:avLst/>
          </a:prstGeom>
        </p:spPr>
      </p:pic>
      <p:sp>
        <p:nvSpPr>
          <p:cNvPr id="7" name="a1-operations-caption">
            <a:extLst xmlns:a="http://schemas.openxmlformats.org/drawingml/2006/main">
              <a:ext uri="{FF2B5EF4-FFF2-40B4-BE49-F238E27FC236}">
                <a16:creationId xmlns:a16="http://schemas.microsoft.com/office/drawing/2014/main" id="{B011E264-211E-413B-9208-3466734DE6F0}"/>
              </a:ext>
            </a:extLst>
          </p:cNvPr>
          <p:cNvSpPr>
            <a:spLocks xmlns:a="http://schemas.openxmlformats.org/drawingml/2006/main" noGrp="1"/>
          </p:cNvSpPr>
          <p:nvPr/>
        </p:nvSpPr>
        <p:spPr>
          <a:xfrm xmlns:a="http://schemas.openxmlformats.org/drawingml/2006/main">
            <a:off x="685800" y="59055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2606D"/>
                </a:solidFill>
                <a:latin typeface="Aptos"/>
                <a:ea typeface="Aptos"/>
                <a:cs typeface="Aptos"/>
              </a:defRPr>
            </a:pPr>
            <a:r>
              <a:rPr sz="1500" b="0">
                <a:solidFill>
                  <a:srgbClr val="52606D"/>
                </a:solidFill>
                <a:latin typeface="Aptos"/>
                <a:ea typeface="Aptos"/>
                <a:cs typeface="Aptos"/>
              </a:rPr>
              <a:t>The full receipt-bound frontier retains quality, p95 latency, wall time, VRAM, RAM, index size, and cost together.</a:t>
            </a:r>
          </a:p>
        </p:txBody>
      </p:sp>
    </p:spTree>
    <p:extLst>
      <p:ext uri="{BB962C8B-B14F-4D97-AF65-F5344CB8AC3E}">
        <p14:creationId xmlns:p14="http://schemas.microsoft.com/office/powerpoint/2010/main" val="1157169051"/>
      </p:ext>
    </p:extLst>
  </p:cSld>
</p:sld>
</file>

<file path=ppt/slides/slide1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2E6D7B8A-74D6-420F-9191-17CAF168BB35}"/>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A2 | PER-ARM AUTOINDEX</a:t>
            </a:r>
          </a:p>
        </p:txBody>
      </p:sp>
      <p:sp>
        <p:nvSpPr>
          <p:cNvPr id="2" name="rule">
            <a:extLst xmlns:a="http://schemas.openxmlformats.org/drawingml/2006/main">
              <a:ext uri="{FF2B5EF4-FFF2-40B4-BE49-F238E27FC236}">
                <a16:creationId xmlns:a16="http://schemas.microsoft.com/office/drawing/2014/main" id="{53A064CB-D3F7-481E-940E-99A966FA424A}"/>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86179BBE-EEED-43CF-BDAD-EEB5D8B8FA00}"/>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12 / 18</a:t>
            </a:r>
          </a:p>
        </p:txBody>
      </p:sp>
      <p:sp>
        <p:nvSpPr>
          <p:cNvPr id="4" name="slide-title">
            <a:extLst xmlns:a="http://schemas.openxmlformats.org/drawingml/2006/main">
              <a:ext uri="{FF2B5EF4-FFF2-40B4-BE49-F238E27FC236}">
                <a16:creationId xmlns:a16="http://schemas.microsoft.com/office/drawing/2014/main" id="{3DD7F0EB-5926-499A-84E6-C17CD79580A5}"/>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A2 evaluates a frozen candidate universe</a:t>
            </a:r>
          </a:p>
        </p:txBody>
      </p:sp>
      <p:sp>
        <p:nvSpPr>
          <p:cNvPr id="5" name="slide-subtitle">
            <a:extLst xmlns:a="http://schemas.openxmlformats.org/drawingml/2006/main">
              <a:ext uri="{FF2B5EF4-FFF2-40B4-BE49-F238E27FC236}">
                <a16:creationId xmlns:a16="http://schemas.microsoft.com/office/drawing/2014/main" id="{4DE23023-A90C-4AB9-BDEF-98BB951F872B}"/>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Candidate generation is pre-measurement; evaluation remains deterministic and checkpointed.</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6ddd30f27ac43e7"/>
          <a:stretch xmlns:a="http://schemas.openxmlformats.org/drawingml/2006/main"/>
        </p:blipFill>
        <p:spPr>
          <a:xfrm xmlns:a="http://schemas.openxmlformats.org/drawingml/2006/main">
            <a:off x="771525" y="2000250"/>
            <a:ext cx="6096000" cy="3429000"/>
          </a:xfrm>
          <a:prstGeom xmlns:a="http://schemas.openxmlformats.org/drawingml/2006/main" prst="rect">
            <a:avLst/>
          </a:prstGeom>
        </p:spPr>
      </p:pic>
      <p:sp>
        <p:nvSpPr>
          <p:cNvPr id="7" name="callout-Frozen candidates">
            <a:extLst xmlns:a="http://schemas.openxmlformats.org/drawingml/2006/main">
              <a:ext uri="{FF2B5EF4-FFF2-40B4-BE49-F238E27FC236}">
                <a16:creationId xmlns:a16="http://schemas.microsoft.com/office/drawing/2014/main" id="{11B8D8A4-5091-4DCC-A9A6-4D3935F420F1}"/>
              </a:ext>
            </a:extLst>
          </p:cNvPr>
          <p:cNvSpPr>
            <a:spLocks xmlns:a="http://schemas.openxmlformats.org/drawingml/2006/main" noGrp="1"/>
          </p:cNvSpPr>
          <p:nvPr/>
        </p:nvSpPr>
        <p:spPr>
          <a:xfrm xmlns:a="http://schemas.openxmlformats.org/drawingml/2006/main">
            <a:off x="7600950" y="2171700"/>
            <a:ext cx="31432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CE5E2"/>
            </a:solidFill>
            <a:prstDash val="solid"/>
          </a:ln>
        </p:spPr>
      </p:sp>
      <p:sp>
        <p:nvSpPr>
          <p:cNvPr id="8" name="rule">
            <a:extLst xmlns:a="http://schemas.openxmlformats.org/drawingml/2006/main">
              <a:ext uri="{FF2B5EF4-FFF2-40B4-BE49-F238E27FC236}">
                <a16:creationId xmlns:a16="http://schemas.microsoft.com/office/drawing/2014/main" id="{EABAA8A2-11ED-4B4C-A5C4-32720EF6A5FA}"/>
              </a:ext>
            </a:extLst>
          </p:cNvPr>
          <p:cNvSpPr>
            <a:spLocks xmlns:a="http://schemas.openxmlformats.org/drawingml/2006/main" noGrp="1"/>
          </p:cNvSpPr>
          <p:nvPr/>
        </p:nvSpPr>
        <p:spPr>
          <a:xfrm xmlns:a="http://schemas.openxmlformats.org/drawingml/2006/main">
            <a:off x="7600950" y="2171700"/>
            <a:ext cx="66675" cy="1047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Frozen candidates-value">
            <a:extLst xmlns:a="http://schemas.openxmlformats.org/drawingml/2006/main">
              <a:ext uri="{FF2B5EF4-FFF2-40B4-BE49-F238E27FC236}">
                <a16:creationId xmlns:a16="http://schemas.microsoft.com/office/drawing/2014/main" id="{1F1E8A75-D4CB-4535-9D0C-A9327AAD0E4D}"/>
              </a:ext>
            </a:extLst>
          </p:cNvPr>
          <p:cNvSpPr>
            <a:spLocks xmlns:a="http://schemas.openxmlformats.org/drawingml/2006/main" noGrp="1"/>
          </p:cNvSpPr>
          <p:nvPr/>
        </p:nvSpPr>
        <p:spPr>
          <a:xfrm xmlns:a="http://schemas.openxmlformats.org/drawingml/2006/main">
            <a:off x="7848600" y="23431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F766E"/>
                </a:solidFill>
                <a:latin typeface="Cambria"/>
                <a:ea typeface="Cambria"/>
                <a:cs typeface="Cambria"/>
              </a:defRPr>
            </a:pPr>
            <a:r>
              <a:rPr sz="2400" b="1">
                <a:solidFill>
                  <a:srgbClr val="0F766E"/>
                </a:solidFill>
                <a:latin typeface="Cambria"/>
                <a:ea typeface="Cambria"/>
                <a:cs typeface="Cambria"/>
              </a:rPr>
              <a:t>52</a:t>
            </a:r>
          </a:p>
        </p:txBody>
      </p:sp>
      <p:sp>
        <p:nvSpPr>
          <p:cNvPr id="10" name="Frozen candidates-label">
            <a:extLst xmlns:a="http://schemas.openxmlformats.org/drawingml/2006/main">
              <a:ext uri="{FF2B5EF4-FFF2-40B4-BE49-F238E27FC236}">
                <a16:creationId xmlns:a16="http://schemas.microsoft.com/office/drawing/2014/main" id="{987B5309-972D-4154-9338-47CFEE31017D}"/>
              </a:ext>
            </a:extLst>
          </p:cNvPr>
          <p:cNvSpPr>
            <a:spLocks xmlns:a="http://schemas.openxmlformats.org/drawingml/2006/main" noGrp="1"/>
          </p:cNvSpPr>
          <p:nvPr/>
        </p:nvSpPr>
        <p:spPr>
          <a:xfrm xmlns:a="http://schemas.openxmlformats.org/drawingml/2006/main">
            <a:off x="7848600" y="28003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1">
                <a:solidFill>
                  <a:srgbClr val="52606D"/>
                </a:solidFill>
                <a:latin typeface="Aptos"/>
                <a:ea typeface="Aptos"/>
                <a:cs typeface="Aptos"/>
              </a:defRPr>
            </a:pPr>
            <a:r>
              <a:rPr sz="1350" b="1">
                <a:solidFill>
                  <a:srgbClr val="52606D"/>
                </a:solidFill>
                <a:latin typeface="Aptos"/>
                <a:ea typeface="Aptos"/>
                <a:cs typeface="Aptos"/>
              </a:rPr>
              <a:t>Frozen candidates</a:t>
            </a:r>
          </a:p>
        </p:txBody>
      </p:sp>
      <p:sp>
        <p:nvSpPr>
          <p:cNvPr id="11" name="a2-count">
            <a:extLst xmlns:a="http://schemas.openxmlformats.org/drawingml/2006/main">
              <a:ext uri="{FF2B5EF4-FFF2-40B4-BE49-F238E27FC236}">
                <a16:creationId xmlns:a16="http://schemas.microsoft.com/office/drawing/2014/main" id="{E73B6FA0-D871-44ED-A702-0CF92C3A3D73}"/>
              </a:ext>
            </a:extLst>
          </p:cNvPr>
          <p:cNvSpPr>
            <a:spLocks xmlns:a="http://schemas.openxmlformats.org/drawingml/2006/main" noGrp="1"/>
          </p:cNvSpPr>
          <p:nvPr/>
        </p:nvSpPr>
        <p:spPr>
          <a:xfrm xmlns:a="http://schemas.openxmlformats.org/drawingml/2006/main">
            <a:off x="7600950" y="342900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0">
                <a:solidFill>
                  <a:srgbClr val="172027"/>
                </a:solidFill>
                <a:latin typeface="Aptos"/>
                <a:ea typeface="Aptos"/>
                <a:cs typeface="Aptos"/>
              </a:defRPr>
            </a:pPr>
            <a:r>
              <a:rPr sz="1650" b="0">
                <a:solidFill>
                  <a:srgbClr val="172027"/>
                </a:solidFill>
                <a:latin typeface="Aptos"/>
                <a:ea typeface="Aptos"/>
                <a:cs typeface="Aptos"/>
              </a:rPr>
              <a:t>40 matched + 12 conditional reserve candidates</a:t>
            </a:r>
          </a:p>
        </p:txBody>
      </p:sp>
      <p:sp>
        <p:nvSpPr>
          <p:cNvPr id="12" name="bullet-dot-0">
            <a:extLst xmlns:a="http://schemas.openxmlformats.org/drawingml/2006/main">
              <a:ext uri="{FF2B5EF4-FFF2-40B4-BE49-F238E27FC236}">
                <a16:creationId xmlns:a16="http://schemas.microsoft.com/office/drawing/2014/main" id="{24731C22-10E8-4773-A087-DD7FFB3CD903}"/>
              </a:ext>
            </a:extLst>
          </p:cNvPr>
          <p:cNvSpPr>
            <a:spLocks xmlns:a="http://schemas.openxmlformats.org/drawingml/2006/main" noGrp="1"/>
          </p:cNvSpPr>
          <p:nvPr/>
        </p:nvSpPr>
        <p:spPr>
          <a:xfrm xmlns:a="http://schemas.openxmlformats.org/drawingml/2006/main">
            <a:off x="7600950" y="4343400"/>
            <a:ext cx="762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bullet-0">
            <a:extLst xmlns:a="http://schemas.openxmlformats.org/drawingml/2006/main">
              <a:ext uri="{FF2B5EF4-FFF2-40B4-BE49-F238E27FC236}">
                <a16:creationId xmlns:a16="http://schemas.microsoft.com/office/drawing/2014/main" id="{0F36C957-8141-4753-8EEC-FEC6D9F479C3}"/>
              </a:ext>
            </a:extLst>
          </p:cNvPr>
          <p:cNvSpPr>
            <a:spLocks xmlns:a="http://schemas.openxmlformats.org/drawingml/2006/main" noGrp="1"/>
          </p:cNvSpPr>
          <p:nvPr/>
        </p:nvSpPr>
        <p:spPr>
          <a:xfrm xmlns:a="http://schemas.openxmlformats.org/drawingml/2006/main">
            <a:off x="7810500" y="4248150"/>
            <a:ext cx="354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ARM-01 is CPU; ARM-02-05 use separate GPUs.</a:t>
            </a:r>
          </a:p>
        </p:txBody>
      </p:sp>
      <p:sp>
        <p:nvSpPr>
          <p:cNvPr id="14" name="bullet-dot-1">
            <a:extLst xmlns:a="http://schemas.openxmlformats.org/drawingml/2006/main">
              <a:ext uri="{FF2B5EF4-FFF2-40B4-BE49-F238E27FC236}">
                <a16:creationId xmlns:a16="http://schemas.microsoft.com/office/drawing/2014/main" id="{F6FE3C16-41A9-4F7C-9E7F-B03C05144F06}"/>
              </a:ext>
            </a:extLst>
          </p:cNvPr>
          <p:cNvSpPr>
            <a:spLocks xmlns:a="http://schemas.openxmlformats.org/drawingml/2006/main" noGrp="1"/>
          </p:cNvSpPr>
          <p:nvPr/>
        </p:nvSpPr>
        <p:spPr>
          <a:xfrm xmlns:a="http://schemas.openxmlformats.org/drawingml/2006/main">
            <a:off x="7600950" y="49149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5" name="bullet-1">
            <a:extLst xmlns:a="http://schemas.openxmlformats.org/drawingml/2006/main">
              <a:ext uri="{FF2B5EF4-FFF2-40B4-BE49-F238E27FC236}">
                <a16:creationId xmlns:a16="http://schemas.microsoft.com/office/drawing/2014/main" id="{DEB2A7D7-6413-480C-B270-026803931D92}"/>
              </a:ext>
            </a:extLst>
          </p:cNvPr>
          <p:cNvSpPr>
            <a:spLocks xmlns:a="http://schemas.openxmlformats.org/drawingml/2006/main" noGrp="1"/>
          </p:cNvSpPr>
          <p:nvPr/>
        </p:nvSpPr>
        <p:spPr>
          <a:xfrm xmlns:a="http://schemas.openxmlformats.org/drawingml/2006/main">
            <a:off x="7810500" y="4819650"/>
            <a:ext cx="354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Each candidate has a durable checkpoint and heartbeat.</a:t>
            </a:r>
          </a:p>
        </p:txBody>
      </p:sp>
      <p:sp>
        <p:nvSpPr>
          <p:cNvPr id="16" name="bullet-dot-2">
            <a:extLst xmlns:a="http://schemas.openxmlformats.org/drawingml/2006/main">
              <a:ext uri="{FF2B5EF4-FFF2-40B4-BE49-F238E27FC236}">
                <a16:creationId xmlns:a16="http://schemas.microsoft.com/office/drawing/2014/main" id="{B7945AC1-A9DD-419C-87BC-5863C02A2451}"/>
              </a:ext>
            </a:extLst>
          </p:cNvPr>
          <p:cNvSpPr>
            <a:spLocks xmlns:a="http://schemas.openxmlformats.org/drawingml/2006/main" noGrp="1"/>
          </p:cNvSpPr>
          <p:nvPr/>
        </p:nvSpPr>
        <p:spPr>
          <a:xfrm xmlns:a="http://schemas.openxmlformats.org/drawingml/2006/main">
            <a:off x="7600950" y="54864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7" name="bullet-2">
            <a:extLst xmlns:a="http://schemas.openxmlformats.org/drawingml/2006/main">
              <a:ext uri="{FF2B5EF4-FFF2-40B4-BE49-F238E27FC236}">
                <a16:creationId xmlns:a16="http://schemas.microsoft.com/office/drawing/2014/main" id="{072448E8-8EF2-48FB-B951-FC1C096D3853}"/>
              </a:ext>
            </a:extLst>
          </p:cNvPr>
          <p:cNvSpPr>
            <a:spLocks xmlns:a="http://schemas.openxmlformats.org/drawingml/2006/main" noGrp="1"/>
          </p:cNvSpPr>
          <p:nvPr/>
        </p:nvSpPr>
        <p:spPr>
          <a:xfrm xmlns:a="http://schemas.openxmlformats.org/drawingml/2006/main">
            <a:off x="7810500" y="5391150"/>
            <a:ext cx="354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Reserves need fresh barrier, budget, and TTL admission.</a:t>
            </a:r>
          </a:p>
        </p:txBody>
      </p:sp>
    </p:spTree>
    <p:extLst>
      <p:ext uri="{BB962C8B-B14F-4D97-AF65-F5344CB8AC3E}">
        <p14:creationId xmlns:p14="http://schemas.microsoft.com/office/powerpoint/2010/main" val="1798598122"/>
      </p:ext>
    </p:extLst>
  </p:cSld>
</p:sld>
</file>

<file path=ppt/slides/slide1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AD17A37D-453C-438D-977B-AF6F38D4C1CB}"/>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A2 | MEASURED CLOSEOUT</a:t>
            </a:r>
          </a:p>
        </p:txBody>
      </p:sp>
      <p:sp>
        <p:nvSpPr>
          <p:cNvPr id="2" name="rule">
            <a:extLst xmlns:a="http://schemas.openxmlformats.org/drawingml/2006/main">
              <a:ext uri="{FF2B5EF4-FFF2-40B4-BE49-F238E27FC236}">
                <a16:creationId xmlns:a16="http://schemas.microsoft.com/office/drawing/2014/main" id="{60F96AA9-EE65-42CB-99F9-EDA4E450C1FF}"/>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576286D8-5460-4320-9D3A-581085D102FC}"/>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13 / 18</a:t>
            </a:r>
          </a:p>
        </p:txBody>
      </p:sp>
      <p:sp>
        <p:nvSpPr>
          <p:cNvPr id="4" name="slide-title">
            <a:extLst xmlns:a="http://schemas.openxmlformats.org/drawingml/2006/main">
              <a:ext uri="{FF2B5EF4-FFF2-40B4-BE49-F238E27FC236}">
                <a16:creationId xmlns:a16="http://schemas.microsoft.com/office/drawing/2014/main" id="{8B62D343-2A5B-4714-AB57-8B6B97ACA34C}"/>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A2 closes with bounded primary inputs</a:t>
            </a:r>
          </a:p>
        </p:txBody>
      </p:sp>
      <p:sp>
        <p:nvSpPr>
          <p:cNvPr id="5" name="slide-subtitle">
            <a:extLst xmlns:a="http://schemas.openxmlformats.org/drawingml/2006/main">
              <a:ext uri="{FF2B5EF4-FFF2-40B4-BE49-F238E27FC236}">
                <a16:creationId xmlns:a16="http://schemas.microsoft.com/office/drawing/2014/main" id="{42429704-635E-4A1B-8F28-1F1544CEBCDD}"/>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Exact accounting, safe return, and an independent audit support aggregate-only interpretation.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28a48aa6a9948af"/>
          <a:stretch xmlns:a="http://schemas.openxmlformats.org/drawingml/2006/main"/>
        </p:blipFill>
        <p:spPr>
          <a:xfrm xmlns:a="http://schemas.openxmlformats.org/drawingml/2006/main">
            <a:off x="1099631" y="2076450"/>
            <a:ext cx="5439787" cy="3429000"/>
          </a:xfrm>
          <a:prstGeom xmlns:a="http://schemas.openxmlformats.org/drawingml/2006/main" prst="rect">
            <a:avLst/>
          </a:prstGeom>
        </p:spPr>
      </p:pic>
      <p:sp>
        <p:nvSpPr>
          <p:cNvPr id="7" name="rule">
            <a:extLst xmlns:a="http://schemas.openxmlformats.org/drawingml/2006/main">
              <a:ext uri="{FF2B5EF4-FFF2-40B4-BE49-F238E27FC236}">
                <a16:creationId xmlns:a16="http://schemas.microsoft.com/office/drawing/2014/main" id="{B96A6DF3-1BC9-4FB8-804F-24D632017ECF}"/>
              </a:ext>
            </a:extLst>
          </p:cNvPr>
          <p:cNvSpPr>
            <a:spLocks xmlns:a="http://schemas.openxmlformats.org/drawingml/2006/main" noGrp="1"/>
          </p:cNvSpPr>
          <p:nvPr/>
        </p:nvSpPr>
        <p:spPr>
          <a:xfrm xmlns:a="http://schemas.openxmlformats.org/drawingml/2006/main">
            <a:off x="7277100" y="2133600"/>
            <a:ext cx="3943350" cy="4762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ARM-03-label">
            <a:extLst xmlns:a="http://schemas.openxmlformats.org/drawingml/2006/main">
              <a:ext uri="{FF2B5EF4-FFF2-40B4-BE49-F238E27FC236}">
                <a16:creationId xmlns:a16="http://schemas.microsoft.com/office/drawing/2014/main" id="{A4D1D618-A73D-4BB4-83F9-3BF634296D59}"/>
              </a:ext>
            </a:extLst>
          </p:cNvPr>
          <p:cNvSpPr>
            <a:spLocks xmlns:a="http://schemas.openxmlformats.org/drawingml/2006/main" noGrp="1"/>
          </p:cNvSpPr>
          <p:nvPr/>
        </p:nvSpPr>
        <p:spPr>
          <a:xfrm xmlns:a="http://schemas.openxmlformats.org/drawingml/2006/main">
            <a:off x="7277100" y="2305050"/>
            <a:ext cx="3943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0F766E"/>
                </a:solidFill>
                <a:latin typeface="Cambria"/>
                <a:ea typeface="Cambria"/>
                <a:cs typeface="Cambria"/>
              </a:defRPr>
            </a:pPr>
            <a:r>
              <a:rPr sz="1725" b="1">
                <a:solidFill>
                  <a:srgbClr val="0F766E"/>
                </a:solidFill>
                <a:latin typeface="Cambria"/>
                <a:ea typeface="Cambria"/>
                <a:cs typeface="Cambria"/>
              </a:rPr>
              <a:t>ARM-03</a:t>
            </a:r>
          </a:p>
        </p:txBody>
      </p:sp>
      <p:sp>
        <p:nvSpPr>
          <p:cNvPr id="9" name="ARM-03-detail">
            <a:extLst xmlns:a="http://schemas.openxmlformats.org/drawingml/2006/main">
              <a:ext uri="{FF2B5EF4-FFF2-40B4-BE49-F238E27FC236}">
                <a16:creationId xmlns:a16="http://schemas.microsoft.com/office/drawing/2014/main" id="{5B80855E-CACF-41AB-94E6-3FB8472CEF35}"/>
              </a:ext>
            </a:extLst>
          </p:cNvPr>
          <p:cNvSpPr>
            <a:spLocks xmlns:a="http://schemas.openxmlformats.org/drawingml/2006/main" noGrp="1"/>
          </p:cNvSpPr>
          <p:nvPr/>
        </p:nvSpPr>
        <p:spPr>
          <a:xfrm xmlns:a="http://schemas.openxmlformats.org/drawingml/2006/main">
            <a:off x="7277100" y="2647950"/>
            <a:ext cx="3943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575" b="0">
                <a:solidFill>
                  <a:srgbClr val="172027"/>
                </a:solidFill>
                <a:latin typeface="Aptos"/>
                <a:ea typeface="Aptos"/>
                <a:cs typeface="Aptos"/>
              </a:defRPr>
            </a:pPr>
            <a:r>
              <a:rPr sz="1575" b="0">
                <a:solidFill>
                  <a:srgbClr val="172027"/>
                </a:solidFill>
                <a:latin typeface="Aptos"/>
                <a:ea typeface="Aptos"/>
                <a:cs typeface="Aptos"/>
              </a:rPr>
              <a:t>Recall@100 0.4230; numerical tie to A1 at presentation precision.</a:t>
            </a:r>
          </a:p>
        </p:txBody>
      </p:sp>
      <p:sp>
        <p:nvSpPr>
          <p:cNvPr id="10" name="rule">
            <a:extLst xmlns:a="http://schemas.openxmlformats.org/drawingml/2006/main">
              <a:ext uri="{FF2B5EF4-FFF2-40B4-BE49-F238E27FC236}">
                <a16:creationId xmlns:a16="http://schemas.microsoft.com/office/drawing/2014/main" id="{98924B92-03F5-4D00-890F-C618C4DFAF3C}"/>
              </a:ext>
            </a:extLst>
          </p:cNvPr>
          <p:cNvSpPr>
            <a:spLocks xmlns:a="http://schemas.openxmlformats.org/drawingml/2006/main" noGrp="1"/>
          </p:cNvSpPr>
          <p:nvPr/>
        </p:nvSpPr>
        <p:spPr>
          <a:xfrm xmlns:a="http://schemas.openxmlformats.org/drawingml/2006/main">
            <a:off x="7277100" y="3390900"/>
            <a:ext cx="3943350" cy="47625"/>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1" name="ARM-04-label">
            <a:extLst xmlns:a="http://schemas.openxmlformats.org/drawingml/2006/main">
              <a:ext uri="{FF2B5EF4-FFF2-40B4-BE49-F238E27FC236}">
                <a16:creationId xmlns:a16="http://schemas.microsoft.com/office/drawing/2014/main" id="{A9223536-3FFE-416A-9A7D-3C524668C04C}"/>
              </a:ext>
            </a:extLst>
          </p:cNvPr>
          <p:cNvSpPr>
            <a:spLocks xmlns:a="http://schemas.openxmlformats.org/drawingml/2006/main" noGrp="1"/>
          </p:cNvSpPr>
          <p:nvPr/>
        </p:nvSpPr>
        <p:spPr>
          <a:xfrm xmlns:a="http://schemas.openxmlformats.org/drawingml/2006/main">
            <a:off x="7277100" y="3562350"/>
            <a:ext cx="3943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C18119"/>
                </a:solidFill>
                <a:latin typeface="Cambria"/>
                <a:ea typeface="Cambria"/>
                <a:cs typeface="Cambria"/>
              </a:defRPr>
            </a:pPr>
            <a:r>
              <a:rPr sz="1725" b="1">
                <a:solidFill>
                  <a:srgbClr val="C18119"/>
                </a:solidFill>
                <a:latin typeface="Cambria"/>
                <a:ea typeface="Cambria"/>
                <a:cs typeface="Cambria"/>
              </a:rPr>
              <a:t>ARM-04</a:t>
            </a:r>
          </a:p>
        </p:txBody>
      </p:sp>
      <p:sp>
        <p:nvSpPr>
          <p:cNvPr id="12" name="ARM-04-detail">
            <a:extLst xmlns:a="http://schemas.openxmlformats.org/drawingml/2006/main">
              <a:ext uri="{FF2B5EF4-FFF2-40B4-BE49-F238E27FC236}">
                <a16:creationId xmlns:a16="http://schemas.microsoft.com/office/drawing/2014/main" id="{F508BE69-8D76-4F44-8EE4-AE8562C4A443}"/>
              </a:ext>
            </a:extLst>
          </p:cNvPr>
          <p:cNvSpPr>
            <a:spLocks xmlns:a="http://schemas.openxmlformats.org/drawingml/2006/main" noGrp="1"/>
          </p:cNvSpPr>
          <p:nvPr/>
        </p:nvSpPr>
        <p:spPr>
          <a:xfrm xmlns:a="http://schemas.openxmlformats.org/drawingml/2006/main">
            <a:off x="7277100" y="3905250"/>
            <a:ext cx="3943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575" b="0">
                <a:solidFill>
                  <a:srgbClr val="172027"/>
                </a:solidFill>
                <a:latin typeface="Aptos"/>
                <a:ea typeface="Aptos"/>
                <a:cs typeface="Aptos"/>
              </a:defRPr>
            </a:pPr>
            <a:r>
              <a:rPr sz="1575" b="0">
                <a:solidFill>
                  <a:srgbClr val="172027"/>
                </a:solidFill>
                <a:latin typeface="Aptos"/>
                <a:ea typeface="Aptos"/>
                <a:cs typeface="Aptos"/>
              </a:rPr>
              <a:t>Recall@100 0.3587; strict +0.0060 improvement over A1.</a:t>
            </a:r>
          </a:p>
        </p:txBody>
      </p:sp>
      <p:sp>
        <p:nvSpPr>
          <p:cNvPr id="13" name="rule">
            <a:extLst xmlns:a="http://schemas.openxmlformats.org/drawingml/2006/main">
              <a:ext uri="{FF2B5EF4-FFF2-40B4-BE49-F238E27FC236}">
                <a16:creationId xmlns:a16="http://schemas.microsoft.com/office/drawing/2014/main" id="{0787225F-D7E6-4B9F-8380-E71107320D74}"/>
              </a:ext>
            </a:extLst>
          </p:cNvPr>
          <p:cNvSpPr>
            <a:spLocks xmlns:a="http://schemas.openxmlformats.org/drawingml/2006/main" noGrp="1"/>
          </p:cNvSpPr>
          <p:nvPr/>
        </p:nvSpPr>
        <p:spPr>
          <a:xfrm xmlns:a="http://schemas.openxmlformats.org/drawingml/2006/main">
            <a:off x="7277100" y="4648200"/>
            <a:ext cx="3943350" cy="47625"/>
          </a:xfrm>
          <a:prstGeom xmlns:a="http://schemas.openxmlformats.org/drawingml/2006/main" prst="rect">
            <a:avLst/>
          </a:prstGeom>
          <a:solidFill xmlns:a="http://schemas.openxmlformats.org/drawingml/2006/main">
            <a:srgbClr val="B95059"/>
          </a:solidFill>
          <a:ln xmlns:a="http://schemas.openxmlformats.org/drawingml/2006/main" w="0">
            <a:noFill/>
            <a:prstDash val="solid"/>
          </a:ln>
        </p:spPr>
      </p:sp>
      <p:sp>
        <p:nvSpPr>
          <p:cNvPr id="14" name="ARM-05-label">
            <a:extLst xmlns:a="http://schemas.openxmlformats.org/drawingml/2006/main">
              <a:ext uri="{FF2B5EF4-FFF2-40B4-BE49-F238E27FC236}">
                <a16:creationId xmlns:a16="http://schemas.microsoft.com/office/drawing/2014/main" id="{E30F0C16-6A78-4AF3-A806-203D5D08B78D}"/>
              </a:ext>
            </a:extLst>
          </p:cNvPr>
          <p:cNvSpPr>
            <a:spLocks xmlns:a="http://schemas.openxmlformats.org/drawingml/2006/main" noGrp="1"/>
          </p:cNvSpPr>
          <p:nvPr/>
        </p:nvSpPr>
        <p:spPr>
          <a:xfrm xmlns:a="http://schemas.openxmlformats.org/drawingml/2006/main">
            <a:off x="7277100" y="4819650"/>
            <a:ext cx="3943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B95059"/>
                </a:solidFill>
                <a:latin typeface="Cambria"/>
                <a:ea typeface="Cambria"/>
                <a:cs typeface="Cambria"/>
              </a:defRPr>
            </a:pPr>
            <a:r>
              <a:rPr sz="1725" b="1">
                <a:solidFill>
                  <a:srgbClr val="B95059"/>
                </a:solidFill>
                <a:latin typeface="Cambria"/>
                <a:ea typeface="Cambria"/>
                <a:cs typeface="Cambria"/>
              </a:rPr>
              <a:t>ARM-05</a:t>
            </a:r>
          </a:p>
        </p:txBody>
      </p:sp>
      <p:sp>
        <p:nvSpPr>
          <p:cNvPr id="15" name="ARM-05-detail">
            <a:extLst xmlns:a="http://schemas.openxmlformats.org/drawingml/2006/main">
              <a:ext uri="{FF2B5EF4-FFF2-40B4-BE49-F238E27FC236}">
                <a16:creationId xmlns:a16="http://schemas.microsoft.com/office/drawing/2014/main" id="{B0EBFF52-8EF1-40E3-8828-B4EA0E593E50}"/>
              </a:ext>
            </a:extLst>
          </p:cNvPr>
          <p:cNvSpPr>
            <a:spLocks xmlns:a="http://schemas.openxmlformats.org/drawingml/2006/main" noGrp="1"/>
          </p:cNvSpPr>
          <p:nvPr/>
        </p:nvSpPr>
        <p:spPr>
          <a:xfrm xmlns:a="http://schemas.openxmlformats.org/drawingml/2006/main">
            <a:off x="7277100" y="5162550"/>
            <a:ext cx="3943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575" b="0">
                <a:solidFill>
                  <a:srgbClr val="172027"/>
                </a:solidFill>
                <a:latin typeface="Aptos"/>
                <a:ea typeface="Aptos"/>
                <a:cs typeface="Aptos"/>
              </a:defRPr>
            </a:pPr>
            <a:r>
              <a:rPr sz="1575" b="0">
                <a:solidFill>
                  <a:srgbClr val="172027"/>
                </a:solidFill>
                <a:latin typeface="Aptos"/>
                <a:ea typeface="Aptos"/>
                <a:cs typeface="Aptos"/>
              </a:rPr>
              <a:t>Recall@100 0.3737; no strict A1 improvement, retained for transfer.</a:t>
            </a:r>
          </a:p>
        </p:txBody>
      </p:sp>
    </p:spTree>
    <p:extLst>
      <p:ext uri="{BB962C8B-B14F-4D97-AF65-F5344CB8AC3E}">
        <p14:creationId xmlns:p14="http://schemas.microsoft.com/office/powerpoint/2010/main" val="2063400361"/>
      </p:ext>
    </p:extLst>
  </p:cSld>
</p:sld>
</file>

<file path=ppt/slides/slide1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C70B69A7-8825-407D-B1ED-4FF6475FAD0D}"/>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A3 EXTENDED | PENDING INPUT PACKAGE</a:t>
            </a:r>
          </a:p>
        </p:txBody>
      </p:sp>
      <p:sp>
        <p:nvSpPr>
          <p:cNvPr id="2" name="rule">
            <a:extLst xmlns:a="http://schemas.openxmlformats.org/drawingml/2006/main">
              <a:ext uri="{FF2B5EF4-FFF2-40B4-BE49-F238E27FC236}">
                <a16:creationId xmlns:a16="http://schemas.microsoft.com/office/drawing/2014/main" id="{3EE04149-76A4-4BC4-845C-823D791F91C9}"/>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9D3B8B97-45F8-4823-9A4B-529137555765}"/>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14 / 18</a:t>
            </a:r>
          </a:p>
        </p:txBody>
      </p:sp>
      <p:sp>
        <p:nvSpPr>
          <p:cNvPr id="4" name="slide-title">
            <a:extLst xmlns:a="http://schemas.openxmlformats.org/drawingml/2006/main">
              <a:ext uri="{FF2B5EF4-FFF2-40B4-BE49-F238E27FC236}">
                <a16:creationId xmlns:a16="http://schemas.microsoft.com/office/drawing/2014/main" id="{2E1DE2BA-66D5-4C01-84C1-2D73346B6812}"/>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A3 needs a fresh hash-bound Train-250 package</a:t>
            </a:r>
          </a:p>
        </p:txBody>
      </p:sp>
      <p:sp>
        <p:nvSpPr>
          <p:cNvPr id="5" name="slide-subtitle">
            <a:extLst xmlns:a="http://schemas.openxmlformats.org/drawingml/2006/main">
              <a:ext uri="{FF2B5EF4-FFF2-40B4-BE49-F238E27FC236}">
                <a16:creationId xmlns:a16="http://schemas.microsoft.com/office/drawing/2014/main" id="{0D43C1D8-D61B-4561-86AF-5AF249836240}"/>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ARM-03, ARM-04, and ARM-05 are prepared; admission and spend remain closed.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d9924a5ab59495f"/>
          <a:stretch xmlns:a="http://schemas.openxmlformats.org/drawingml/2006/main"/>
        </p:blipFill>
        <p:spPr>
          <a:xfrm xmlns:a="http://schemas.openxmlformats.org/drawingml/2006/main">
            <a:off x="787400" y="2133600"/>
            <a:ext cx="5130800" cy="2886075"/>
          </a:xfrm>
          <a:prstGeom xmlns:a="http://schemas.openxmlformats.org/drawingml/2006/main" prst="rect">
            <a:avLst/>
          </a:prstGeom>
        </p:spPr>
      </p:pic>
      <p:sp>
        <p:nvSpPr>
          <p:cNvPr id="7" name="rule">
            <a:extLst xmlns:a="http://schemas.openxmlformats.org/drawingml/2006/main">
              <a:ext uri="{FF2B5EF4-FFF2-40B4-BE49-F238E27FC236}">
                <a16:creationId xmlns:a16="http://schemas.microsoft.com/office/drawing/2014/main" id="{B65B2AB8-B8AA-499F-A1B2-1A2E3A462FA2}"/>
              </a:ext>
            </a:extLst>
          </p:cNvPr>
          <p:cNvSpPr>
            <a:spLocks xmlns:a="http://schemas.openxmlformats.org/drawingml/2006/main" noGrp="1"/>
          </p:cNvSpPr>
          <p:nvPr/>
        </p:nvSpPr>
        <p:spPr>
          <a:xfrm xmlns:a="http://schemas.openxmlformats.org/drawingml/2006/main">
            <a:off x="6248400" y="1714500"/>
            <a:ext cx="85725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a3-label-0">
            <a:extLst xmlns:a="http://schemas.openxmlformats.org/drawingml/2006/main">
              <a:ext uri="{FF2B5EF4-FFF2-40B4-BE49-F238E27FC236}">
                <a16:creationId xmlns:a16="http://schemas.microsoft.com/office/drawing/2014/main" id="{09C0CF9D-22A6-4E12-B313-7C0437DCE15A}"/>
              </a:ext>
            </a:extLst>
          </p:cNvPr>
          <p:cNvSpPr>
            <a:spLocks xmlns:a="http://schemas.openxmlformats.org/drawingml/2006/main" noGrp="1"/>
          </p:cNvSpPr>
          <p:nvPr/>
        </p:nvSpPr>
        <p:spPr>
          <a:xfrm xmlns:a="http://schemas.openxmlformats.org/drawingml/2006/main">
            <a:off x="6248400" y="18288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Transfer</a:t>
            </a:r>
          </a:p>
        </p:txBody>
      </p:sp>
      <p:sp>
        <p:nvSpPr>
          <p:cNvPr id="9" name="a3-detail-0">
            <a:extLst xmlns:a="http://schemas.openxmlformats.org/drawingml/2006/main">
              <a:ext uri="{FF2B5EF4-FFF2-40B4-BE49-F238E27FC236}">
                <a16:creationId xmlns:a16="http://schemas.microsoft.com/office/drawing/2014/main" id="{7B1F308A-82A6-4927-A20E-582D7C6CB0AD}"/>
              </a:ext>
            </a:extLst>
          </p:cNvPr>
          <p:cNvSpPr>
            <a:spLocks xmlns:a="http://schemas.openxmlformats.org/drawingml/2006/main" noGrp="1"/>
          </p:cNvSpPr>
          <p:nvPr/>
        </p:nvSpPr>
        <p:spPr>
          <a:xfrm xmlns:a="http://schemas.openxmlformats.org/drawingml/2006/main">
            <a:off x="6248400" y="23241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2606D"/>
                </a:solidFill>
                <a:latin typeface="Aptos"/>
                <a:ea typeface="Aptos"/>
                <a:cs typeface="Aptos"/>
              </a:defRPr>
            </a:pPr>
            <a:r>
              <a:rPr sz="1425" b="0">
                <a:solidFill>
                  <a:srgbClr val="52606D"/>
                </a:solidFill>
                <a:latin typeface="Aptos"/>
                <a:ea typeface="Aptos"/>
                <a:cs typeface="Aptos"/>
              </a:rPr>
              <a:t>3 self-reuses + up to 6 compatible cross-arm transfers.</a:t>
            </a:r>
          </a:p>
        </p:txBody>
      </p:sp>
      <p:sp>
        <p:nvSpPr>
          <p:cNvPr id="10" name="rule">
            <a:extLst xmlns:a="http://schemas.openxmlformats.org/drawingml/2006/main">
              <a:ext uri="{FF2B5EF4-FFF2-40B4-BE49-F238E27FC236}">
                <a16:creationId xmlns:a16="http://schemas.microsoft.com/office/drawing/2014/main" id="{5AB8A380-B3DD-4FC6-9B1A-476A5D6A8F85}"/>
              </a:ext>
            </a:extLst>
          </p:cNvPr>
          <p:cNvSpPr>
            <a:spLocks xmlns:a="http://schemas.openxmlformats.org/drawingml/2006/main" noGrp="1"/>
          </p:cNvSpPr>
          <p:nvPr/>
        </p:nvSpPr>
        <p:spPr>
          <a:xfrm xmlns:a="http://schemas.openxmlformats.org/drawingml/2006/main">
            <a:off x="6248400" y="2762250"/>
            <a:ext cx="85725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a3-label-1">
            <a:extLst xmlns:a="http://schemas.openxmlformats.org/drawingml/2006/main">
              <a:ext uri="{FF2B5EF4-FFF2-40B4-BE49-F238E27FC236}">
                <a16:creationId xmlns:a16="http://schemas.microsoft.com/office/drawing/2014/main" id="{A507DFD0-0C8D-4A8A-BC00-A1B48D4A90FA}"/>
              </a:ext>
            </a:extLst>
          </p:cNvPr>
          <p:cNvSpPr>
            <a:spLocks xmlns:a="http://schemas.openxmlformats.org/drawingml/2006/main" noGrp="1"/>
          </p:cNvSpPr>
          <p:nvPr/>
        </p:nvSpPr>
        <p:spPr>
          <a:xfrm xmlns:a="http://schemas.openxmlformats.org/drawingml/2006/main">
            <a:off x="6248400" y="2876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Complementarity</a:t>
            </a:r>
          </a:p>
        </p:txBody>
      </p:sp>
      <p:sp>
        <p:nvSpPr>
          <p:cNvPr id="12" name="a3-detail-1">
            <a:extLst xmlns:a="http://schemas.openxmlformats.org/drawingml/2006/main">
              <a:ext uri="{FF2B5EF4-FFF2-40B4-BE49-F238E27FC236}">
                <a16:creationId xmlns:a16="http://schemas.microsoft.com/office/drawing/2014/main" id="{10EBF292-279A-4AFD-80C5-4DEFF050A9B6}"/>
              </a:ext>
            </a:extLst>
          </p:cNvPr>
          <p:cNvSpPr>
            <a:spLocks xmlns:a="http://schemas.openxmlformats.org/drawingml/2006/main" noGrp="1"/>
          </p:cNvSpPr>
          <p:nvPr/>
        </p:nvSpPr>
        <p:spPr>
          <a:xfrm xmlns:a="http://schemas.openxmlformats.org/drawingml/2006/main">
            <a:off x="6248400" y="33718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2606D"/>
                </a:solidFill>
                <a:latin typeface="Aptos"/>
                <a:ea typeface="Aptos"/>
                <a:cs typeface="Aptos"/>
              </a:defRPr>
            </a:pPr>
            <a:r>
              <a:rPr sz="1425" b="0">
                <a:solidFill>
                  <a:srgbClr val="52606D"/>
                </a:solidFill>
                <a:latin typeface="Aptos"/>
                <a:ea typeface="Aptos"/>
                <a:cs typeface="Aptos"/>
              </a:rPr>
              <a:t>Equal-depth unions first; commercial-only union is ARM-04 + ARM-05.</a:t>
            </a:r>
          </a:p>
        </p:txBody>
      </p:sp>
      <p:sp>
        <p:nvSpPr>
          <p:cNvPr id="13" name="rule">
            <a:extLst xmlns:a="http://schemas.openxmlformats.org/drawingml/2006/main">
              <a:ext uri="{FF2B5EF4-FFF2-40B4-BE49-F238E27FC236}">
                <a16:creationId xmlns:a16="http://schemas.microsoft.com/office/drawing/2014/main" id="{6EC481D7-9404-4C36-8AF0-63F0B62C778B}"/>
              </a:ext>
            </a:extLst>
          </p:cNvPr>
          <p:cNvSpPr>
            <a:spLocks xmlns:a="http://schemas.openxmlformats.org/drawingml/2006/main" noGrp="1"/>
          </p:cNvSpPr>
          <p:nvPr/>
        </p:nvSpPr>
        <p:spPr>
          <a:xfrm xmlns:a="http://schemas.openxmlformats.org/drawingml/2006/main">
            <a:off x="6248400" y="3810000"/>
            <a:ext cx="85725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a3-label-2">
            <a:extLst xmlns:a="http://schemas.openxmlformats.org/drawingml/2006/main">
              <a:ext uri="{FF2B5EF4-FFF2-40B4-BE49-F238E27FC236}">
                <a16:creationId xmlns:a16="http://schemas.microsoft.com/office/drawing/2014/main" id="{588A5D68-9109-4CF4-86F5-4959CF0D012E}"/>
              </a:ext>
            </a:extLst>
          </p:cNvPr>
          <p:cNvSpPr>
            <a:spLocks xmlns:a="http://schemas.openxmlformats.org/drawingml/2006/main" noGrp="1"/>
          </p:cNvSpPr>
          <p:nvPr/>
        </p:nvSpPr>
        <p:spPr>
          <a:xfrm xmlns:a="http://schemas.openxmlformats.org/drawingml/2006/main">
            <a:off x="6248400" y="39243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HarnessOpt</a:t>
            </a:r>
          </a:p>
        </p:txBody>
      </p:sp>
      <p:sp>
        <p:nvSpPr>
          <p:cNvPr id="15" name="a3-detail-2">
            <a:extLst xmlns:a="http://schemas.openxmlformats.org/drawingml/2006/main">
              <a:ext uri="{FF2B5EF4-FFF2-40B4-BE49-F238E27FC236}">
                <a16:creationId xmlns:a16="http://schemas.microsoft.com/office/drawing/2014/main" id="{43030240-E140-4DF6-84A3-7E1E4A1CDADA}"/>
              </a:ext>
            </a:extLst>
          </p:cNvPr>
          <p:cNvSpPr>
            <a:spLocks xmlns:a="http://schemas.openxmlformats.org/drawingml/2006/main" noGrp="1"/>
          </p:cNvSpPr>
          <p:nvPr/>
        </p:nvSpPr>
        <p:spPr>
          <a:xfrm xmlns:a="http://schemas.openxmlformats.org/drawingml/2006/main">
            <a:off x="6248400" y="44196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2606D"/>
                </a:solidFill>
                <a:latin typeface="Aptos"/>
                <a:ea typeface="Aptos"/>
                <a:cs typeface="Aptos"/>
              </a:defRPr>
            </a:pPr>
            <a:r>
              <a:rPr sz="1425" b="0">
                <a:solidFill>
                  <a:srgbClr val="52606D"/>
                </a:solidFill>
                <a:latin typeface="Aptos"/>
                <a:ea typeface="Aptos"/>
                <a:cs typeface="Aptos"/>
              </a:rPr>
              <a:t>At most three complete batches; quality, cost/latency, routing, and diversity roles.</a:t>
            </a:r>
          </a:p>
        </p:txBody>
      </p:sp>
      <p:sp>
        <p:nvSpPr>
          <p:cNvPr id="16" name="rule">
            <a:extLst xmlns:a="http://schemas.openxmlformats.org/drawingml/2006/main">
              <a:ext uri="{FF2B5EF4-FFF2-40B4-BE49-F238E27FC236}">
                <a16:creationId xmlns:a16="http://schemas.microsoft.com/office/drawing/2014/main" id="{84F60901-689C-48A6-ABCE-40CEA4E0DB1E}"/>
              </a:ext>
            </a:extLst>
          </p:cNvPr>
          <p:cNvSpPr>
            <a:spLocks xmlns:a="http://schemas.openxmlformats.org/drawingml/2006/main" noGrp="1"/>
          </p:cNvSpPr>
          <p:nvPr/>
        </p:nvSpPr>
        <p:spPr>
          <a:xfrm xmlns:a="http://schemas.openxmlformats.org/drawingml/2006/main">
            <a:off x="6248400" y="4857750"/>
            <a:ext cx="857250" cy="38100"/>
          </a:xfrm>
          <a:prstGeom xmlns:a="http://schemas.openxmlformats.org/drawingml/2006/main" prst="rect">
            <a:avLst/>
          </a:prstGeom>
          <a:solidFill xmlns:a="http://schemas.openxmlformats.org/drawingml/2006/main">
            <a:srgbClr val="B95059"/>
          </a:solidFill>
          <a:ln xmlns:a="http://schemas.openxmlformats.org/drawingml/2006/main" w="0">
            <a:noFill/>
            <a:prstDash val="solid"/>
          </a:ln>
        </p:spPr>
      </p:sp>
      <p:sp>
        <p:nvSpPr>
          <p:cNvPr id="17" name="a3-label-3">
            <a:extLst xmlns:a="http://schemas.openxmlformats.org/drawingml/2006/main">
              <a:ext uri="{FF2B5EF4-FFF2-40B4-BE49-F238E27FC236}">
                <a16:creationId xmlns:a16="http://schemas.microsoft.com/office/drawing/2014/main" id="{B3255739-E1E1-4AF5-A2D3-C931610D2DE1}"/>
              </a:ext>
            </a:extLst>
          </p:cNvPr>
          <p:cNvSpPr>
            <a:spLocks xmlns:a="http://schemas.openxmlformats.org/drawingml/2006/main" noGrp="1"/>
          </p:cNvSpPr>
          <p:nvPr/>
        </p:nvSpPr>
        <p:spPr>
          <a:xfrm xmlns:a="http://schemas.openxmlformats.org/drawingml/2006/main">
            <a:off x="6248400" y="49720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72027"/>
                </a:solidFill>
                <a:latin typeface="Cambria"/>
                <a:ea typeface="Cambria"/>
                <a:cs typeface="Cambria"/>
              </a:defRPr>
            </a:pPr>
            <a:r>
              <a:rPr sz="1725" b="1">
                <a:solidFill>
                  <a:srgbClr val="172027"/>
                </a:solidFill>
                <a:latin typeface="Cambria"/>
                <a:ea typeface="Cambria"/>
                <a:cs typeface="Cambria"/>
              </a:rPr>
              <a:t>Admission</a:t>
            </a:r>
          </a:p>
        </p:txBody>
      </p:sp>
      <p:sp>
        <p:nvSpPr>
          <p:cNvPr id="18" name="a3-detail-3">
            <a:extLst xmlns:a="http://schemas.openxmlformats.org/drawingml/2006/main">
              <a:ext uri="{FF2B5EF4-FFF2-40B4-BE49-F238E27FC236}">
                <a16:creationId xmlns:a16="http://schemas.microsoft.com/office/drawing/2014/main" id="{37F8FF1D-BD88-4EE5-9FF4-5580026D2AF2}"/>
              </a:ext>
            </a:extLst>
          </p:cNvPr>
          <p:cNvSpPr>
            <a:spLocks xmlns:a="http://schemas.openxmlformats.org/drawingml/2006/main" noGrp="1"/>
          </p:cNvSpPr>
          <p:nvPr/>
        </p:nvSpPr>
        <p:spPr>
          <a:xfrm xmlns:a="http://schemas.openxmlformats.org/drawingml/2006/main">
            <a:off x="6248400" y="54673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2606D"/>
                </a:solidFill>
                <a:latin typeface="Aptos"/>
                <a:ea typeface="Aptos"/>
                <a:cs typeface="Aptos"/>
              </a:defRPr>
            </a:pPr>
            <a:r>
              <a:rPr sz="1425" b="0">
                <a:solidFill>
                  <a:srgbClr val="52606D"/>
                </a:solidFill>
                <a:latin typeface="Aptos"/>
                <a:ea typeface="Aptos"/>
                <a:cs typeface="Aptos"/>
              </a:rPr>
              <a:t>Hash-bound Train-250, fresh provider receipt, USD 35 A3 cap, USD 180 campaign ceiling.</a:t>
            </a:r>
          </a:p>
        </p:txBody>
      </p:sp>
    </p:spTree>
    <p:extLst>
      <p:ext uri="{BB962C8B-B14F-4D97-AF65-F5344CB8AC3E}">
        <p14:creationId xmlns:p14="http://schemas.microsoft.com/office/powerpoint/2010/main" val="1679812074"/>
      </p:ext>
    </p:extLst>
  </p:cSld>
</p:sld>
</file>

<file path=ppt/slides/slide1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50614C19-DECB-427F-BD2D-DC42FEF64D3D}"/>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TAKEAWAY</a:t>
            </a:r>
          </a:p>
        </p:txBody>
      </p:sp>
      <p:sp>
        <p:nvSpPr>
          <p:cNvPr id="2" name="rule">
            <a:extLst xmlns:a="http://schemas.openxmlformats.org/drawingml/2006/main">
              <a:ext uri="{FF2B5EF4-FFF2-40B4-BE49-F238E27FC236}">
                <a16:creationId xmlns:a16="http://schemas.microsoft.com/office/drawing/2014/main" id="{0ECC68A6-A69E-489B-A5E8-5989F0C6D50E}"/>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236B7CAD-EE52-4461-87BB-F97CDAEAF8D0}"/>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15 / 18</a:t>
            </a:r>
          </a:p>
        </p:txBody>
      </p:sp>
      <p:sp>
        <p:nvSpPr>
          <p:cNvPr id="4" name="slide-title">
            <a:extLst xmlns:a="http://schemas.openxmlformats.org/drawingml/2006/main">
              <a:ext uri="{FF2B5EF4-FFF2-40B4-BE49-F238E27FC236}">
                <a16:creationId xmlns:a16="http://schemas.microsoft.com/office/drawing/2014/main" id="{B3E46D18-96EE-4148-9209-4FD7D3FA9A0C}"/>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ArmIndex is an auditable interaction test</a:t>
            </a:r>
          </a:p>
        </p:txBody>
      </p:sp>
      <p:sp>
        <p:nvSpPr>
          <p:cNvPr id="5" name="slide-subtitle">
            <a:extLst xmlns:a="http://schemas.openxmlformats.org/drawingml/2006/main">
              <a:ext uri="{FF2B5EF4-FFF2-40B4-BE49-F238E27FC236}">
                <a16:creationId xmlns:a16="http://schemas.microsoft.com/office/drawing/2014/main" id="{6F3FA370-E4DE-4CD0-A671-0EF7BCDC6E61}"/>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contribution is a defensible research sequence, not a one-off model win.</a:t>
            </a:r>
          </a:p>
        </p:txBody>
      </p:sp>
      <p:sp>
        <p:nvSpPr>
          <p:cNvPr id="6" name="rule">
            <a:extLst xmlns:a="http://schemas.openxmlformats.org/drawingml/2006/main">
              <a:ext uri="{FF2B5EF4-FFF2-40B4-BE49-F238E27FC236}">
                <a16:creationId xmlns:a16="http://schemas.microsoft.com/office/drawing/2014/main" id="{BF26E992-86EC-49E5-81CF-B3F9BAD83A34}"/>
              </a:ext>
            </a:extLst>
          </p:cNvPr>
          <p:cNvSpPr>
            <a:spLocks xmlns:a="http://schemas.openxmlformats.org/drawingml/2006/main" noGrp="1"/>
          </p:cNvSpPr>
          <p:nvPr/>
        </p:nvSpPr>
        <p:spPr>
          <a:xfrm xmlns:a="http://schemas.openxmlformats.org/drawingml/2006/main">
            <a:off x="685800" y="2209800"/>
            <a:ext cx="2381250"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7" name="takeaway-code-0">
            <a:extLst xmlns:a="http://schemas.openxmlformats.org/drawingml/2006/main">
              <a:ext uri="{FF2B5EF4-FFF2-40B4-BE49-F238E27FC236}">
                <a16:creationId xmlns:a16="http://schemas.microsoft.com/office/drawing/2014/main" id="{5343F885-1A1A-4E73-A7EF-61F18C24A00D}"/>
              </a:ext>
            </a:extLst>
          </p:cNvPr>
          <p:cNvSpPr>
            <a:spLocks xmlns:a="http://schemas.openxmlformats.org/drawingml/2006/main" noGrp="1"/>
          </p:cNvSpPr>
          <p:nvPr/>
        </p:nvSpPr>
        <p:spPr>
          <a:xfrm xmlns:a="http://schemas.openxmlformats.org/drawingml/2006/main">
            <a:off x="685800" y="24765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F766E"/>
                </a:solidFill>
                <a:latin typeface="Cambria"/>
                <a:ea typeface="Cambria"/>
                <a:cs typeface="Cambria"/>
              </a:defRPr>
            </a:pPr>
            <a:r>
              <a:rPr sz="2700" b="1">
                <a:solidFill>
                  <a:srgbClr val="0F766E"/>
                </a:solidFill>
                <a:latin typeface="Cambria"/>
                <a:ea typeface="Cambria"/>
                <a:cs typeface="Cambria"/>
              </a:rPr>
              <a:t>A0</a:t>
            </a:r>
          </a:p>
        </p:txBody>
      </p:sp>
      <p:sp>
        <p:nvSpPr>
          <p:cNvPr id="8" name="takeaway-detail-0">
            <a:extLst xmlns:a="http://schemas.openxmlformats.org/drawingml/2006/main">
              <a:ext uri="{FF2B5EF4-FFF2-40B4-BE49-F238E27FC236}">
                <a16:creationId xmlns:a16="http://schemas.microsoft.com/office/drawing/2014/main" id="{BCF7FBBF-D4ED-4416-8D28-812C8F53498D}"/>
              </a:ext>
            </a:extLst>
          </p:cNvPr>
          <p:cNvSpPr>
            <a:spLocks xmlns:a="http://schemas.openxmlformats.org/drawingml/2006/main" noGrp="1"/>
          </p:cNvSpPr>
          <p:nvPr/>
        </p:nvSpPr>
        <p:spPr>
          <a:xfrm xmlns:a="http://schemas.openxmlformats.org/drawingml/2006/main">
            <a:off x="685800" y="3105150"/>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0">
                <a:solidFill>
                  <a:srgbClr val="172027"/>
                </a:solidFill>
                <a:latin typeface="Aptos"/>
                <a:ea typeface="Aptos"/>
                <a:cs typeface="Aptos"/>
              </a:defRPr>
            </a:pPr>
            <a:r>
              <a:rPr sz="1575" b="0">
                <a:solidFill>
                  <a:srgbClr val="172027"/>
                </a:solidFill>
                <a:latin typeface="Aptos"/>
                <a:ea typeface="Aptos"/>
                <a:cs typeface="Aptos"/>
              </a:rPr>
              <a:t>made the scientific sequence controlled and reproducible.</a:t>
            </a:r>
          </a:p>
        </p:txBody>
      </p:sp>
      <p:sp>
        <p:nvSpPr>
          <p:cNvPr id="9" name="rule">
            <a:extLst xmlns:a="http://schemas.openxmlformats.org/drawingml/2006/main">
              <a:ext uri="{FF2B5EF4-FFF2-40B4-BE49-F238E27FC236}">
                <a16:creationId xmlns:a16="http://schemas.microsoft.com/office/drawing/2014/main" id="{C4C3333F-CF5E-4F47-A017-DED01BF61506}"/>
              </a:ext>
            </a:extLst>
          </p:cNvPr>
          <p:cNvSpPr>
            <a:spLocks xmlns:a="http://schemas.openxmlformats.org/drawingml/2006/main" noGrp="1"/>
          </p:cNvSpPr>
          <p:nvPr/>
        </p:nvSpPr>
        <p:spPr>
          <a:xfrm xmlns:a="http://schemas.openxmlformats.org/drawingml/2006/main">
            <a:off x="3390900" y="2209800"/>
            <a:ext cx="2381250" cy="5715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0" name="takeaway-code-1">
            <a:extLst xmlns:a="http://schemas.openxmlformats.org/drawingml/2006/main">
              <a:ext uri="{FF2B5EF4-FFF2-40B4-BE49-F238E27FC236}">
                <a16:creationId xmlns:a16="http://schemas.microsoft.com/office/drawing/2014/main" id="{FF2AC123-03E2-42E7-95DA-D1067E09AB20}"/>
              </a:ext>
            </a:extLst>
          </p:cNvPr>
          <p:cNvSpPr>
            <a:spLocks xmlns:a="http://schemas.openxmlformats.org/drawingml/2006/main" noGrp="1"/>
          </p:cNvSpPr>
          <p:nvPr/>
        </p:nvSpPr>
        <p:spPr>
          <a:xfrm xmlns:a="http://schemas.openxmlformats.org/drawingml/2006/main">
            <a:off x="3390900" y="24765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C18119"/>
                </a:solidFill>
                <a:latin typeface="Cambria"/>
                <a:ea typeface="Cambria"/>
                <a:cs typeface="Cambria"/>
              </a:defRPr>
            </a:pPr>
            <a:r>
              <a:rPr sz="2700" b="1">
                <a:solidFill>
                  <a:srgbClr val="C18119"/>
                </a:solidFill>
                <a:latin typeface="Cambria"/>
                <a:ea typeface="Cambria"/>
                <a:cs typeface="Cambria"/>
              </a:rPr>
              <a:t>A1</a:t>
            </a:r>
          </a:p>
        </p:txBody>
      </p:sp>
      <p:sp>
        <p:nvSpPr>
          <p:cNvPr id="11" name="takeaway-detail-1">
            <a:extLst xmlns:a="http://schemas.openxmlformats.org/drawingml/2006/main">
              <a:ext uri="{FF2B5EF4-FFF2-40B4-BE49-F238E27FC236}">
                <a16:creationId xmlns:a16="http://schemas.microsoft.com/office/drawing/2014/main" id="{D1267156-C272-47D9-85CB-4A3667D9F3F3}"/>
              </a:ext>
            </a:extLst>
          </p:cNvPr>
          <p:cNvSpPr>
            <a:spLocks xmlns:a="http://schemas.openxmlformats.org/drawingml/2006/main" noGrp="1"/>
          </p:cNvSpPr>
          <p:nvPr/>
        </p:nvSpPr>
        <p:spPr>
          <a:xfrm xmlns:a="http://schemas.openxmlformats.org/drawingml/2006/main">
            <a:off x="3390900" y="3105150"/>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0">
                <a:solidFill>
                  <a:srgbClr val="172027"/>
                </a:solidFill>
                <a:latin typeface="Aptos"/>
                <a:ea typeface="Aptos"/>
                <a:cs typeface="Aptos"/>
              </a:defRPr>
            </a:pPr>
            <a:r>
              <a:rPr sz="1575" b="0">
                <a:solidFill>
                  <a:srgbClr val="172027"/>
                </a:solidFill>
                <a:latin typeface="Aptos"/>
                <a:ea typeface="Aptos"/>
                <a:cs typeface="Aptos"/>
              </a:rPr>
              <a:t>showed a representation-by-retriever quality and cost surface.</a:t>
            </a:r>
          </a:p>
        </p:txBody>
      </p:sp>
      <p:sp>
        <p:nvSpPr>
          <p:cNvPr id="12" name="rule">
            <a:extLst xmlns:a="http://schemas.openxmlformats.org/drawingml/2006/main">
              <a:ext uri="{FF2B5EF4-FFF2-40B4-BE49-F238E27FC236}">
                <a16:creationId xmlns:a16="http://schemas.microsoft.com/office/drawing/2014/main" id="{17EED193-76E1-4462-BE65-F42BC0BBC023}"/>
              </a:ext>
            </a:extLst>
          </p:cNvPr>
          <p:cNvSpPr>
            <a:spLocks xmlns:a="http://schemas.openxmlformats.org/drawingml/2006/main" noGrp="1"/>
          </p:cNvSpPr>
          <p:nvPr/>
        </p:nvSpPr>
        <p:spPr>
          <a:xfrm xmlns:a="http://schemas.openxmlformats.org/drawingml/2006/main">
            <a:off x="6096000" y="2209800"/>
            <a:ext cx="2381250" cy="57150"/>
          </a:xfrm>
          <a:prstGeom xmlns:a="http://schemas.openxmlformats.org/drawingml/2006/main" prst="rect">
            <a:avLst/>
          </a:prstGeom>
          <a:solidFill xmlns:a="http://schemas.openxmlformats.org/drawingml/2006/main">
            <a:srgbClr val="B95059"/>
          </a:solidFill>
          <a:ln xmlns:a="http://schemas.openxmlformats.org/drawingml/2006/main" w="0">
            <a:noFill/>
            <a:prstDash val="solid"/>
          </a:ln>
        </p:spPr>
      </p:sp>
      <p:sp>
        <p:nvSpPr>
          <p:cNvPr id="13" name="takeaway-code-2">
            <a:extLst xmlns:a="http://schemas.openxmlformats.org/drawingml/2006/main">
              <a:ext uri="{FF2B5EF4-FFF2-40B4-BE49-F238E27FC236}">
                <a16:creationId xmlns:a16="http://schemas.microsoft.com/office/drawing/2014/main" id="{E77497CA-AEBA-4825-9E25-DE22BFF6C287}"/>
              </a:ext>
            </a:extLst>
          </p:cNvPr>
          <p:cNvSpPr>
            <a:spLocks xmlns:a="http://schemas.openxmlformats.org/drawingml/2006/main" noGrp="1"/>
          </p:cNvSpPr>
          <p:nvPr/>
        </p:nvSpPr>
        <p:spPr>
          <a:xfrm xmlns:a="http://schemas.openxmlformats.org/drawingml/2006/main">
            <a:off x="6096000" y="24765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B95059"/>
                </a:solidFill>
                <a:latin typeface="Cambria"/>
                <a:ea typeface="Cambria"/>
                <a:cs typeface="Cambria"/>
              </a:defRPr>
            </a:pPr>
            <a:r>
              <a:rPr sz="2700" b="1">
                <a:solidFill>
                  <a:srgbClr val="B95059"/>
                </a:solidFill>
                <a:latin typeface="Cambria"/>
                <a:ea typeface="Cambria"/>
                <a:cs typeface="Cambria"/>
              </a:rPr>
              <a:t>A2</a:t>
            </a:r>
          </a:p>
        </p:txBody>
      </p:sp>
      <p:sp>
        <p:nvSpPr>
          <p:cNvPr id="14" name="takeaway-detail-2">
            <a:extLst xmlns:a="http://schemas.openxmlformats.org/drawingml/2006/main">
              <a:ext uri="{FF2B5EF4-FFF2-40B4-BE49-F238E27FC236}">
                <a16:creationId xmlns:a16="http://schemas.microsoft.com/office/drawing/2014/main" id="{B141DD4C-7D26-4379-B047-F285A98E8326}"/>
              </a:ext>
            </a:extLst>
          </p:cNvPr>
          <p:cNvSpPr>
            <a:spLocks xmlns:a="http://schemas.openxmlformats.org/drawingml/2006/main" noGrp="1"/>
          </p:cNvSpPr>
          <p:nvPr/>
        </p:nvSpPr>
        <p:spPr>
          <a:xfrm xmlns:a="http://schemas.openxmlformats.org/drawingml/2006/main">
            <a:off x="6096000" y="3105150"/>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0">
                <a:solidFill>
                  <a:srgbClr val="172027"/>
                </a:solidFill>
                <a:latin typeface="Aptos"/>
                <a:ea typeface="Aptos"/>
                <a:cs typeface="Aptos"/>
              </a:defRPr>
            </a:pPr>
            <a:r>
              <a:rPr sz="1575" b="0">
                <a:solidFill>
                  <a:srgbClr val="172027"/>
                </a:solidFill>
                <a:latin typeface="Aptos"/>
                <a:ea typeface="Aptos"/>
                <a:cs typeface="Aptos"/>
              </a:rPr>
              <a:t>closed with three transfer inputs and bounded negative evidence.</a:t>
            </a:r>
          </a:p>
        </p:txBody>
      </p:sp>
      <p:sp>
        <p:nvSpPr>
          <p:cNvPr id="15" name="rule">
            <a:extLst xmlns:a="http://schemas.openxmlformats.org/drawingml/2006/main">
              <a:ext uri="{FF2B5EF4-FFF2-40B4-BE49-F238E27FC236}">
                <a16:creationId xmlns:a16="http://schemas.microsoft.com/office/drawing/2014/main" id="{57FBF19C-FEE4-45DE-BF29-F04AE985E7B1}"/>
              </a:ext>
            </a:extLst>
          </p:cNvPr>
          <p:cNvSpPr>
            <a:spLocks xmlns:a="http://schemas.openxmlformats.org/drawingml/2006/main" noGrp="1"/>
          </p:cNvSpPr>
          <p:nvPr/>
        </p:nvSpPr>
        <p:spPr>
          <a:xfrm xmlns:a="http://schemas.openxmlformats.org/drawingml/2006/main">
            <a:off x="8801100" y="2209800"/>
            <a:ext cx="2381250"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6" name="takeaway-code-3">
            <a:extLst xmlns:a="http://schemas.openxmlformats.org/drawingml/2006/main">
              <a:ext uri="{FF2B5EF4-FFF2-40B4-BE49-F238E27FC236}">
                <a16:creationId xmlns:a16="http://schemas.microsoft.com/office/drawing/2014/main" id="{39A22362-0FF5-42F4-8DDE-0CC2275141D6}"/>
              </a:ext>
            </a:extLst>
          </p:cNvPr>
          <p:cNvSpPr>
            <a:spLocks xmlns:a="http://schemas.openxmlformats.org/drawingml/2006/main" noGrp="1"/>
          </p:cNvSpPr>
          <p:nvPr/>
        </p:nvSpPr>
        <p:spPr>
          <a:xfrm xmlns:a="http://schemas.openxmlformats.org/drawingml/2006/main">
            <a:off x="8801100" y="24765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F766E"/>
                </a:solidFill>
                <a:latin typeface="Cambria"/>
                <a:ea typeface="Cambria"/>
                <a:cs typeface="Cambria"/>
              </a:defRPr>
            </a:pPr>
            <a:r>
              <a:rPr sz="2700" b="1">
                <a:solidFill>
                  <a:srgbClr val="0F766E"/>
                </a:solidFill>
                <a:latin typeface="Cambria"/>
                <a:ea typeface="Cambria"/>
                <a:cs typeface="Cambria"/>
              </a:rPr>
              <a:t>A3</a:t>
            </a:r>
          </a:p>
        </p:txBody>
      </p:sp>
      <p:sp>
        <p:nvSpPr>
          <p:cNvPr id="17" name="takeaway-detail-3">
            <a:extLst xmlns:a="http://schemas.openxmlformats.org/drawingml/2006/main">
              <a:ext uri="{FF2B5EF4-FFF2-40B4-BE49-F238E27FC236}">
                <a16:creationId xmlns:a16="http://schemas.microsoft.com/office/drawing/2014/main" id="{1B011EB1-F7AE-4009-A870-A033EBCDD16C}"/>
              </a:ext>
            </a:extLst>
          </p:cNvPr>
          <p:cNvSpPr>
            <a:spLocks xmlns:a="http://schemas.openxmlformats.org/drawingml/2006/main" noGrp="1"/>
          </p:cNvSpPr>
          <p:nvPr/>
        </p:nvSpPr>
        <p:spPr>
          <a:xfrm xmlns:a="http://schemas.openxmlformats.org/drawingml/2006/main">
            <a:off x="8801100" y="3105150"/>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0">
                <a:solidFill>
                  <a:srgbClr val="172027"/>
                </a:solidFill>
                <a:latin typeface="Aptos"/>
                <a:ea typeface="Aptos"/>
                <a:cs typeface="Aptos"/>
              </a:defRPr>
            </a:pPr>
            <a:r>
              <a:rPr sz="1575" b="0">
                <a:solidFill>
                  <a:srgbClr val="172027"/>
                </a:solidFill>
                <a:latin typeface="Aptos"/>
                <a:ea typeface="Aptos"/>
                <a:cs typeface="Aptos"/>
              </a:rPr>
              <a:t>will test the three-primary transfer and operational frontier.</a:t>
            </a:r>
          </a:p>
        </p:txBody>
      </p:sp>
      <p:sp>
        <p:nvSpPr>
          <p:cNvPr id="18" name="next-update">
            <a:extLst xmlns:a="http://schemas.openxmlformats.org/drawingml/2006/main">
              <a:ext uri="{FF2B5EF4-FFF2-40B4-BE49-F238E27FC236}">
                <a16:creationId xmlns:a16="http://schemas.microsoft.com/office/drawing/2014/main" id="{EF55AA98-D9F8-4DA1-AA4F-62B1850EA18C}"/>
              </a:ext>
            </a:extLst>
          </p:cNvPr>
          <p:cNvSpPr>
            <a:spLocks xmlns:a="http://schemas.openxmlformats.org/drawingml/2006/main" noGrp="1"/>
          </p:cNvSpPr>
          <p:nvPr/>
        </p:nvSpPr>
        <p:spPr>
          <a:xfrm xmlns:a="http://schemas.openxmlformats.org/drawingml/2006/main">
            <a:off x="685800" y="495300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72027"/>
                </a:solidFill>
                <a:latin typeface="Cambria"/>
                <a:ea typeface="Cambria"/>
                <a:cs typeface="Cambria"/>
              </a:defRPr>
            </a:pPr>
            <a:r>
              <a:rPr sz="2025" b="1">
                <a:solidFill>
                  <a:srgbClr val="172027"/>
                </a:solidFill>
                <a:latin typeface="Cambria"/>
                <a:ea typeface="Cambria"/>
                <a:cs typeface="Cambria"/>
              </a:rPr>
              <a:t>The next meaningful update is a hash-bound Train-250 package and fresh A3 admission, not reuse of an idle instance.</a:t>
            </a:r>
          </a:p>
        </p:txBody>
      </p:sp>
    </p:spTree>
    <p:extLst>
      <p:ext uri="{BB962C8B-B14F-4D97-AF65-F5344CB8AC3E}">
        <p14:creationId xmlns:p14="http://schemas.microsoft.com/office/powerpoint/2010/main" val="1147274420"/>
      </p:ext>
    </p:extLst>
  </p:cSld>
</p:sld>
</file>

<file path=ppt/slides/slide1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C6CF9080-74B8-4BE0-B2D3-477CFF0F0479}"/>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APPENDIX A | EVIDENCE ROLES</a:t>
            </a:r>
          </a:p>
        </p:txBody>
      </p:sp>
      <p:sp>
        <p:nvSpPr>
          <p:cNvPr id="2" name="rule">
            <a:extLst xmlns:a="http://schemas.openxmlformats.org/drawingml/2006/main">
              <a:ext uri="{FF2B5EF4-FFF2-40B4-BE49-F238E27FC236}">
                <a16:creationId xmlns:a16="http://schemas.microsoft.com/office/drawing/2014/main" id="{5AFFA5CE-1104-49FD-A5B7-6ED6687151D2}"/>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CE4DFBF9-6F51-4370-8DD2-9EB566860046}"/>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16 / 18</a:t>
            </a:r>
          </a:p>
        </p:txBody>
      </p:sp>
      <p:sp>
        <p:nvSpPr>
          <p:cNvPr id="4" name="slide-title">
            <a:extLst xmlns:a="http://schemas.openxmlformats.org/drawingml/2006/main">
              <a:ext uri="{FF2B5EF4-FFF2-40B4-BE49-F238E27FC236}">
                <a16:creationId xmlns:a16="http://schemas.microsoft.com/office/drawing/2014/main" id="{B0C0FC1C-1020-440E-9AFF-843268FBA3BE}"/>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Appendix: the split protects the sequence</a:t>
            </a:r>
          </a:p>
        </p:txBody>
      </p:sp>
      <p:sp>
        <p:nvSpPr>
          <p:cNvPr id="5" name="slide-subtitle">
            <a:extLst xmlns:a="http://schemas.openxmlformats.org/drawingml/2006/main">
              <a:ext uri="{FF2B5EF4-FFF2-40B4-BE49-F238E27FC236}">
                <a16:creationId xmlns:a16="http://schemas.microsoft.com/office/drawing/2014/main" id="{7B2084B1-CAA1-45B5-858B-CCFA5072CAF1}"/>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The allocation is a protocol decision that limits what can adapt at each stage.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6cea85aa94d4698"/>
          <a:stretch xmlns:a="http://schemas.openxmlformats.org/drawingml/2006/main"/>
        </p:blipFill>
        <p:spPr>
          <a:xfrm xmlns:a="http://schemas.openxmlformats.org/drawingml/2006/main">
            <a:off x="1076734" y="2019300"/>
            <a:ext cx="5561783" cy="3295650"/>
          </a:xfrm>
          <a:prstGeom xmlns:a="http://schemas.openxmlformats.org/drawingml/2006/main" prst="rect">
            <a:avLst/>
          </a:prstGeom>
        </p:spPr>
      </p:pic>
      <p:sp>
        <p:nvSpPr>
          <p:cNvPr id="7" name="bullet-dot-0">
            <a:extLst xmlns:a="http://schemas.openxmlformats.org/drawingml/2006/main">
              <a:ext uri="{FF2B5EF4-FFF2-40B4-BE49-F238E27FC236}">
                <a16:creationId xmlns:a16="http://schemas.microsoft.com/office/drawing/2014/main" id="{C5409F26-DE27-493A-BC60-FBD1667BD283}"/>
              </a:ext>
            </a:extLst>
          </p:cNvPr>
          <p:cNvSpPr>
            <a:spLocks xmlns:a="http://schemas.openxmlformats.org/drawingml/2006/main" noGrp="1"/>
          </p:cNvSpPr>
          <p:nvPr/>
        </p:nvSpPr>
        <p:spPr>
          <a:xfrm xmlns:a="http://schemas.openxmlformats.org/drawingml/2006/main">
            <a:off x="7829550" y="2266950"/>
            <a:ext cx="762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bullet-0">
            <a:extLst xmlns:a="http://schemas.openxmlformats.org/drawingml/2006/main">
              <a:ext uri="{FF2B5EF4-FFF2-40B4-BE49-F238E27FC236}">
                <a16:creationId xmlns:a16="http://schemas.microsoft.com/office/drawing/2014/main" id="{75C30E4F-D8E1-4E27-AF6E-6ACA0A2412AB}"/>
              </a:ext>
            </a:extLst>
          </p:cNvPr>
          <p:cNvSpPr>
            <a:spLocks xmlns:a="http://schemas.openxmlformats.org/drawingml/2006/main" noGrp="1"/>
          </p:cNvSpPr>
          <p:nvPr/>
        </p:nvSpPr>
        <p:spPr>
          <a:xfrm xmlns:a="http://schemas.openxmlformats.org/drawingml/2006/main">
            <a:off x="8039100" y="2171700"/>
            <a:ext cx="32004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REP-DEV is used for A1 screening and A2 representation search.</a:t>
            </a:r>
          </a:p>
        </p:txBody>
      </p:sp>
      <p:sp>
        <p:nvSpPr>
          <p:cNvPr id="9" name="bullet-dot-1">
            <a:extLst xmlns:a="http://schemas.openxmlformats.org/drawingml/2006/main">
              <a:ext uri="{FF2B5EF4-FFF2-40B4-BE49-F238E27FC236}">
                <a16:creationId xmlns:a16="http://schemas.microsoft.com/office/drawing/2014/main" id="{D930CF2F-4B31-4F1A-A824-4E6EB798DD3F}"/>
              </a:ext>
            </a:extLst>
          </p:cNvPr>
          <p:cNvSpPr>
            <a:spLocks xmlns:a="http://schemas.openxmlformats.org/drawingml/2006/main" noGrp="1"/>
          </p:cNvSpPr>
          <p:nvPr/>
        </p:nvSpPr>
        <p:spPr>
          <a:xfrm xmlns:a="http://schemas.openxmlformats.org/drawingml/2006/main">
            <a:off x="7829550" y="3171825"/>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0" name="bullet-1">
            <a:extLst xmlns:a="http://schemas.openxmlformats.org/drawingml/2006/main">
              <a:ext uri="{FF2B5EF4-FFF2-40B4-BE49-F238E27FC236}">
                <a16:creationId xmlns:a16="http://schemas.microsoft.com/office/drawing/2014/main" id="{2E363D1A-7921-41D0-B923-2161F9A2662D}"/>
              </a:ext>
            </a:extLst>
          </p:cNvPr>
          <p:cNvSpPr>
            <a:spLocks xmlns:a="http://schemas.openxmlformats.org/drawingml/2006/main" noGrp="1"/>
          </p:cNvSpPr>
          <p:nvPr/>
        </p:nvSpPr>
        <p:spPr>
          <a:xfrm xmlns:a="http://schemas.openxmlformats.org/drawingml/2006/main">
            <a:off x="8039100" y="3076575"/>
            <a:ext cx="32004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HARNESS-DEV supports A3 transfer, complementarity, and bounded harness optimization after representation freeze.</a:t>
            </a:r>
          </a:p>
        </p:txBody>
      </p:sp>
      <p:sp>
        <p:nvSpPr>
          <p:cNvPr id="11" name="bullet-dot-2">
            <a:extLst xmlns:a="http://schemas.openxmlformats.org/drawingml/2006/main">
              <a:ext uri="{FF2B5EF4-FFF2-40B4-BE49-F238E27FC236}">
                <a16:creationId xmlns:a16="http://schemas.microsoft.com/office/drawing/2014/main" id="{7DAD5C00-0ADE-496A-A380-EC88E7E12B2A}"/>
              </a:ext>
            </a:extLst>
          </p:cNvPr>
          <p:cNvSpPr>
            <a:spLocks xmlns:a="http://schemas.openxmlformats.org/drawingml/2006/main" noGrp="1"/>
          </p:cNvSpPr>
          <p:nvPr/>
        </p:nvSpPr>
        <p:spPr>
          <a:xfrm xmlns:a="http://schemas.openxmlformats.org/drawingml/2006/main">
            <a:off x="7829550" y="40767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2" name="bullet-2">
            <a:extLst xmlns:a="http://schemas.openxmlformats.org/drawingml/2006/main">
              <a:ext uri="{FF2B5EF4-FFF2-40B4-BE49-F238E27FC236}">
                <a16:creationId xmlns:a16="http://schemas.microsoft.com/office/drawing/2014/main" id="{2F8D014B-51EC-4625-8EFC-C6B28FFF8E83}"/>
              </a:ext>
            </a:extLst>
          </p:cNvPr>
          <p:cNvSpPr>
            <a:spLocks xmlns:a="http://schemas.openxmlformats.org/drawingml/2006/main" noGrp="1"/>
          </p:cNvSpPr>
          <p:nvPr/>
        </p:nvSpPr>
        <p:spPr>
          <a:xfrm xmlns:a="http://schemas.openxmlformats.org/drawingml/2006/main">
            <a:off x="8039100" y="3981450"/>
            <a:ext cx="32004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172027"/>
                </a:solidFill>
                <a:latin typeface="Aptos"/>
                <a:ea typeface="Aptos"/>
                <a:cs typeface="Aptos"/>
              </a:defRPr>
            </a:pPr>
            <a:r>
              <a:rPr sz="1575" b="0">
                <a:solidFill>
                  <a:srgbClr val="172027"/>
                </a:solidFill>
                <a:latin typeface="Aptos"/>
                <a:ea typeface="Aptos"/>
                <a:cs typeface="Aptos"/>
              </a:rPr>
              <a:t>Selection and Final remain protected from adaptive development use.</a:t>
            </a:r>
          </a:p>
        </p:txBody>
      </p:sp>
    </p:spTree>
    <p:extLst>
      <p:ext uri="{BB962C8B-B14F-4D97-AF65-F5344CB8AC3E}">
        <p14:creationId xmlns:p14="http://schemas.microsoft.com/office/powerpoint/2010/main" val="436276149"/>
      </p:ext>
    </p:extLst>
  </p:cSld>
</p:sld>
</file>

<file path=ppt/slides/slide1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4D0B123D-F0FF-411B-A2DC-08180E504E66}"/>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APPENDIX B | MODEL CONTRACTS</a:t>
            </a:r>
          </a:p>
        </p:txBody>
      </p:sp>
      <p:sp>
        <p:nvSpPr>
          <p:cNvPr id="2" name="rule">
            <a:extLst xmlns:a="http://schemas.openxmlformats.org/drawingml/2006/main">
              <a:ext uri="{FF2B5EF4-FFF2-40B4-BE49-F238E27FC236}">
                <a16:creationId xmlns:a16="http://schemas.microsoft.com/office/drawing/2014/main" id="{D2ACFFA8-7857-4E65-B78B-2C774FD697D0}"/>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8ED01BB6-60A9-42D1-B152-C2FD7558C9E3}"/>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17 / 18</a:t>
            </a:r>
          </a:p>
        </p:txBody>
      </p:sp>
      <p:sp>
        <p:nvSpPr>
          <p:cNvPr id="4" name="slide-title">
            <a:extLst xmlns:a="http://schemas.openxmlformats.org/drawingml/2006/main">
              <a:ext uri="{FF2B5EF4-FFF2-40B4-BE49-F238E27FC236}">
                <a16:creationId xmlns:a16="http://schemas.microsoft.com/office/drawing/2014/main" id="{30F07593-DB43-44E8-ACC0-6EDE420A7F00}"/>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Appendix: frozen model contracts</a:t>
            </a:r>
          </a:p>
        </p:txBody>
      </p:sp>
      <p:sp>
        <p:nvSpPr>
          <p:cNvPr id="5" name="slide-subtitle">
            <a:extLst xmlns:a="http://schemas.openxmlformats.org/drawingml/2006/main">
              <a:ext uri="{FF2B5EF4-FFF2-40B4-BE49-F238E27FC236}">
                <a16:creationId xmlns:a16="http://schemas.microsoft.com/office/drawing/2014/main" id="{B1A13E9D-7BB0-450B-BD6B-6F8F28419FC4}"/>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Templates, pooling, and revisions are part of each measured retrieval identity.</a:t>
            </a:r>
          </a:p>
        </p:txBody>
      </p:sp>
      <p:sp>
        <p:nvSpPr>
          <p:cNvPr id="6" name="table-cell-206-0">
            <a:extLst xmlns:a="http://schemas.openxmlformats.org/drawingml/2006/main">
              <a:ext uri="{FF2B5EF4-FFF2-40B4-BE49-F238E27FC236}">
                <a16:creationId xmlns:a16="http://schemas.microsoft.com/office/drawing/2014/main" id="{2124625D-70C4-45D6-91FD-B351408D414A}"/>
              </a:ext>
            </a:extLst>
          </p:cNvPr>
          <p:cNvSpPr>
            <a:spLocks xmlns:a="http://schemas.openxmlformats.org/drawingml/2006/main" noGrp="1"/>
          </p:cNvSpPr>
          <p:nvPr/>
        </p:nvSpPr>
        <p:spPr>
          <a:xfrm xmlns:a="http://schemas.openxmlformats.org/drawingml/2006/main">
            <a:off x="685800" y="1962150"/>
            <a:ext cx="135255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7" name="table-text-206-0">
            <a:extLst xmlns:a="http://schemas.openxmlformats.org/drawingml/2006/main">
              <a:ext uri="{FF2B5EF4-FFF2-40B4-BE49-F238E27FC236}">
                <a16:creationId xmlns:a16="http://schemas.microsoft.com/office/drawing/2014/main" id="{161401DF-BCDB-4C9A-99E7-B1C9DA68AB4F}"/>
              </a:ext>
            </a:extLst>
          </p:cNvPr>
          <p:cNvSpPr>
            <a:spLocks xmlns:a="http://schemas.openxmlformats.org/drawingml/2006/main" noGrp="1"/>
          </p:cNvSpPr>
          <p:nvPr/>
        </p:nvSpPr>
        <p:spPr>
          <a:xfrm xmlns:a="http://schemas.openxmlformats.org/drawingml/2006/main">
            <a:off x="800100" y="205740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Arm</a:t>
            </a:r>
          </a:p>
        </p:txBody>
      </p:sp>
      <p:sp>
        <p:nvSpPr>
          <p:cNvPr id="8" name="table-cell-206-1">
            <a:extLst xmlns:a="http://schemas.openxmlformats.org/drawingml/2006/main">
              <a:ext uri="{FF2B5EF4-FFF2-40B4-BE49-F238E27FC236}">
                <a16:creationId xmlns:a16="http://schemas.microsoft.com/office/drawing/2014/main" id="{8D33BBBE-0B64-408A-97AE-4B0CD962B89E}"/>
              </a:ext>
            </a:extLst>
          </p:cNvPr>
          <p:cNvSpPr>
            <a:spLocks xmlns:a="http://schemas.openxmlformats.org/drawingml/2006/main" noGrp="1"/>
          </p:cNvSpPr>
          <p:nvPr/>
        </p:nvSpPr>
        <p:spPr>
          <a:xfrm xmlns:a="http://schemas.openxmlformats.org/drawingml/2006/main">
            <a:off x="2038350" y="1962150"/>
            <a:ext cx="327660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9" name="table-text-206-1">
            <a:extLst xmlns:a="http://schemas.openxmlformats.org/drawingml/2006/main">
              <a:ext uri="{FF2B5EF4-FFF2-40B4-BE49-F238E27FC236}">
                <a16:creationId xmlns:a16="http://schemas.microsoft.com/office/drawing/2014/main" id="{31F0509B-8992-4904-95CF-FF6182754234}"/>
              </a:ext>
            </a:extLst>
          </p:cNvPr>
          <p:cNvSpPr>
            <a:spLocks xmlns:a="http://schemas.openxmlformats.org/drawingml/2006/main" noGrp="1"/>
          </p:cNvSpPr>
          <p:nvPr/>
        </p:nvSpPr>
        <p:spPr>
          <a:xfrm xmlns:a="http://schemas.openxmlformats.org/drawingml/2006/main">
            <a:off x="2152650" y="20574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Query template</a:t>
            </a:r>
          </a:p>
        </p:txBody>
      </p:sp>
      <p:sp>
        <p:nvSpPr>
          <p:cNvPr id="10" name="table-cell-206-2">
            <a:extLst xmlns:a="http://schemas.openxmlformats.org/drawingml/2006/main">
              <a:ext uri="{FF2B5EF4-FFF2-40B4-BE49-F238E27FC236}">
                <a16:creationId xmlns:a16="http://schemas.microsoft.com/office/drawing/2014/main" id="{9E19F0AA-89CD-413B-AB80-5219BF02C9CA}"/>
              </a:ext>
            </a:extLst>
          </p:cNvPr>
          <p:cNvSpPr>
            <a:spLocks xmlns:a="http://schemas.openxmlformats.org/drawingml/2006/main" noGrp="1"/>
          </p:cNvSpPr>
          <p:nvPr/>
        </p:nvSpPr>
        <p:spPr>
          <a:xfrm xmlns:a="http://schemas.openxmlformats.org/drawingml/2006/main">
            <a:off x="5314950" y="1962150"/>
            <a:ext cx="325755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11" name="table-text-206-2">
            <a:extLst xmlns:a="http://schemas.openxmlformats.org/drawingml/2006/main">
              <a:ext uri="{FF2B5EF4-FFF2-40B4-BE49-F238E27FC236}">
                <a16:creationId xmlns:a16="http://schemas.microsoft.com/office/drawing/2014/main" id="{FA59C7A0-97C6-46E2-9715-DE4DBDDFCF1E}"/>
              </a:ext>
            </a:extLst>
          </p:cNvPr>
          <p:cNvSpPr>
            <a:spLocks xmlns:a="http://schemas.openxmlformats.org/drawingml/2006/main" noGrp="1"/>
          </p:cNvSpPr>
          <p:nvPr/>
        </p:nvSpPr>
        <p:spPr>
          <a:xfrm xmlns:a="http://schemas.openxmlformats.org/drawingml/2006/main">
            <a:off x="5429250" y="20574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Document / pooling</a:t>
            </a:r>
          </a:p>
        </p:txBody>
      </p:sp>
      <p:sp>
        <p:nvSpPr>
          <p:cNvPr id="12" name="table-cell-206-3">
            <a:extLst xmlns:a="http://schemas.openxmlformats.org/drawingml/2006/main">
              <a:ext uri="{FF2B5EF4-FFF2-40B4-BE49-F238E27FC236}">
                <a16:creationId xmlns:a16="http://schemas.microsoft.com/office/drawing/2014/main" id="{751A1F8D-A2FC-4A4A-A31A-E505FCA17F23}"/>
              </a:ext>
            </a:extLst>
          </p:cNvPr>
          <p:cNvSpPr>
            <a:spLocks xmlns:a="http://schemas.openxmlformats.org/drawingml/2006/main" noGrp="1"/>
          </p:cNvSpPr>
          <p:nvPr/>
        </p:nvSpPr>
        <p:spPr>
          <a:xfrm xmlns:a="http://schemas.openxmlformats.org/drawingml/2006/main">
            <a:off x="8572500" y="1962150"/>
            <a:ext cx="2933700" cy="438150"/>
          </a:xfrm>
          <a:prstGeom xmlns:a="http://schemas.openxmlformats.org/drawingml/2006/main" prst="rect">
            <a:avLst/>
          </a:prstGeom>
          <a:solidFill xmlns:a="http://schemas.openxmlformats.org/drawingml/2006/main">
            <a:srgbClr val="0F766E"/>
          </a:solidFill>
          <a:ln xmlns:a="http://schemas.openxmlformats.org/drawingml/2006/main" w="9525">
            <a:solidFill>
              <a:srgbClr val="DCE5E2"/>
            </a:solidFill>
            <a:prstDash val="solid"/>
          </a:ln>
        </p:spPr>
      </p:sp>
      <p:sp>
        <p:nvSpPr>
          <p:cNvPr id="13" name="table-text-206-3">
            <a:extLst xmlns:a="http://schemas.openxmlformats.org/drawingml/2006/main">
              <a:ext uri="{FF2B5EF4-FFF2-40B4-BE49-F238E27FC236}">
                <a16:creationId xmlns:a16="http://schemas.microsoft.com/office/drawing/2014/main" id="{F3B6B5E2-54A4-493C-A6BD-90755500FBFF}"/>
              </a:ext>
            </a:extLst>
          </p:cNvPr>
          <p:cNvSpPr>
            <a:spLocks xmlns:a="http://schemas.openxmlformats.org/drawingml/2006/main" noGrp="1"/>
          </p:cNvSpPr>
          <p:nvPr/>
        </p:nvSpPr>
        <p:spPr>
          <a:xfrm xmlns:a="http://schemas.openxmlformats.org/drawingml/2006/main">
            <a:off x="8686800" y="2057400"/>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Revision</a:t>
            </a:r>
          </a:p>
        </p:txBody>
      </p:sp>
      <p:sp>
        <p:nvSpPr>
          <p:cNvPr id="14" name="table-cell-252-0">
            <a:extLst xmlns:a="http://schemas.openxmlformats.org/drawingml/2006/main">
              <a:ext uri="{FF2B5EF4-FFF2-40B4-BE49-F238E27FC236}">
                <a16:creationId xmlns:a16="http://schemas.microsoft.com/office/drawing/2014/main" id="{7F2404F0-2313-4C0B-B156-9BCEA0EAF539}"/>
              </a:ext>
            </a:extLst>
          </p:cNvPr>
          <p:cNvSpPr>
            <a:spLocks xmlns:a="http://schemas.openxmlformats.org/drawingml/2006/main" noGrp="1"/>
          </p:cNvSpPr>
          <p:nvPr/>
        </p:nvSpPr>
        <p:spPr>
          <a:xfrm xmlns:a="http://schemas.openxmlformats.org/drawingml/2006/main">
            <a:off x="685800" y="2400300"/>
            <a:ext cx="1352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15" name="table-text-252-0">
            <a:extLst xmlns:a="http://schemas.openxmlformats.org/drawingml/2006/main">
              <a:ext uri="{FF2B5EF4-FFF2-40B4-BE49-F238E27FC236}">
                <a16:creationId xmlns:a16="http://schemas.microsoft.com/office/drawing/2014/main" id="{DA72ED03-CBB2-4BF2-93C6-D93816E68721}"/>
              </a:ext>
            </a:extLst>
          </p:cNvPr>
          <p:cNvSpPr>
            <a:spLocks xmlns:a="http://schemas.openxmlformats.org/drawingml/2006/main" noGrp="1"/>
          </p:cNvSpPr>
          <p:nvPr/>
        </p:nvSpPr>
        <p:spPr>
          <a:xfrm xmlns:a="http://schemas.openxmlformats.org/drawingml/2006/main">
            <a:off x="800100" y="24955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ARM-01</a:t>
            </a:r>
          </a:p>
        </p:txBody>
      </p:sp>
      <p:sp>
        <p:nvSpPr>
          <p:cNvPr id="16" name="table-cell-252-1">
            <a:extLst xmlns:a="http://schemas.openxmlformats.org/drawingml/2006/main">
              <a:ext uri="{FF2B5EF4-FFF2-40B4-BE49-F238E27FC236}">
                <a16:creationId xmlns:a16="http://schemas.microsoft.com/office/drawing/2014/main" id="{E8CCD0E5-D98E-47CE-A5AA-61EF67C5071B}"/>
              </a:ext>
            </a:extLst>
          </p:cNvPr>
          <p:cNvSpPr>
            <a:spLocks xmlns:a="http://schemas.openxmlformats.org/drawingml/2006/main" noGrp="1"/>
          </p:cNvSpPr>
          <p:nvPr/>
        </p:nvSpPr>
        <p:spPr>
          <a:xfrm xmlns:a="http://schemas.openxmlformats.org/drawingml/2006/main">
            <a:off x="2038350" y="2400300"/>
            <a:ext cx="32766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17" name="table-text-252-1">
            <a:extLst xmlns:a="http://schemas.openxmlformats.org/drawingml/2006/main">
              <a:ext uri="{FF2B5EF4-FFF2-40B4-BE49-F238E27FC236}">
                <a16:creationId xmlns:a16="http://schemas.microsoft.com/office/drawing/2014/main" id="{079EF954-C1EA-414D-AAEE-43371FE47AB3}"/>
              </a:ext>
            </a:extLst>
          </p:cNvPr>
          <p:cNvSpPr>
            <a:spLocks xmlns:a="http://schemas.openxmlformats.org/drawingml/2006/main" noGrp="1"/>
          </p:cNvSpPr>
          <p:nvPr/>
        </p:nvSpPr>
        <p:spPr>
          <a:xfrm xmlns:a="http://schemas.openxmlformats.org/drawingml/2006/main">
            <a:off x="2152650" y="24955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No embedding prompt</a:t>
            </a:r>
          </a:p>
        </p:txBody>
      </p:sp>
      <p:sp>
        <p:nvSpPr>
          <p:cNvPr id="18" name="table-cell-252-2">
            <a:extLst xmlns:a="http://schemas.openxmlformats.org/drawingml/2006/main">
              <a:ext uri="{FF2B5EF4-FFF2-40B4-BE49-F238E27FC236}">
                <a16:creationId xmlns:a16="http://schemas.microsoft.com/office/drawing/2014/main" id="{DE47B31E-6996-4679-9D54-88FA348E2317}"/>
              </a:ext>
            </a:extLst>
          </p:cNvPr>
          <p:cNvSpPr>
            <a:spLocks xmlns:a="http://schemas.openxmlformats.org/drawingml/2006/main" noGrp="1"/>
          </p:cNvSpPr>
          <p:nvPr/>
        </p:nvSpPr>
        <p:spPr>
          <a:xfrm xmlns:a="http://schemas.openxmlformats.org/drawingml/2006/main">
            <a:off x="5314950" y="2400300"/>
            <a:ext cx="3257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19" name="table-text-252-2">
            <a:extLst xmlns:a="http://schemas.openxmlformats.org/drawingml/2006/main">
              <a:ext uri="{FF2B5EF4-FFF2-40B4-BE49-F238E27FC236}">
                <a16:creationId xmlns:a16="http://schemas.microsoft.com/office/drawing/2014/main" id="{FEDBA98A-00F1-4084-BC75-BB09D9F8B33E}"/>
              </a:ext>
            </a:extLst>
          </p:cNvPr>
          <p:cNvSpPr>
            <a:spLocks xmlns:a="http://schemas.openxmlformats.org/drawingml/2006/main" noGrp="1"/>
          </p:cNvSpPr>
          <p:nvPr/>
        </p:nvSpPr>
        <p:spPr>
          <a:xfrm xmlns:a="http://schemas.openxmlformats.org/drawingml/2006/main">
            <a:off x="5429250" y="2495550"/>
            <a:ext cx="302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BM25 lexical scoring</a:t>
            </a:r>
          </a:p>
        </p:txBody>
      </p:sp>
      <p:sp>
        <p:nvSpPr>
          <p:cNvPr id="20" name="table-cell-252-3">
            <a:extLst xmlns:a="http://schemas.openxmlformats.org/drawingml/2006/main">
              <a:ext uri="{FF2B5EF4-FFF2-40B4-BE49-F238E27FC236}">
                <a16:creationId xmlns:a16="http://schemas.microsoft.com/office/drawing/2014/main" id="{187B7B29-F26D-4589-AEEC-3FE8859B1E43}"/>
              </a:ext>
            </a:extLst>
          </p:cNvPr>
          <p:cNvSpPr>
            <a:spLocks xmlns:a="http://schemas.openxmlformats.org/drawingml/2006/main" noGrp="1"/>
          </p:cNvSpPr>
          <p:nvPr/>
        </p:nvSpPr>
        <p:spPr>
          <a:xfrm xmlns:a="http://schemas.openxmlformats.org/drawingml/2006/main">
            <a:off x="8572500" y="2400300"/>
            <a:ext cx="29337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21" name="table-text-252-3">
            <a:extLst xmlns:a="http://schemas.openxmlformats.org/drawingml/2006/main">
              <a:ext uri="{FF2B5EF4-FFF2-40B4-BE49-F238E27FC236}">
                <a16:creationId xmlns:a16="http://schemas.microsoft.com/office/drawing/2014/main" id="{A2C9F290-B7A5-4E65-8A40-766A08936A4A}"/>
              </a:ext>
            </a:extLst>
          </p:cNvPr>
          <p:cNvSpPr>
            <a:spLocks xmlns:a="http://schemas.openxmlformats.org/drawingml/2006/main" noGrp="1"/>
          </p:cNvSpPr>
          <p:nvPr/>
        </p:nvSpPr>
        <p:spPr>
          <a:xfrm xmlns:a="http://schemas.openxmlformats.org/drawingml/2006/main">
            <a:off x="8686800" y="2495550"/>
            <a:ext cx="270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bm25s==0.3.10</a:t>
            </a:r>
          </a:p>
        </p:txBody>
      </p:sp>
      <p:sp>
        <p:nvSpPr>
          <p:cNvPr id="22" name="table-cell-314-0">
            <a:extLst xmlns:a="http://schemas.openxmlformats.org/drawingml/2006/main">
              <a:ext uri="{FF2B5EF4-FFF2-40B4-BE49-F238E27FC236}">
                <a16:creationId xmlns:a16="http://schemas.microsoft.com/office/drawing/2014/main" id="{41DFCF9B-A65E-4BC3-A4B2-F3A3FE98FB67}"/>
              </a:ext>
            </a:extLst>
          </p:cNvPr>
          <p:cNvSpPr>
            <a:spLocks xmlns:a="http://schemas.openxmlformats.org/drawingml/2006/main" noGrp="1"/>
          </p:cNvSpPr>
          <p:nvPr/>
        </p:nvSpPr>
        <p:spPr>
          <a:xfrm xmlns:a="http://schemas.openxmlformats.org/drawingml/2006/main">
            <a:off x="685800" y="2990850"/>
            <a:ext cx="135255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23" name="table-text-314-0">
            <a:extLst xmlns:a="http://schemas.openxmlformats.org/drawingml/2006/main">
              <a:ext uri="{FF2B5EF4-FFF2-40B4-BE49-F238E27FC236}">
                <a16:creationId xmlns:a16="http://schemas.microsoft.com/office/drawing/2014/main" id="{CF6B9B08-39F3-4B35-B0CE-043AEF0A4F51}"/>
              </a:ext>
            </a:extLst>
          </p:cNvPr>
          <p:cNvSpPr>
            <a:spLocks xmlns:a="http://schemas.openxmlformats.org/drawingml/2006/main" noGrp="1"/>
          </p:cNvSpPr>
          <p:nvPr/>
        </p:nvSpPr>
        <p:spPr>
          <a:xfrm xmlns:a="http://schemas.openxmlformats.org/drawingml/2006/main">
            <a:off x="800100" y="308610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ARM-02</a:t>
            </a:r>
          </a:p>
        </p:txBody>
      </p:sp>
      <p:sp>
        <p:nvSpPr>
          <p:cNvPr id="24" name="table-cell-314-1">
            <a:extLst xmlns:a="http://schemas.openxmlformats.org/drawingml/2006/main">
              <a:ext uri="{FF2B5EF4-FFF2-40B4-BE49-F238E27FC236}">
                <a16:creationId xmlns:a16="http://schemas.microsoft.com/office/drawing/2014/main" id="{B82601F3-EE33-4249-BE32-AE62527CAB12}"/>
              </a:ext>
            </a:extLst>
          </p:cNvPr>
          <p:cNvSpPr>
            <a:spLocks xmlns:a="http://schemas.openxmlformats.org/drawingml/2006/main" noGrp="1"/>
          </p:cNvSpPr>
          <p:nvPr/>
        </p:nvSpPr>
        <p:spPr>
          <a:xfrm xmlns:a="http://schemas.openxmlformats.org/drawingml/2006/main">
            <a:off x="2038350" y="2990850"/>
            <a:ext cx="327660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25" name="table-text-314-1">
            <a:extLst xmlns:a="http://schemas.openxmlformats.org/drawingml/2006/main">
              <a:ext uri="{FF2B5EF4-FFF2-40B4-BE49-F238E27FC236}">
                <a16:creationId xmlns:a16="http://schemas.microsoft.com/office/drawing/2014/main" id="{0715C77E-1544-4DC1-8BF7-5AF02280E2D6}"/>
              </a:ext>
            </a:extLst>
          </p:cNvPr>
          <p:cNvSpPr>
            <a:spLocks xmlns:a="http://schemas.openxmlformats.org/drawingml/2006/main" noGrp="1"/>
          </p:cNvSpPr>
          <p:nvPr/>
        </p:nvSpPr>
        <p:spPr>
          <a:xfrm xmlns:a="http://schemas.openxmlformats.org/drawingml/2006/main">
            <a:off x="2152650" y="308610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{query}</a:t>
            </a:r>
          </a:p>
        </p:txBody>
      </p:sp>
      <p:sp>
        <p:nvSpPr>
          <p:cNvPr id="26" name="table-cell-314-2">
            <a:extLst xmlns:a="http://schemas.openxmlformats.org/drawingml/2006/main">
              <a:ext uri="{FF2B5EF4-FFF2-40B4-BE49-F238E27FC236}">
                <a16:creationId xmlns:a16="http://schemas.microsoft.com/office/drawing/2014/main" id="{D5B640EA-3BCB-42B0-9229-0D48B279B4A4}"/>
              </a:ext>
            </a:extLst>
          </p:cNvPr>
          <p:cNvSpPr>
            <a:spLocks xmlns:a="http://schemas.openxmlformats.org/drawingml/2006/main" noGrp="1"/>
          </p:cNvSpPr>
          <p:nvPr/>
        </p:nvSpPr>
        <p:spPr>
          <a:xfrm xmlns:a="http://schemas.openxmlformats.org/drawingml/2006/main">
            <a:off x="5314950" y="2990850"/>
            <a:ext cx="325755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27" name="table-text-314-2">
            <a:extLst xmlns:a="http://schemas.openxmlformats.org/drawingml/2006/main">
              <a:ext uri="{FF2B5EF4-FFF2-40B4-BE49-F238E27FC236}">
                <a16:creationId xmlns:a16="http://schemas.microsoft.com/office/drawing/2014/main" id="{BEFDDD89-13B9-4496-959B-0F47065AECB9}"/>
              </a:ext>
            </a:extLst>
          </p:cNvPr>
          <p:cNvSpPr>
            <a:spLocks xmlns:a="http://schemas.openxmlformats.org/drawingml/2006/main" noGrp="1"/>
          </p:cNvSpPr>
          <p:nvPr/>
        </p:nvSpPr>
        <p:spPr>
          <a:xfrm xmlns:a="http://schemas.openxmlformats.org/drawingml/2006/main">
            <a:off x="5429250" y="3086100"/>
            <a:ext cx="302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{document}; official dense parity</a:t>
            </a:r>
          </a:p>
        </p:txBody>
      </p:sp>
      <p:sp>
        <p:nvSpPr>
          <p:cNvPr id="28" name="table-cell-314-3">
            <a:extLst xmlns:a="http://schemas.openxmlformats.org/drawingml/2006/main">
              <a:ext uri="{FF2B5EF4-FFF2-40B4-BE49-F238E27FC236}">
                <a16:creationId xmlns:a16="http://schemas.microsoft.com/office/drawing/2014/main" id="{DB77405F-BDF8-4B9B-B29D-8AF4C226BC09}"/>
              </a:ext>
            </a:extLst>
          </p:cNvPr>
          <p:cNvSpPr>
            <a:spLocks xmlns:a="http://schemas.openxmlformats.org/drawingml/2006/main" noGrp="1"/>
          </p:cNvSpPr>
          <p:nvPr/>
        </p:nvSpPr>
        <p:spPr>
          <a:xfrm xmlns:a="http://schemas.openxmlformats.org/drawingml/2006/main">
            <a:off x="8572500" y="2990850"/>
            <a:ext cx="293370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29" name="table-text-314-3">
            <a:extLst xmlns:a="http://schemas.openxmlformats.org/drawingml/2006/main">
              <a:ext uri="{FF2B5EF4-FFF2-40B4-BE49-F238E27FC236}">
                <a16:creationId xmlns:a16="http://schemas.microsoft.com/office/drawing/2014/main" id="{AB4B5798-9AB2-4FFC-A908-406CBD34C996}"/>
              </a:ext>
            </a:extLst>
          </p:cNvPr>
          <p:cNvSpPr>
            <a:spLocks xmlns:a="http://schemas.openxmlformats.org/drawingml/2006/main" noGrp="1"/>
          </p:cNvSpPr>
          <p:nvPr/>
        </p:nvSpPr>
        <p:spPr>
          <a:xfrm xmlns:a="http://schemas.openxmlformats.org/drawingml/2006/main">
            <a:off x="8686800" y="3086100"/>
            <a:ext cx="270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5617a9f...</a:t>
            </a:r>
          </a:p>
        </p:txBody>
      </p:sp>
      <p:sp>
        <p:nvSpPr>
          <p:cNvPr id="30" name="table-cell-376-0">
            <a:extLst xmlns:a="http://schemas.openxmlformats.org/drawingml/2006/main">
              <a:ext uri="{FF2B5EF4-FFF2-40B4-BE49-F238E27FC236}">
                <a16:creationId xmlns:a16="http://schemas.microsoft.com/office/drawing/2014/main" id="{D3F00101-7900-4C05-8E98-1AE692582CC0}"/>
              </a:ext>
            </a:extLst>
          </p:cNvPr>
          <p:cNvSpPr>
            <a:spLocks xmlns:a="http://schemas.openxmlformats.org/drawingml/2006/main" noGrp="1"/>
          </p:cNvSpPr>
          <p:nvPr/>
        </p:nvSpPr>
        <p:spPr>
          <a:xfrm xmlns:a="http://schemas.openxmlformats.org/drawingml/2006/main">
            <a:off x="685800" y="3581400"/>
            <a:ext cx="1352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31" name="table-text-376-0">
            <a:extLst xmlns:a="http://schemas.openxmlformats.org/drawingml/2006/main">
              <a:ext uri="{FF2B5EF4-FFF2-40B4-BE49-F238E27FC236}">
                <a16:creationId xmlns:a16="http://schemas.microsoft.com/office/drawing/2014/main" id="{B22AA4AB-9F7C-4C32-8D9E-299D02408EBE}"/>
              </a:ext>
            </a:extLst>
          </p:cNvPr>
          <p:cNvSpPr>
            <a:spLocks xmlns:a="http://schemas.openxmlformats.org/drawingml/2006/main" noGrp="1"/>
          </p:cNvSpPr>
          <p:nvPr/>
        </p:nvSpPr>
        <p:spPr>
          <a:xfrm xmlns:a="http://schemas.openxmlformats.org/drawingml/2006/main">
            <a:off x="800100" y="36766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ARM-03</a:t>
            </a:r>
          </a:p>
        </p:txBody>
      </p:sp>
      <p:sp>
        <p:nvSpPr>
          <p:cNvPr id="32" name="table-cell-376-1">
            <a:extLst xmlns:a="http://schemas.openxmlformats.org/drawingml/2006/main">
              <a:ext uri="{FF2B5EF4-FFF2-40B4-BE49-F238E27FC236}">
                <a16:creationId xmlns:a16="http://schemas.microsoft.com/office/drawing/2014/main" id="{4A20438D-F110-48EF-91FF-9D80F216DA18}"/>
              </a:ext>
            </a:extLst>
          </p:cNvPr>
          <p:cNvSpPr>
            <a:spLocks xmlns:a="http://schemas.openxmlformats.org/drawingml/2006/main" noGrp="1"/>
          </p:cNvSpPr>
          <p:nvPr/>
        </p:nvSpPr>
        <p:spPr>
          <a:xfrm xmlns:a="http://schemas.openxmlformats.org/drawingml/2006/main">
            <a:off x="2038350" y="3581400"/>
            <a:ext cx="32766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33" name="table-text-376-1">
            <a:extLst xmlns:a="http://schemas.openxmlformats.org/drawingml/2006/main">
              <a:ext uri="{FF2B5EF4-FFF2-40B4-BE49-F238E27FC236}">
                <a16:creationId xmlns:a16="http://schemas.microsoft.com/office/drawing/2014/main" id="{A2D8A913-911C-4E0D-A201-58074DBCBB2C}"/>
              </a:ext>
            </a:extLst>
          </p:cNvPr>
          <p:cNvSpPr>
            <a:spLocks xmlns:a="http://schemas.openxmlformats.org/drawingml/2006/main" noGrp="1"/>
          </p:cNvSpPr>
          <p:nvPr/>
        </p:nvSpPr>
        <p:spPr>
          <a:xfrm xmlns:a="http://schemas.openxmlformats.org/drawingml/2006/main">
            <a:off x="2152650" y="36766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encode query for different document retrieval: {query}</a:t>
            </a:r>
          </a:p>
        </p:txBody>
      </p:sp>
      <p:sp>
        <p:nvSpPr>
          <p:cNvPr id="34" name="table-cell-376-2">
            <a:extLst xmlns:a="http://schemas.openxmlformats.org/drawingml/2006/main">
              <a:ext uri="{FF2B5EF4-FFF2-40B4-BE49-F238E27FC236}">
                <a16:creationId xmlns:a16="http://schemas.microsoft.com/office/drawing/2014/main" id="{64257991-33A6-4EC7-BBAA-CD11CCC0C52E}"/>
              </a:ext>
            </a:extLst>
          </p:cNvPr>
          <p:cNvSpPr>
            <a:spLocks xmlns:a="http://schemas.openxmlformats.org/drawingml/2006/main" noGrp="1"/>
          </p:cNvSpPr>
          <p:nvPr/>
        </p:nvSpPr>
        <p:spPr>
          <a:xfrm xmlns:a="http://schemas.openxmlformats.org/drawingml/2006/main">
            <a:off x="5314950" y="3581400"/>
            <a:ext cx="3257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35" name="table-text-376-2">
            <a:extLst xmlns:a="http://schemas.openxmlformats.org/drawingml/2006/main">
              <a:ext uri="{FF2B5EF4-FFF2-40B4-BE49-F238E27FC236}">
                <a16:creationId xmlns:a16="http://schemas.microsoft.com/office/drawing/2014/main" id="{7807DF20-B4CD-4332-B319-211B9DE36C8E}"/>
              </a:ext>
            </a:extLst>
          </p:cNvPr>
          <p:cNvSpPr>
            <a:spLocks xmlns:a="http://schemas.openxmlformats.org/drawingml/2006/main" noGrp="1"/>
          </p:cNvSpPr>
          <p:nvPr/>
        </p:nvSpPr>
        <p:spPr>
          <a:xfrm xmlns:a="http://schemas.openxmlformats.org/drawingml/2006/main">
            <a:off x="5429250" y="3676650"/>
            <a:ext cx="302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document prefix; mean non-padding</a:t>
            </a:r>
          </a:p>
        </p:txBody>
      </p:sp>
      <p:sp>
        <p:nvSpPr>
          <p:cNvPr id="36" name="table-cell-376-3">
            <a:extLst xmlns:a="http://schemas.openxmlformats.org/drawingml/2006/main">
              <a:ext uri="{FF2B5EF4-FFF2-40B4-BE49-F238E27FC236}">
                <a16:creationId xmlns:a16="http://schemas.microsoft.com/office/drawing/2014/main" id="{2328917D-E7FF-4AFA-8D7A-89AF308391AF}"/>
              </a:ext>
            </a:extLst>
          </p:cNvPr>
          <p:cNvSpPr>
            <a:spLocks xmlns:a="http://schemas.openxmlformats.org/drawingml/2006/main" noGrp="1"/>
          </p:cNvSpPr>
          <p:nvPr/>
        </p:nvSpPr>
        <p:spPr>
          <a:xfrm xmlns:a="http://schemas.openxmlformats.org/drawingml/2006/main">
            <a:off x="8572500" y="3581400"/>
            <a:ext cx="29337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37" name="table-text-376-3">
            <a:extLst xmlns:a="http://schemas.openxmlformats.org/drawingml/2006/main">
              <a:ext uri="{FF2B5EF4-FFF2-40B4-BE49-F238E27FC236}">
                <a16:creationId xmlns:a16="http://schemas.microsoft.com/office/drawing/2014/main" id="{AC959F10-B505-4A42-83C9-8F5FDA46D924}"/>
              </a:ext>
            </a:extLst>
          </p:cNvPr>
          <p:cNvSpPr>
            <a:spLocks xmlns:a="http://schemas.openxmlformats.org/drawingml/2006/main" noGrp="1"/>
          </p:cNvSpPr>
          <p:nvPr/>
        </p:nvSpPr>
        <p:spPr>
          <a:xfrm xmlns:a="http://schemas.openxmlformats.org/drawingml/2006/main">
            <a:off x="8686800" y="3676650"/>
            <a:ext cx="270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2d5c0f9...</a:t>
            </a:r>
          </a:p>
        </p:txBody>
      </p:sp>
      <p:sp>
        <p:nvSpPr>
          <p:cNvPr id="38" name="table-cell-438-0">
            <a:extLst xmlns:a="http://schemas.openxmlformats.org/drawingml/2006/main">
              <a:ext uri="{FF2B5EF4-FFF2-40B4-BE49-F238E27FC236}">
                <a16:creationId xmlns:a16="http://schemas.microsoft.com/office/drawing/2014/main" id="{17A329D2-F09D-45D5-81A5-82436A1B149C}"/>
              </a:ext>
            </a:extLst>
          </p:cNvPr>
          <p:cNvSpPr>
            <a:spLocks xmlns:a="http://schemas.openxmlformats.org/drawingml/2006/main" noGrp="1"/>
          </p:cNvSpPr>
          <p:nvPr/>
        </p:nvSpPr>
        <p:spPr>
          <a:xfrm xmlns:a="http://schemas.openxmlformats.org/drawingml/2006/main">
            <a:off x="685800" y="4171950"/>
            <a:ext cx="135255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39" name="table-text-438-0">
            <a:extLst xmlns:a="http://schemas.openxmlformats.org/drawingml/2006/main">
              <a:ext uri="{FF2B5EF4-FFF2-40B4-BE49-F238E27FC236}">
                <a16:creationId xmlns:a16="http://schemas.microsoft.com/office/drawing/2014/main" id="{E732CFCB-09D0-4ADF-AC07-554AA690DAD9}"/>
              </a:ext>
            </a:extLst>
          </p:cNvPr>
          <p:cNvSpPr>
            <a:spLocks xmlns:a="http://schemas.openxmlformats.org/drawingml/2006/main" noGrp="1"/>
          </p:cNvSpPr>
          <p:nvPr/>
        </p:nvSpPr>
        <p:spPr>
          <a:xfrm xmlns:a="http://schemas.openxmlformats.org/drawingml/2006/main">
            <a:off x="800100" y="426720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ARM-04</a:t>
            </a:r>
          </a:p>
        </p:txBody>
      </p:sp>
      <p:sp>
        <p:nvSpPr>
          <p:cNvPr id="40" name="table-cell-438-1">
            <a:extLst xmlns:a="http://schemas.openxmlformats.org/drawingml/2006/main">
              <a:ext uri="{FF2B5EF4-FFF2-40B4-BE49-F238E27FC236}">
                <a16:creationId xmlns:a16="http://schemas.microsoft.com/office/drawing/2014/main" id="{B4DDEA5D-549A-457C-AC91-0FD7F2B38211}"/>
              </a:ext>
            </a:extLst>
          </p:cNvPr>
          <p:cNvSpPr>
            <a:spLocks xmlns:a="http://schemas.openxmlformats.org/drawingml/2006/main" noGrp="1"/>
          </p:cNvSpPr>
          <p:nvPr/>
        </p:nvSpPr>
        <p:spPr>
          <a:xfrm xmlns:a="http://schemas.openxmlformats.org/drawingml/2006/main">
            <a:off x="2038350" y="4171950"/>
            <a:ext cx="327660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41" name="table-text-438-1">
            <a:extLst xmlns:a="http://schemas.openxmlformats.org/drawingml/2006/main">
              <a:ext uri="{FF2B5EF4-FFF2-40B4-BE49-F238E27FC236}">
                <a16:creationId xmlns:a16="http://schemas.microsoft.com/office/drawing/2014/main" id="{7A6F013D-1A0B-4D7C-904F-47CE847D8E89}"/>
              </a:ext>
            </a:extLst>
          </p:cNvPr>
          <p:cNvSpPr>
            <a:spLocks xmlns:a="http://schemas.openxmlformats.org/drawingml/2006/main" noGrp="1"/>
          </p:cNvSpPr>
          <p:nvPr/>
        </p:nvSpPr>
        <p:spPr>
          <a:xfrm xmlns:a="http://schemas.openxmlformats.org/drawingml/2006/main">
            <a:off x="2152650" y="426720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query: {query}</a:t>
            </a:r>
          </a:p>
        </p:txBody>
      </p:sp>
      <p:sp>
        <p:nvSpPr>
          <p:cNvPr id="42" name="table-cell-438-2">
            <a:extLst xmlns:a="http://schemas.openxmlformats.org/drawingml/2006/main">
              <a:ext uri="{FF2B5EF4-FFF2-40B4-BE49-F238E27FC236}">
                <a16:creationId xmlns:a16="http://schemas.microsoft.com/office/drawing/2014/main" id="{B6D6E56C-2D61-475A-970B-0BE40682597B}"/>
              </a:ext>
            </a:extLst>
          </p:cNvPr>
          <p:cNvSpPr>
            <a:spLocks xmlns:a="http://schemas.openxmlformats.org/drawingml/2006/main" noGrp="1"/>
          </p:cNvSpPr>
          <p:nvPr/>
        </p:nvSpPr>
        <p:spPr>
          <a:xfrm xmlns:a="http://schemas.openxmlformats.org/drawingml/2006/main">
            <a:off x="5314950" y="4171950"/>
            <a:ext cx="325755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43" name="table-text-438-2">
            <a:extLst xmlns:a="http://schemas.openxmlformats.org/drawingml/2006/main">
              <a:ext uri="{FF2B5EF4-FFF2-40B4-BE49-F238E27FC236}">
                <a16:creationId xmlns:a16="http://schemas.microsoft.com/office/drawing/2014/main" id="{15EAF3B1-D2DE-4BFD-8B48-9FECA5C12283}"/>
              </a:ext>
            </a:extLst>
          </p:cNvPr>
          <p:cNvSpPr>
            <a:spLocks xmlns:a="http://schemas.openxmlformats.org/drawingml/2006/main" noGrp="1"/>
          </p:cNvSpPr>
          <p:nvPr/>
        </p:nvSpPr>
        <p:spPr>
          <a:xfrm xmlns:a="http://schemas.openxmlformats.org/drawingml/2006/main">
            <a:off x="5429250" y="4267200"/>
            <a:ext cx="302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{document}; CLS / first token</a:t>
            </a:r>
          </a:p>
        </p:txBody>
      </p:sp>
      <p:sp>
        <p:nvSpPr>
          <p:cNvPr id="44" name="table-cell-438-3">
            <a:extLst xmlns:a="http://schemas.openxmlformats.org/drawingml/2006/main">
              <a:ext uri="{FF2B5EF4-FFF2-40B4-BE49-F238E27FC236}">
                <a16:creationId xmlns:a16="http://schemas.microsoft.com/office/drawing/2014/main" id="{8D521894-18F9-49B7-9E64-5175F86F9069}"/>
              </a:ext>
            </a:extLst>
          </p:cNvPr>
          <p:cNvSpPr>
            <a:spLocks xmlns:a="http://schemas.openxmlformats.org/drawingml/2006/main" noGrp="1"/>
          </p:cNvSpPr>
          <p:nvPr/>
        </p:nvSpPr>
        <p:spPr>
          <a:xfrm xmlns:a="http://schemas.openxmlformats.org/drawingml/2006/main">
            <a:off x="8572500" y="4171950"/>
            <a:ext cx="2933700" cy="590550"/>
          </a:xfrm>
          <a:prstGeom xmlns:a="http://schemas.openxmlformats.org/drawingml/2006/main" prst="rect">
            <a:avLst/>
          </a:prstGeom>
          <a:solidFill xmlns:a="http://schemas.openxmlformats.org/drawingml/2006/main">
            <a:srgbClr val="F0F5F3"/>
          </a:solidFill>
          <a:ln xmlns:a="http://schemas.openxmlformats.org/drawingml/2006/main" w="9525">
            <a:solidFill>
              <a:srgbClr val="DCE5E2"/>
            </a:solidFill>
            <a:prstDash val="solid"/>
          </a:ln>
        </p:spPr>
      </p:sp>
      <p:sp>
        <p:nvSpPr>
          <p:cNvPr id="45" name="table-text-438-3">
            <a:extLst xmlns:a="http://schemas.openxmlformats.org/drawingml/2006/main">
              <a:ext uri="{FF2B5EF4-FFF2-40B4-BE49-F238E27FC236}">
                <a16:creationId xmlns:a16="http://schemas.microsoft.com/office/drawing/2014/main" id="{C9BF105D-ACA1-46B0-991A-B1B737F076F1}"/>
              </a:ext>
            </a:extLst>
          </p:cNvPr>
          <p:cNvSpPr>
            <a:spLocks xmlns:a="http://schemas.openxmlformats.org/drawingml/2006/main" noGrp="1"/>
          </p:cNvSpPr>
          <p:nvPr/>
        </p:nvSpPr>
        <p:spPr>
          <a:xfrm xmlns:a="http://schemas.openxmlformats.org/drawingml/2006/main">
            <a:off x="8686800" y="4267200"/>
            <a:ext cx="270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95c2741...</a:t>
            </a:r>
          </a:p>
        </p:txBody>
      </p:sp>
      <p:sp>
        <p:nvSpPr>
          <p:cNvPr id="46" name="table-cell-500-0">
            <a:extLst xmlns:a="http://schemas.openxmlformats.org/drawingml/2006/main">
              <a:ext uri="{FF2B5EF4-FFF2-40B4-BE49-F238E27FC236}">
                <a16:creationId xmlns:a16="http://schemas.microsoft.com/office/drawing/2014/main" id="{4715DEC9-8AC6-45A0-923F-E79D8E9137B3}"/>
              </a:ext>
            </a:extLst>
          </p:cNvPr>
          <p:cNvSpPr>
            <a:spLocks xmlns:a="http://schemas.openxmlformats.org/drawingml/2006/main" noGrp="1"/>
          </p:cNvSpPr>
          <p:nvPr/>
        </p:nvSpPr>
        <p:spPr>
          <a:xfrm xmlns:a="http://schemas.openxmlformats.org/drawingml/2006/main">
            <a:off x="685800" y="4762500"/>
            <a:ext cx="1352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47" name="table-text-500-0">
            <a:extLst xmlns:a="http://schemas.openxmlformats.org/drawingml/2006/main">
              <a:ext uri="{FF2B5EF4-FFF2-40B4-BE49-F238E27FC236}">
                <a16:creationId xmlns:a16="http://schemas.microsoft.com/office/drawing/2014/main" id="{002AD5F7-F80A-43C7-BFF9-7E02666DFC80}"/>
              </a:ext>
            </a:extLst>
          </p:cNvPr>
          <p:cNvSpPr>
            <a:spLocks xmlns:a="http://schemas.openxmlformats.org/drawingml/2006/main" noGrp="1"/>
          </p:cNvSpPr>
          <p:nvPr/>
        </p:nvSpPr>
        <p:spPr>
          <a:xfrm xmlns:a="http://schemas.openxmlformats.org/drawingml/2006/main">
            <a:off x="800100" y="48577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1">
                <a:solidFill>
                  <a:srgbClr val="172027"/>
                </a:solidFill>
                <a:latin typeface="Aptos"/>
                <a:ea typeface="Aptos"/>
                <a:cs typeface="Aptos"/>
              </a:defRPr>
            </a:pPr>
            <a:r>
              <a:rPr sz="1500" b="1">
                <a:solidFill>
                  <a:srgbClr val="172027"/>
                </a:solidFill>
                <a:latin typeface="Aptos"/>
                <a:ea typeface="Aptos"/>
                <a:cs typeface="Aptos"/>
              </a:rPr>
              <a:t>ARM-05</a:t>
            </a:r>
          </a:p>
        </p:txBody>
      </p:sp>
      <p:sp>
        <p:nvSpPr>
          <p:cNvPr id="48" name="table-cell-500-1">
            <a:extLst xmlns:a="http://schemas.openxmlformats.org/drawingml/2006/main">
              <a:ext uri="{FF2B5EF4-FFF2-40B4-BE49-F238E27FC236}">
                <a16:creationId xmlns:a16="http://schemas.microsoft.com/office/drawing/2014/main" id="{E7A977DE-5B63-4185-B453-2E749B95268F}"/>
              </a:ext>
            </a:extLst>
          </p:cNvPr>
          <p:cNvSpPr>
            <a:spLocks xmlns:a="http://schemas.openxmlformats.org/drawingml/2006/main" noGrp="1"/>
          </p:cNvSpPr>
          <p:nvPr/>
        </p:nvSpPr>
        <p:spPr>
          <a:xfrm xmlns:a="http://schemas.openxmlformats.org/drawingml/2006/main">
            <a:off x="2038350" y="4762500"/>
            <a:ext cx="32766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49" name="table-text-500-1">
            <a:extLst xmlns:a="http://schemas.openxmlformats.org/drawingml/2006/main">
              <a:ext uri="{FF2B5EF4-FFF2-40B4-BE49-F238E27FC236}">
                <a16:creationId xmlns:a16="http://schemas.microsoft.com/office/drawing/2014/main" id="{F02B39F5-7B8D-4E4D-AFA4-FEF281D6BF44}"/>
              </a:ext>
            </a:extLst>
          </p:cNvPr>
          <p:cNvSpPr>
            <a:spLocks xmlns:a="http://schemas.openxmlformats.org/drawingml/2006/main" noGrp="1"/>
          </p:cNvSpPr>
          <p:nvPr/>
        </p:nvSpPr>
        <p:spPr>
          <a:xfrm xmlns:a="http://schemas.openxmlformats.org/drawingml/2006/main">
            <a:off x="2152650" y="48577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Instruct: Retrieve patent families ... Query:{query}</a:t>
            </a:r>
          </a:p>
        </p:txBody>
      </p:sp>
      <p:sp>
        <p:nvSpPr>
          <p:cNvPr id="50" name="table-cell-500-2">
            <a:extLst xmlns:a="http://schemas.openxmlformats.org/drawingml/2006/main">
              <a:ext uri="{FF2B5EF4-FFF2-40B4-BE49-F238E27FC236}">
                <a16:creationId xmlns:a16="http://schemas.microsoft.com/office/drawing/2014/main" id="{120850AB-7AE4-4B64-971F-E42376C9AD2E}"/>
              </a:ext>
            </a:extLst>
          </p:cNvPr>
          <p:cNvSpPr>
            <a:spLocks xmlns:a="http://schemas.openxmlformats.org/drawingml/2006/main" noGrp="1"/>
          </p:cNvSpPr>
          <p:nvPr/>
        </p:nvSpPr>
        <p:spPr>
          <a:xfrm xmlns:a="http://schemas.openxmlformats.org/drawingml/2006/main">
            <a:off x="5314950" y="4762500"/>
            <a:ext cx="3257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51" name="table-text-500-2">
            <a:extLst xmlns:a="http://schemas.openxmlformats.org/drawingml/2006/main">
              <a:ext uri="{FF2B5EF4-FFF2-40B4-BE49-F238E27FC236}">
                <a16:creationId xmlns:a16="http://schemas.microsoft.com/office/drawing/2014/main" id="{3284ED9E-0158-46AD-8B80-3013B4207FC2}"/>
              </a:ext>
            </a:extLst>
          </p:cNvPr>
          <p:cNvSpPr>
            <a:spLocks xmlns:a="http://schemas.openxmlformats.org/drawingml/2006/main" noGrp="1"/>
          </p:cNvSpPr>
          <p:nvPr/>
        </p:nvSpPr>
        <p:spPr>
          <a:xfrm xmlns:a="http://schemas.openxmlformats.org/drawingml/2006/main">
            <a:off x="5429250" y="4857750"/>
            <a:ext cx="302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{document}; last token / left padding</a:t>
            </a:r>
          </a:p>
        </p:txBody>
      </p:sp>
      <p:sp>
        <p:nvSpPr>
          <p:cNvPr id="52" name="table-cell-500-3">
            <a:extLst xmlns:a="http://schemas.openxmlformats.org/drawingml/2006/main">
              <a:ext uri="{FF2B5EF4-FFF2-40B4-BE49-F238E27FC236}">
                <a16:creationId xmlns:a16="http://schemas.microsoft.com/office/drawing/2014/main" id="{15E2B288-3554-4072-8EC5-5D505C5707EB}"/>
              </a:ext>
            </a:extLst>
          </p:cNvPr>
          <p:cNvSpPr>
            <a:spLocks xmlns:a="http://schemas.openxmlformats.org/drawingml/2006/main" noGrp="1"/>
          </p:cNvSpPr>
          <p:nvPr/>
        </p:nvSpPr>
        <p:spPr>
          <a:xfrm xmlns:a="http://schemas.openxmlformats.org/drawingml/2006/main">
            <a:off x="8572500" y="4762500"/>
            <a:ext cx="29337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53" name="table-text-500-3">
            <a:extLst xmlns:a="http://schemas.openxmlformats.org/drawingml/2006/main">
              <a:ext uri="{FF2B5EF4-FFF2-40B4-BE49-F238E27FC236}">
                <a16:creationId xmlns:a16="http://schemas.microsoft.com/office/drawing/2014/main" id="{BB23FB2E-A495-4601-9135-5D60110F8633}"/>
              </a:ext>
            </a:extLst>
          </p:cNvPr>
          <p:cNvSpPr>
            <a:spLocks xmlns:a="http://schemas.openxmlformats.org/drawingml/2006/main" noGrp="1"/>
          </p:cNvSpPr>
          <p:nvPr/>
        </p:nvSpPr>
        <p:spPr>
          <a:xfrm xmlns:a="http://schemas.openxmlformats.org/drawingml/2006/main">
            <a:off x="8686800" y="4857750"/>
            <a:ext cx="270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172027"/>
                </a:solidFill>
                <a:latin typeface="Aptos"/>
                <a:ea typeface="Aptos"/>
                <a:cs typeface="Aptos"/>
              </a:defRPr>
            </a:pPr>
            <a:r>
              <a:rPr sz="1500" b="0">
                <a:solidFill>
                  <a:srgbClr val="172027"/>
                </a:solidFill>
                <a:latin typeface="Aptos"/>
                <a:ea typeface="Aptos"/>
                <a:cs typeface="Aptos"/>
              </a:rPr>
              <a:t>97b0c61...</a:t>
            </a:r>
          </a:p>
        </p:txBody>
      </p:sp>
      <p:sp>
        <p:nvSpPr>
          <p:cNvPr id="54" name="contract-note">
            <a:extLst xmlns:a="http://schemas.openxmlformats.org/drawingml/2006/main">
              <a:ext uri="{FF2B5EF4-FFF2-40B4-BE49-F238E27FC236}">
                <a16:creationId xmlns:a16="http://schemas.microsoft.com/office/drawing/2014/main" id="{A06BC586-168A-40B4-8C06-E7FE35196844}"/>
              </a:ext>
            </a:extLst>
          </p:cNvPr>
          <p:cNvSpPr>
            <a:spLocks xmlns:a="http://schemas.openxmlformats.org/drawingml/2006/main" noGrp="1"/>
          </p:cNvSpPr>
          <p:nvPr/>
        </p:nvSpPr>
        <p:spPr>
          <a:xfrm xmlns:a="http://schemas.openxmlformats.org/drawingml/2006/main">
            <a:off x="685800" y="550545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2606D"/>
                </a:solidFill>
                <a:latin typeface="Aptos"/>
                <a:ea typeface="Aptos"/>
                <a:cs typeface="Aptos"/>
              </a:defRPr>
            </a:pPr>
            <a:r>
              <a:rPr sz="1425" b="0">
                <a:solidFill>
                  <a:srgbClr val="52606D"/>
                </a:solidFill>
                <a:latin typeface="Aptos"/>
                <a:ea typeface="Aptos"/>
                <a:cs typeface="Aptos"/>
              </a:rPr>
              <a:t>Full immutable template text, public hashes, dimensions, token envelopes, licenses, and pooling rules are retained in the source locks and the talk material.</a:t>
            </a:r>
          </a:p>
        </p:txBody>
      </p:sp>
    </p:spTree>
    <p:extLst>
      <p:ext uri="{BB962C8B-B14F-4D97-AF65-F5344CB8AC3E}">
        <p14:creationId xmlns:p14="http://schemas.microsoft.com/office/powerpoint/2010/main" val="147792920"/>
      </p:ext>
    </p:extLst>
  </p:cSld>
</p:sld>
</file>

<file path=ppt/slides/slide1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9" name="section-label">
            <a:extLst xmlns:a="http://schemas.openxmlformats.org/drawingml/2006/main">
              <a:ext uri="{FF2B5EF4-FFF2-40B4-BE49-F238E27FC236}">
                <a16:creationId xmlns:a16="http://schemas.microsoft.com/office/drawing/2014/main" id="{61F8D164-578F-47B0-8DCE-937F9E73EDB0}"/>
              </a:ext>
            </a:extLst>
          </p:cNvPr>
          <p:cNvSpPr>
            <a:spLocks xmlns:a="http://schemas.openxmlformats.org/drawingml/2006/main" noGrp="1"/>
          </p:cNvSpPr>
          <p:nvPr/>
        </p:nvSpPr>
        <p:spPr>
          <a:xfrm xmlns:a="http://schemas.openxmlformats.org/drawingml/2006/main">
            <a:off x="685800" y="2857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50" b="1">
                <a:solidFill>
                  <a:srgbClr val="0F766E"/>
                </a:solidFill>
                <a:latin typeface="Aptos"/>
                <a:ea typeface="Aptos"/>
                <a:cs typeface="Aptos"/>
              </a:defRPr>
            </a:pPr>
            <a:r>
              <a:rPr sz="1050" b="1">
                <a:solidFill>
                  <a:srgbClr val="0F766E"/>
                </a:solidFill>
                <a:latin typeface="Aptos"/>
                <a:ea typeface="Aptos"/>
                <a:cs typeface="Aptos"/>
              </a:rPr>
              <a:t>APPENDIX C | PROMPT GOVERNANCE</a:t>
            </a:r>
          </a:p>
        </p:txBody>
      </p:sp>
      <p:sp>
        <p:nvSpPr>
          <p:cNvPr id="2" name="rule">
            <a:extLst xmlns:a="http://schemas.openxmlformats.org/drawingml/2006/main">
              <a:ext uri="{FF2B5EF4-FFF2-40B4-BE49-F238E27FC236}">
                <a16:creationId xmlns:a16="http://schemas.microsoft.com/office/drawing/2014/main" id="{07DD400B-5A69-4C50-8811-FA3CDE6EE94A}"/>
              </a:ext>
            </a:extLst>
          </p:cNvPr>
          <p:cNvSpPr>
            <a:spLocks xmlns:a="http://schemas.openxmlformats.org/drawingml/2006/main" noGrp="1"/>
          </p:cNvSpPr>
          <p:nvPr/>
        </p:nvSpPr>
        <p:spPr>
          <a:xfrm xmlns:a="http://schemas.openxmlformats.org/drawingml/2006/main">
            <a:off x="685800" y="457200"/>
            <a:ext cx="10820400" cy="9525"/>
          </a:xfrm>
          <a:prstGeom xmlns:a="http://schemas.openxmlformats.org/drawingml/2006/main" prst="rect">
            <a:avLst/>
          </a:prstGeom>
          <a:solidFill xmlns:a="http://schemas.openxmlformats.org/drawingml/2006/main">
            <a:srgbClr val="DCE5E2"/>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46B492F2-52C8-4589-B694-D482C3AE9FF3}"/>
              </a:ext>
            </a:extLst>
          </p:cNvPr>
          <p:cNvSpPr>
            <a:spLocks xmlns:a="http://schemas.openxmlformats.org/drawingml/2006/main" noGrp="1"/>
          </p:cNvSpPr>
          <p:nvPr/>
        </p:nvSpPr>
        <p:spPr>
          <a:xfrm xmlns:a="http://schemas.openxmlformats.org/drawingml/2006/main">
            <a:off x="10610850" y="64579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050" b="0">
                <a:solidFill>
                  <a:srgbClr val="52606D"/>
                </a:solidFill>
                <a:latin typeface="Aptos"/>
                <a:ea typeface="Aptos"/>
                <a:cs typeface="Aptos"/>
              </a:defRPr>
            </a:pPr>
            <a:r>
              <a:rPr sz="1050" b="0">
                <a:solidFill>
                  <a:srgbClr val="52606D"/>
                </a:solidFill>
                <a:latin typeface="Aptos"/>
                <a:ea typeface="Aptos"/>
                <a:cs typeface="Aptos"/>
              </a:rPr>
              <a:t>18 / 18</a:t>
            </a:r>
          </a:p>
        </p:txBody>
      </p:sp>
      <p:sp>
        <p:nvSpPr>
          <p:cNvPr id="4" name="slide-title">
            <a:extLst xmlns:a="http://schemas.openxmlformats.org/drawingml/2006/main">
              <a:ext uri="{FF2B5EF4-FFF2-40B4-BE49-F238E27FC236}">
                <a16:creationId xmlns:a16="http://schemas.microsoft.com/office/drawing/2014/main" id="{7CC794E8-4DAD-4F3A-9D87-DA209845EB82}"/>
              </a:ext>
            </a:extLst>
          </p:cNvPr>
          <p:cNvSpPr>
            <a:spLocks xmlns:a="http://schemas.openxmlformats.org/drawingml/2006/main" noGrp="1"/>
          </p:cNvSpPr>
          <p:nvPr/>
        </p:nvSpPr>
        <p:spPr>
          <a:xfrm xmlns:a="http://schemas.openxmlformats.org/drawingml/2006/main">
            <a:off x="685800" y="714375"/>
            <a:ext cx="1043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a:solidFill>
                  <a:srgbClr val="172027"/>
                </a:solidFill>
                <a:latin typeface="Cambria"/>
                <a:ea typeface="Cambria"/>
                <a:cs typeface="Cambria"/>
              </a:defRPr>
            </a:pPr>
            <a:r>
              <a:rPr sz="3600" b="1">
                <a:solidFill>
                  <a:srgbClr val="172027"/>
                </a:solidFill>
                <a:latin typeface="Cambria"/>
                <a:ea typeface="Cambria"/>
                <a:cs typeface="Cambria"/>
              </a:rPr>
              <a:t>Appendix: audited prompt governance</a:t>
            </a:r>
          </a:p>
        </p:txBody>
      </p:sp>
      <p:sp>
        <p:nvSpPr>
          <p:cNvPr id="5" name="slide-subtitle">
            <a:extLst xmlns:a="http://schemas.openxmlformats.org/drawingml/2006/main">
              <a:ext uri="{FF2B5EF4-FFF2-40B4-BE49-F238E27FC236}">
                <a16:creationId xmlns:a16="http://schemas.microsoft.com/office/drawing/2014/main" id="{178C2D91-4FA6-47D6-9533-C778A27AB8B2}"/>
              </a:ext>
            </a:extLst>
          </p:cNvPr>
          <p:cNvSpPr>
            <a:spLocks xmlns:a="http://schemas.openxmlformats.org/drawingml/2006/main" noGrp="1"/>
          </p:cNvSpPr>
          <p:nvPr/>
        </p:nvSpPr>
        <p:spPr>
          <a:xfrm xmlns:a="http://schemas.openxmlformats.org/drawingml/2006/main">
            <a:off x="685800" y="13811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52606D"/>
                </a:solidFill>
                <a:latin typeface="Aptos"/>
                <a:ea typeface="Aptos"/>
                <a:cs typeface="Aptos"/>
              </a:defRPr>
            </a:pPr>
            <a:r>
              <a:rPr sz="1725" b="0">
                <a:solidFill>
                  <a:srgbClr val="52606D"/>
                </a:solidFill>
                <a:latin typeface="Aptos"/>
                <a:ea typeface="Aptos"/>
                <a:cs typeface="Aptos"/>
              </a:rPr>
              <a:t>Official Codex proposes and reviews only pre-measurement, aggregate-safe candidate programs.</a:t>
            </a:r>
          </a:p>
        </p:txBody>
      </p:sp>
      <p:sp>
        <p:nvSpPr>
          <p:cNvPr id="6" name="proposer-surface">
            <a:extLst xmlns:a="http://schemas.openxmlformats.org/drawingml/2006/main">
              <a:ext uri="{FF2B5EF4-FFF2-40B4-BE49-F238E27FC236}">
                <a16:creationId xmlns:a16="http://schemas.microsoft.com/office/drawing/2014/main" id="{CF908B61-C131-4A40-8EDA-9FB7CD8E2050}"/>
              </a:ext>
            </a:extLst>
          </p:cNvPr>
          <p:cNvSpPr>
            <a:spLocks xmlns:a="http://schemas.openxmlformats.org/drawingml/2006/main" noGrp="1"/>
          </p:cNvSpPr>
          <p:nvPr/>
        </p:nvSpPr>
        <p:spPr>
          <a:xfrm xmlns:a="http://schemas.openxmlformats.org/drawingml/2006/main">
            <a:off x="685800" y="2076450"/>
            <a:ext cx="49530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CE5E2"/>
            </a:solidFill>
            <a:prstDash val="solid"/>
          </a:ln>
        </p:spPr>
      </p:sp>
      <p:sp>
        <p:nvSpPr>
          <p:cNvPr id="7" name="rule">
            <a:extLst xmlns:a="http://schemas.openxmlformats.org/drawingml/2006/main">
              <a:ext uri="{FF2B5EF4-FFF2-40B4-BE49-F238E27FC236}">
                <a16:creationId xmlns:a16="http://schemas.microsoft.com/office/drawing/2014/main" id="{5D3A3D96-76B5-48BB-B182-3D82AB7A671A}"/>
              </a:ext>
            </a:extLst>
          </p:cNvPr>
          <p:cNvSpPr>
            <a:spLocks xmlns:a="http://schemas.openxmlformats.org/drawingml/2006/main" noGrp="1"/>
          </p:cNvSpPr>
          <p:nvPr/>
        </p:nvSpPr>
        <p:spPr>
          <a:xfrm xmlns:a="http://schemas.openxmlformats.org/drawingml/2006/main">
            <a:off x="685800" y="2076450"/>
            <a:ext cx="4953000" cy="4762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 name="proposer-title">
            <a:extLst xmlns:a="http://schemas.openxmlformats.org/drawingml/2006/main">
              <a:ext uri="{FF2B5EF4-FFF2-40B4-BE49-F238E27FC236}">
                <a16:creationId xmlns:a16="http://schemas.microsoft.com/office/drawing/2014/main" id="{4974C959-7281-4A91-AB03-E3318354AA08}"/>
              </a:ext>
            </a:extLst>
          </p:cNvPr>
          <p:cNvSpPr>
            <a:spLocks xmlns:a="http://schemas.openxmlformats.org/drawingml/2006/main" noGrp="1"/>
          </p:cNvSpPr>
          <p:nvPr/>
        </p:nvSpPr>
        <p:spPr>
          <a:xfrm xmlns:a="http://schemas.openxmlformats.org/drawingml/2006/main">
            <a:off x="952500" y="23622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72027"/>
                </a:solidFill>
                <a:latin typeface="Cambria"/>
                <a:ea typeface="Cambria"/>
                <a:cs typeface="Cambria"/>
              </a:defRPr>
            </a:pPr>
            <a:r>
              <a:rPr sz="2175" b="1">
                <a:solidFill>
                  <a:srgbClr val="172027"/>
                </a:solidFill>
                <a:latin typeface="Cambria"/>
                <a:ea typeface="Cambria"/>
                <a:cs typeface="Cambria"/>
              </a:rPr>
              <a:t>Proposer template</a:t>
            </a:r>
          </a:p>
        </p:txBody>
      </p:sp>
      <p:sp>
        <p:nvSpPr>
          <p:cNvPr id="9" name="bullet-dot-0">
            <a:extLst xmlns:a="http://schemas.openxmlformats.org/drawingml/2006/main">
              <a:ext uri="{FF2B5EF4-FFF2-40B4-BE49-F238E27FC236}">
                <a16:creationId xmlns:a16="http://schemas.microsoft.com/office/drawing/2014/main" id="{72354BBE-7FBD-4018-B115-E0190AE565D8}"/>
              </a:ext>
            </a:extLst>
          </p:cNvPr>
          <p:cNvSpPr>
            <a:spLocks xmlns:a="http://schemas.openxmlformats.org/drawingml/2006/main" noGrp="1"/>
          </p:cNvSpPr>
          <p:nvPr/>
        </p:nvSpPr>
        <p:spPr>
          <a:xfrm xmlns:a="http://schemas.openxmlformats.org/drawingml/2006/main">
            <a:off x="990600" y="3028950"/>
            <a:ext cx="762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0" name="bullet-0">
            <a:extLst xmlns:a="http://schemas.openxmlformats.org/drawingml/2006/main">
              <a:ext uri="{FF2B5EF4-FFF2-40B4-BE49-F238E27FC236}">
                <a16:creationId xmlns:a16="http://schemas.microsoft.com/office/drawing/2014/main" id="{A1BC054C-16A3-42F1-A716-D656EABE5397}"/>
              </a:ext>
            </a:extLst>
          </p:cNvPr>
          <p:cNvSpPr>
            <a:spLocks xmlns:a="http://schemas.openxmlformats.org/drawingml/2006/main" noGrp="1"/>
          </p:cNvSpPr>
          <p:nvPr/>
        </p:nvSpPr>
        <p:spPr>
          <a:xfrm xmlns:a="http://schemas.openxmlformats.org/drawingml/2006/main">
            <a:off x="1200150" y="2933700"/>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Returns schema-constrained JSON for exactly four requested slots.</a:t>
            </a:r>
          </a:p>
        </p:txBody>
      </p:sp>
      <p:sp>
        <p:nvSpPr>
          <p:cNvPr id="11" name="bullet-dot-1">
            <a:extLst xmlns:a="http://schemas.openxmlformats.org/drawingml/2006/main">
              <a:ext uri="{FF2B5EF4-FFF2-40B4-BE49-F238E27FC236}">
                <a16:creationId xmlns:a16="http://schemas.microsoft.com/office/drawing/2014/main" id="{DD2A54AF-018F-4784-9D45-4B0444A170D1}"/>
              </a:ext>
            </a:extLst>
          </p:cNvPr>
          <p:cNvSpPr>
            <a:spLocks xmlns:a="http://schemas.openxmlformats.org/drawingml/2006/main" noGrp="1"/>
          </p:cNvSpPr>
          <p:nvPr/>
        </p:nvSpPr>
        <p:spPr>
          <a:xfrm xmlns:a="http://schemas.openxmlformats.org/drawingml/2006/main">
            <a:off x="990600" y="3514725"/>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2" name="bullet-1">
            <a:extLst xmlns:a="http://schemas.openxmlformats.org/drawingml/2006/main">
              <a:ext uri="{FF2B5EF4-FFF2-40B4-BE49-F238E27FC236}">
                <a16:creationId xmlns:a16="http://schemas.microsoft.com/office/drawing/2014/main" id="{2890B9B9-A7B4-45D4-9A8B-E669FE2BC0E1}"/>
              </a:ext>
            </a:extLst>
          </p:cNvPr>
          <p:cNvSpPr>
            <a:spLocks xmlns:a="http://schemas.openxmlformats.org/drawingml/2006/main" noGrp="1"/>
          </p:cNvSpPr>
          <p:nvPr/>
        </p:nvSpPr>
        <p:spPr>
          <a:xfrm xmlns:a="http://schemas.openxmlformats.org/drawingml/2006/main">
            <a:off x="1200150" y="3419475"/>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Uses only frozen aggregate-safe operation payload.</a:t>
            </a:r>
          </a:p>
        </p:txBody>
      </p:sp>
      <p:sp>
        <p:nvSpPr>
          <p:cNvPr id="13" name="bullet-dot-2">
            <a:extLst xmlns:a="http://schemas.openxmlformats.org/drawingml/2006/main">
              <a:ext uri="{FF2B5EF4-FFF2-40B4-BE49-F238E27FC236}">
                <a16:creationId xmlns:a16="http://schemas.microsoft.com/office/drawing/2014/main" id="{721B6B96-15F5-4147-AD0C-A8DBCDB6D8E1}"/>
              </a:ext>
            </a:extLst>
          </p:cNvPr>
          <p:cNvSpPr>
            <a:spLocks xmlns:a="http://schemas.openxmlformats.org/drawingml/2006/main" noGrp="1"/>
          </p:cNvSpPr>
          <p:nvPr/>
        </p:nvSpPr>
        <p:spPr>
          <a:xfrm xmlns:a="http://schemas.openxmlformats.org/drawingml/2006/main">
            <a:off x="990600" y="40005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4" name="bullet-2">
            <a:extLst xmlns:a="http://schemas.openxmlformats.org/drawingml/2006/main">
              <a:ext uri="{FF2B5EF4-FFF2-40B4-BE49-F238E27FC236}">
                <a16:creationId xmlns:a16="http://schemas.microsoft.com/office/drawing/2014/main" id="{D2081E5C-3B3F-409A-9CA5-4EE4706C42AC}"/>
              </a:ext>
            </a:extLst>
          </p:cNvPr>
          <p:cNvSpPr>
            <a:spLocks xmlns:a="http://schemas.openxmlformats.org/drawingml/2006/main" noGrp="1"/>
          </p:cNvSpPr>
          <p:nvPr/>
        </p:nvSpPr>
        <p:spPr>
          <a:xfrm xmlns:a="http://schemas.openxmlformats.org/drawingml/2006/main">
            <a:off x="1200150" y="3905250"/>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States a falsifiable intervention, comparator, expected direction, and failure condition.</a:t>
            </a:r>
          </a:p>
        </p:txBody>
      </p:sp>
      <p:sp>
        <p:nvSpPr>
          <p:cNvPr id="15" name="bullet-dot-3">
            <a:extLst xmlns:a="http://schemas.openxmlformats.org/drawingml/2006/main">
              <a:ext uri="{FF2B5EF4-FFF2-40B4-BE49-F238E27FC236}">
                <a16:creationId xmlns:a16="http://schemas.microsoft.com/office/drawing/2014/main" id="{D18AFEFF-0305-4BE2-8633-97F6595DB6DB}"/>
              </a:ext>
            </a:extLst>
          </p:cNvPr>
          <p:cNvSpPr>
            <a:spLocks xmlns:a="http://schemas.openxmlformats.org/drawingml/2006/main" noGrp="1"/>
          </p:cNvSpPr>
          <p:nvPr/>
        </p:nvSpPr>
        <p:spPr>
          <a:xfrm xmlns:a="http://schemas.openxmlformats.org/drawingml/2006/main">
            <a:off x="990600" y="4486275"/>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6" name="bullet-3">
            <a:extLst xmlns:a="http://schemas.openxmlformats.org/drawingml/2006/main">
              <a:ext uri="{FF2B5EF4-FFF2-40B4-BE49-F238E27FC236}">
                <a16:creationId xmlns:a16="http://schemas.microsoft.com/office/drawing/2014/main" id="{6AF5BD08-558C-4D43-8E21-248982EAD42C}"/>
              </a:ext>
            </a:extLst>
          </p:cNvPr>
          <p:cNvSpPr>
            <a:spLocks xmlns:a="http://schemas.openxmlformats.org/drawingml/2006/main" noGrp="1"/>
          </p:cNvSpPr>
          <p:nvPr/>
        </p:nvSpPr>
        <p:spPr>
          <a:xfrm xmlns:a="http://schemas.openxmlformats.org/drawingml/2006/main">
            <a:off x="1200150" y="4391025"/>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Preserves accepted candidates byte-for-byte on revision rounds.</a:t>
            </a:r>
          </a:p>
        </p:txBody>
      </p:sp>
      <p:sp>
        <p:nvSpPr>
          <p:cNvPr id="17" name="reviewer-surface">
            <a:extLst xmlns:a="http://schemas.openxmlformats.org/drawingml/2006/main">
              <a:ext uri="{FF2B5EF4-FFF2-40B4-BE49-F238E27FC236}">
                <a16:creationId xmlns:a16="http://schemas.microsoft.com/office/drawing/2014/main" id="{F4900CBE-5884-4603-96D8-37D23F97B497}"/>
              </a:ext>
            </a:extLst>
          </p:cNvPr>
          <p:cNvSpPr>
            <a:spLocks xmlns:a="http://schemas.openxmlformats.org/drawingml/2006/main" noGrp="1"/>
          </p:cNvSpPr>
          <p:nvPr/>
        </p:nvSpPr>
        <p:spPr>
          <a:xfrm xmlns:a="http://schemas.openxmlformats.org/drawingml/2006/main">
            <a:off x="6553200" y="2076450"/>
            <a:ext cx="49530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CE5E2"/>
            </a:solidFill>
            <a:prstDash val="solid"/>
          </a:ln>
        </p:spPr>
      </p:sp>
      <p:sp>
        <p:nvSpPr>
          <p:cNvPr id="18" name="rule">
            <a:extLst xmlns:a="http://schemas.openxmlformats.org/drawingml/2006/main">
              <a:ext uri="{FF2B5EF4-FFF2-40B4-BE49-F238E27FC236}">
                <a16:creationId xmlns:a16="http://schemas.microsoft.com/office/drawing/2014/main" id="{33530954-7486-47E7-BEC3-6E497EEC4864}"/>
              </a:ext>
            </a:extLst>
          </p:cNvPr>
          <p:cNvSpPr>
            <a:spLocks xmlns:a="http://schemas.openxmlformats.org/drawingml/2006/main" noGrp="1"/>
          </p:cNvSpPr>
          <p:nvPr/>
        </p:nvSpPr>
        <p:spPr>
          <a:xfrm xmlns:a="http://schemas.openxmlformats.org/drawingml/2006/main">
            <a:off x="6553200" y="2076450"/>
            <a:ext cx="4953000" cy="47625"/>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19" name="reviewer-title">
            <a:extLst xmlns:a="http://schemas.openxmlformats.org/drawingml/2006/main">
              <a:ext uri="{FF2B5EF4-FFF2-40B4-BE49-F238E27FC236}">
                <a16:creationId xmlns:a16="http://schemas.microsoft.com/office/drawing/2014/main" id="{BE27ABCD-D676-4F50-8B9E-A07E10DFA004}"/>
              </a:ext>
            </a:extLst>
          </p:cNvPr>
          <p:cNvSpPr>
            <a:spLocks xmlns:a="http://schemas.openxmlformats.org/drawingml/2006/main" noGrp="1"/>
          </p:cNvSpPr>
          <p:nvPr/>
        </p:nvSpPr>
        <p:spPr>
          <a:xfrm xmlns:a="http://schemas.openxmlformats.org/drawingml/2006/main">
            <a:off x="6819900" y="23622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72027"/>
                </a:solidFill>
                <a:latin typeface="Cambria"/>
                <a:ea typeface="Cambria"/>
                <a:cs typeface="Cambria"/>
              </a:defRPr>
            </a:pPr>
            <a:r>
              <a:rPr sz="2175" b="1">
                <a:solidFill>
                  <a:srgbClr val="172027"/>
                </a:solidFill>
                <a:latin typeface="Cambria"/>
                <a:ea typeface="Cambria"/>
                <a:cs typeface="Cambria"/>
              </a:rPr>
              <a:t>Independent reviewer template</a:t>
            </a:r>
          </a:p>
        </p:txBody>
      </p:sp>
      <p:sp>
        <p:nvSpPr>
          <p:cNvPr id="20" name="bullet-dot-0">
            <a:extLst xmlns:a="http://schemas.openxmlformats.org/drawingml/2006/main">
              <a:ext uri="{FF2B5EF4-FFF2-40B4-BE49-F238E27FC236}">
                <a16:creationId xmlns:a16="http://schemas.microsoft.com/office/drawing/2014/main" id="{F05BED4F-4830-4C8C-B7B0-677BB8ADFB33}"/>
              </a:ext>
            </a:extLst>
          </p:cNvPr>
          <p:cNvSpPr>
            <a:spLocks xmlns:a="http://schemas.openxmlformats.org/drawingml/2006/main" noGrp="1"/>
          </p:cNvSpPr>
          <p:nvPr/>
        </p:nvSpPr>
        <p:spPr>
          <a:xfrm xmlns:a="http://schemas.openxmlformats.org/drawingml/2006/main">
            <a:off x="6858000" y="3028950"/>
            <a:ext cx="762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1" name="bullet-0">
            <a:extLst xmlns:a="http://schemas.openxmlformats.org/drawingml/2006/main">
              <a:ext uri="{FF2B5EF4-FFF2-40B4-BE49-F238E27FC236}">
                <a16:creationId xmlns:a16="http://schemas.microsoft.com/office/drawing/2014/main" id="{B3F7FF07-A31D-44DA-8B74-1E330E64193B}"/>
              </a:ext>
            </a:extLst>
          </p:cNvPr>
          <p:cNvSpPr>
            <a:spLocks xmlns:a="http://schemas.openxmlformats.org/drawingml/2006/main" noGrp="1"/>
          </p:cNvSpPr>
          <p:nvPr/>
        </p:nvSpPr>
        <p:spPr>
          <a:xfrm xmlns:a="http://schemas.openxmlformats.org/drawingml/2006/main">
            <a:off x="7067550" y="2933700"/>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Checks determinism, role fit, duplication, safety, and interpretability.</a:t>
            </a:r>
          </a:p>
        </p:txBody>
      </p:sp>
      <p:sp>
        <p:nvSpPr>
          <p:cNvPr id="22" name="bullet-dot-1">
            <a:extLst xmlns:a="http://schemas.openxmlformats.org/drawingml/2006/main">
              <a:ext uri="{FF2B5EF4-FFF2-40B4-BE49-F238E27FC236}">
                <a16:creationId xmlns:a16="http://schemas.microsoft.com/office/drawing/2014/main" id="{0D2EA392-E51B-49DA-BAF7-B0802D8E4EDC}"/>
              </a:ext>
            </a:extLst>
          </p:cNvPr>
          <p:cNvSpPr>
            <a:spLocks xmlns:a="http://schemas.openxmlformats.org/drawingml/2006/main" noGrp="1"/>
          </p:cNvSpPr>
          <p:nvPr/>
        </p:nvSpPr>
        <p:spPr>
          <a:xfrm xmlns:a="http://schemas.openxmlformats.org/drawingml/2006/main">
            <a:off x="6858000" y="3514725"/>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23" name="bullet-1">
            <a:extLst xmlns:a="http://schemas.openxmlformats.org/drawingml/2006/main">
              <a:ext uri="{FF2B5EF4-FFF2-40B4-BE49-F238E27FC236}">
                <a16:creationId xmlns:a16="http://schemas.microsoft.com/office/drawing/2014/main" id="{B5DFE8F7-E917-4946-842F-A7563B561377}"/>
              </a:ext>
            </a:extLst>
          </p:cNvPr>
          <p:cNvSpPr>
            <a:spLocks xmlns:a="http://schemas.openxmlformats.org/drawingml/2006/main" noGrp="1"/>
          </p:cNvSpPr>
          <p:nvPr/>
        </p:nvSpPr>
        <p:spPr>
          <a:xfrm xmlns:a="http://schemas.openxmlformats.org/drawingml/2006/main">
            <a:off x="7067550" y="3419475"/>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Cannot change evaluator, metrics, promotion rule, model weights, or protected split.</a:t>
            </a:r>
          </a:p>
        </p:txBody>
      </p:sp>
      <p:sp>
        <p:nvSpPr>
          <p:cNvPr id="24" name="bullet-dot-2">
            <a:extLst xmlns:a="http://schemas.openxmlformats.org/drawingml/2006/main">
              <a:ext uri="{FF2B5EF4-FFF2-40B4-BE49-F238E27FC236}">
                <a16:creationId xmlns:a16="http://schemas.microsoft.com/office/drawing/2014/main" id="{03151A68-75A8-49DA-9B0A-6078DC6CA770}"/>
              </a:ext>
            </a:extLst>
          </p:cNvPr>
          <p:cNvSpPr>
            <a:spLocks xmlns:a="http://schemas.openxmlformats.org/drawingml/2006/main" noGrp="1"/>
          </p:cNvSpPr>
          <p:nvPr/>
        </p:nvSpPr>
        <p:spPr>
          <a:xfrm xmlns:a="http://schemas.openxmlformats.org/drawingml/2006/main">
            <a:off x="6858000" y="4000500"/>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25" name="bullet-2">
            <a:extLst xmlns:a="http://schemas.openxmlformats.org/drawingml/2006/main">
              <a:ext uri="{FF2B5EF4-FFF2-40B4-BE49-F238E27FC236}">
                <a16:creationId xmlns:a16="http://schemas.microsoft.com/office/drawing/2014/main" id="{47CD236C-09A8-46CD-B57E-3E132E42DFEA}"/>
              </a:ext>
            </a:extLst>
          </p:cNvPr>
          <p:cNvSpPr>
            <a:spLocks xmlns:a="http://schemas.openxmlformats.org/drawingml/2006/main" noGrp="1"/>
          </p:cNvSpPr>
          <p:nvPr/>
        </p:nvSpPr>
        <p:spPr>
          <a:xfrm xmlns:a="http://schemas.openxmlformats.org/drawingml/2006/main">
            <a:off x="7067550" y="3905250"/>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No qrels, query IDs, memberships, rankings, protected text, or measured results.</a:t>
            </a:r>
          </a:p>
        </p:txBody>
      </p:sp>
      <p:sp>
        <p:nvSpPr>
          <p:cNvPr id="26" name="bullet-dot-3">
            <a:extLst xmlns:a="http://schemas.openxmlformats.org/drawingml/2006/main">
              <a:ext uri="{FF2B5EF4-FFF2-40B4-BE49-F238E27FC236}">
                <a16:creationId xmlns:a16="http://schemas.microsoft.com/office/drawing/2014/main" id="{9E306DC5-A211-42CF-BEF4-EE254E341937}"/>
              </a:ext>
            </a:extLst>
          </p:cNvPr>
          <p:cNvSpPr>
            <a:spLocks xmlns:a="http://schemas.openxmlformats.org/drawingml/2006/main" noGrp="1"/>
          </p:cNvSpPr>
          <p:nvPr/>
        </p:nvSpPr>
        <p:spPr>
          <a:xfrm xmlns:a="http://schemas.openxmlformats.org/drawingml/2006/main">
            <a:off x="6858000" y="4486275"/>
            <a:ext cx="76200" cy="76200"/>
          </a:xfrm>
          <a:prstGeom xmlns:a="http://schemas.openxmlformats.org/drawingml/2006/main" prst="rect">
            <a:avLst/>
          </a:prstGeom>
          <a:solidFill xmlns:a="http://schemas.openxmlformats.org/drawingml/2006/main">
            <a:srgbClr val="C18119"/>
          </a:solidFill>
          <a:ln xmlns:a="http://schemas.openxmlformats.org/drawingml/2006/main" w="0">
            <a:noFill/>
            <a:prstDash val="solid"/>
          </a:ln>
        </p:spPr>
      </p:sp>
      <p:sp>
        <p:nvSpPr>
          <p:cNvPr id="27" name="bullet-3">
            <a:extLst xmlns:a="http://schemas.openxmlformats.org/drawingml/2006/main">
              <a:ext uri="{FF2B5EF4-FFF2-40B4-BE49-F238E27FC236}">
                <a16:creationId xmlns:a16="http://schemas.microsoft.com/office/drawing/2014/main" id="{4D35EAFF-195C-4C7A-ADB3-72A79CD2B0FA}"/>
              </a:ext>
            </a:extLst>
          </p:cNvPr>
          <p:cNvSpPr>
            <a:spLocks xmlns:a="http://schemas.openxmlformats.org/drawingml/2006/main" noGrp="1"/>
          </p:cNvSpPr>
          <p:nvPr/>
        </p:nvSpPr>
        <p:spPr>
          <a:xfrm xmlns:a="http://schemas.openxmlformats.org/drawingml/2006/main">
            <a:off x="7067550" y="4391025"/>
            <a:ext cx="3962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172027"/>
                </a:solidFill>
                <a:latin typeface="Aptos"/>
                <a:ea typeface="Aptos"/>
                <a:cs typeface="Aptos"/>
              </a:defRPr>
            </a:pPr>
            <a:r>
              <a:rPr sz="1350" b="0">
                <a:solidFill>
                  <a:srgbClr val="172027"/>
                </a:solidFill>
                <a:latin typeface="Aptos"/>
                <a:ea typeface="Aptos"/>
                <a:cs typeface="Aptos"/>
              </a:rPr>
              <a:t>Accepts only candidates satisfying every frozen check.</a:t>
            </a:r>
          </a:p>
        </p:txBody>
      </p:sp>
      <p:sp>
        <p:nvSpPr>
          <p:cNvPr id="28" name="prompt-binding">
            <a:extLst xmlns:a="http://schemas.openxmlformats.org/drawingml/2006/main">
              <a:ext uri="{FF2B5EF4-FFF2-40B4-BE49-F238E27FC236}">
                <a16:creationId xmlns:a16="http://schemas.microsoft.com/office/drawing/2014/main" id="{AA2AEC18-EE7D-4A52-ACB8-F281896E053D}"/>
              </a:ext>
            </a:extLst>
          </p:cNvPr>
          <p:cNvSpPr>
            <a:spLocks xmlns:a="http://schemas.openxmlformats.org/drawingml/2006/main" noGrp="1"/>
          </p:cNvSpPr>
          <p:nvPr/>
        </p:nvSpPr>
        <p:spPr>
          <a:xfrm xmlns:a="http://schemas.openxmlformats.org/drawingml/2006/main">
            <a:off x="685800" y="54292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a:solidFill>
                  <a:srgbClr val="B95059"/>
                </a:solidFill>
                <a:latin typeface="Aptos"/>
                <a:ea typeface="Aptos"/>
                <a:cs typeface="Aptos"/>
              </a:defRPr>
            </a:pPr>
            <a:r>
              <a:rPr sz="1425" b="1">
                <a:solidFill>
                  <a:srgbClr val="B95059"/>
                </a:solidFill>
                <a:latin typeface="Aptos"/>
                <a:ea typeface="Aptos"/>
                <a:cs typeface="Aptos"/>
              </a:rPr>
              <a:t>Model binding: gpt-5.6-sol, high reasoning effort, before A2 measurement. Full exact prompt templates are retained in the speaker notes and material Appendix D.</a:t>
            </a:r>
          </a:p>
        </p:txBody>
      </p:sp>
    </p:spTree>
    <p:extLst>
      <p:ext uri="{BB962C8B-B14F-4D97-AF65-F5344CB8AC3E}">
        <p14:creationId xmlns:p14="http://schemas.microsoft.com/office/powerpoint/2010/main" val="871405378"/>
      </p:ext>
    </p:extLst>
  </p:cSld>
</p:sld>
</file>

<file path=ppt/theme/theme1.xml><?xml version="1.0" encoding="utf-8"?>
<a:theme xmlns:a="http://schemas.openxmlformats.org/drawingml/2006/main" name="ChatGPT">
  <a:themeElements>
    <a:clrScheme name="ArmIndex Studio Editorial">
      <a:dk1>
        <a:srgbClr val="172027"/>
      </a:dk1>
      <a:lt1>
        <a:srgbClr val="FFFFFF"/>
      </a:lt1>
      <a:dk2>
        <a:srgbClr val="23313A"/>
      </a:dk2>
      <a:lt2>
        <a:srgbClr val="DCE5E2"/>
      </a:lt2>
      <a:accent1>
        <a:srgbClr val="0F766E"/>
      </a:accent1>
      <a:accent2>
        <a:srgbClr val="C18119"/>
      </a:accent2>
      <a:accent3>
        <a:srgbClr val="B95059"/>
      </a:accent3>
      <a:accent4>
        <a:srgbClr val="3C6E71"/>
      </a:accent4>
      <a:accent5>
        <a:srgbClr val="6B4E71"/>
      </a:accent5>
      <a:accent6>
        <a:srgbClr val="4C7A64"/>
      </a:accent6>
      <a:hlink>
        <a:srgbClr val="0F766E"/>
      </a:hlink>
      <a:folHlink>
        <a:srgbClr val="B95059"/>
      </a:folHlink>
    </a:clrScheme>
    <a:fontScheme name="Office">
      <a:majorFont>
        <a:latin typeface="Calibri Light"/>
        <a:ea typeface="Calibri Light"/>
        <a:cs typeface="Calibri Light"/>
      </a:majorFont>
      <a:minorFont>
        <a:latin typeface="Calibri"/>
        <a:ea typeface="Calibri"/>
        <a:cs typeface="Calibri"/>
      </a:minorFont>
    </a:fontScheme>
    <a:fmtScheme name="ArmIndex Studio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2026-08-17T19:59:50.0800000Z</dcterms:created>
  <dcterms:modified xsi:type="dcterms:W3CDTF">2026-08-17T19:59:50.0800000Z</dcterms:modified>
</coreProperties>
</file>